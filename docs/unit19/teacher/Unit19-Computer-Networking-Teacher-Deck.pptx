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this deck launches and supports delivery of Unit 19 alongside the student course site (/btech/unit19/start.html).
Every lesson slide follows the college lesson structure: starter, aim, teach, practical, task, check, homework (flipped).
Speaker notes on each slide give teaching points, questions, differentiation and the matching workbook section and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Mirror the existing Unit 19 PowerPoint structure so students recognise the routine.
Starters from the department bank (Millionaire, catchphrase, Hollywood Squares) still work well here.
End every lesson with the online test or the site quiz and the lesson feedback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 type: internal. Maximum of two summative assignments: A (A.P1, A.P2, A.M1, A.D1) and B+C (B.P3, B.P4, C.P5, C.P6, C.P7, B.M2, C.M3, BC.D2, BC.D3).
Resource requirement: a physical or virtual networking environment. Packet Tracer covers this safely; Linux VMs cover users, groups and permissions.
Links: Unit 20 Managing and Supporting Systems, Unit 21 Virtualisation, Unit 29 Network Operating Systems, Unit 30 Communication Technologies.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student Assignment guide page restates every criterion in plain English with a success checklist; it is generated from the same data the AI coach uses.
Assignment 2 specification must be complex enough: more than one network type (wired and wireless) plus user requirements such as shared folders, printers, email and intranet access (Pearson guidance).
For C.M3, optimisation should follow from testing: performance, security loopholes or usability.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students through the site in lesson 1. Show the download backup button on shared machines.
Nothing is stored centrally: students must download backups before changing computers.
The Teachers page links to this deck and explains how the AI tutor and coach are configured.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the student declaration: work must be their own. Using AI to generate assessed content is malpractice.
Ask students to hand in the AI-use log with each assignment; spot-check logs against drafts.
The coach receives only the task ID from the page; the brief, checklist and rules are held on the server so students cannot alter them.
The tutor runs on the college Azure service with daily usage limits; if it is offline the pages still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Assignment 1 was issued mid-December with a late-January deadline in 2025–26; Assignment 2 runs after Easter.
Keep one practical per week so Packet Tracer skills are secure before Assignment 2.
Use the Cisco NetAcad Packet Tracer course early (digital badge) as a flipped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PAN, LAN, WLAN, MAN, WAN, SAN by scale and by who manages them. Emphasise the NEED: communicate, share data, share resources, collaborate.
Question: why would a listed building choose a WLAN? Why does a hospital data centre use a SAN?
Support: give students the types table on the Learn page (A1a). Stretch: add the cost and security implications of each choice.
Workbook A1a. Practical: Lab 1 Packet Tracer tour. Homework: complete the NetAcad Packet Tracer short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diagram to trace who can reach what. Ask: where would the suppliers’ extranet live? What happens to the branch if the WAN link fails?
This builds directly into Assignment 1 Task 1 (A.P1).
Stretch: introduce VPNs as a way to reach the intranet securely from home.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bus and ring as legacy, star and extended star as the norm, mesh for resilience, hierarchical for enterprise.
Physical vs logical diagrams: students need both for Assignment 2.
IEEE 802.3 (Ethernet) and 802.11 (Wi-Fi); 2.4 GHz range vs 5 GHz speed; the Wi-Fi Alliance.
Workbook A1b. Stretch: why do data-centre and internet backbones use partial mesh?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A.D1 needs benefits AND drawbacks for all three models, tested against the four factors, each backed by a realistic example, leading to a justified conclusion.
Model the difference between describing and evaluating with one worked paragraph using a different client (not the assignment wording).
Support: sentence stems (because… therefore… however…). Stretch: hybrid models, e.g. client/server plus cloud SaaS.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cloud responsibility chart: the further right, the less the customer manages.
Ask: what is the noisy neighbour problem in public cloud?
Link BYOD to Cyber Essentials (employer feedback on the brief) and to guest VLANs later in B1.
Homework: Assignment 1 trends section research.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Characteristics to compare: switches (ports, speed, PoE, managed, layer 3); routers (interfaces, routing protocols, VPN, firewall); APs (standard, range, users, management); media (distance, speed, noise, cost).
Question: why is a hub legacy? What changes when a switch is managed?
Stretch: switching methods (store-and-forward vs cut-through) for the Merit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Demonstrate ping, tracert, ipconfig and nslookup live, then in Packet Tracer.
Ethics: packet sniffers and Nmap only on networks you own or have permission to test (Computer Misuse Act). The Nmap practical should run on the isolated lab network only.
Workbook A2b activity: order of tools for "cannot open the intranet".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the purpose of layering: modular design, interoperability, troubleshooting.
Map devices to layers: hub/cable (1), switch (2), router (3); ports at layer 4.
TCP vs UDP: handshake, acknowledgements, re-sending vs speed.
Stretch: why the session and presentation functions sit inside the TCP/IP application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Encapsulation is the core of the A.M1 “how data gets transferred” illustration: switch reads MAC (frame), router reads IP (packet), service chosen by port (segment).
Question: why can one server host web and email at the same time?
Support: envelope-in-parcel analogy.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169.254.x.x address means DHCP failed: a great diagnostic question.
Ask: what would break first if DNS failed? (Everything that uses names.)
These services reappear in Assignment 2 Appendix A (server with DHCP, DNS and web).
Stretch: DHCP relay across routers; DNS record types (A, MX, CNAME).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Issue with the official brief. Walk through the plain-English guide and the checklists together.
Show the Assignment builder: students paste a section of their own draft for coach feedback; the coach will not write content.
Require the AI-use log with submission. Internal verification: sample logs alongside scripts.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dental practice example on the Learn page (a different client from the assignment).
Discuss trade-offs explicitly: redundancy costs money; security affects ease of use.
Stretch: failure domains and link aggregation (EtherChannel) in hierarchical designs.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on the Learn page: 192.168.10.0/24 into four /26 subnets.
Common errors: gateway outside the subnet; wrong mask on one host; giving a host the network or broadcast address.
Support: subnet table with blocks of 64/32/16. Stretch: VLSM for subnets of different sizes.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NAT diagram first: why a whole office appears as one public address.
VLANs support Appendix A requirements such as secure Wi-Fi and VoIP; students must decide and justify.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Assignment builder has inventory, IP plan, naming, access and test plan tables that export to CSV for Word or Excel.
Example rows use the dental practice, not the assignment client.
Stretch: layer 2 vs layer 3 vs layer 4 switching requirements; SAN vs NAS storage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A needs users, groups and folder permissions with different access for others: students must work out their own numbers.
Use the college policies pack (password, remote access, network security) as real examples of policy documents.
Stretch: sticky bit and setgid for shared folders.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the Cisco device password setup handout. Emphasise that every device in Appendix A must be password protected.
Version your Packet Tracer files: v1-cabled, v2-addressed, v3-services.
Stretch: SSH instead of Telnet; RIPv2 or OSPF instead of static routes.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10: pairs break each other’s networks with the listed faults; the completed fault table is strong C.P6 practice.
Start at the bottom of the OSI model: physical, then addressing, then services.
Change one thing at a time; never delete failed tests from the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BC.D3 cannot be written at the end: it needs dated evidence throughout. Check diaries weekly.
Model a strong diary entry (see the Learn page C4 example).
Distinction evaluations synthesise across design, build, test and optimisation; weaker ones only restate test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Issue the official brief with Appendix B (office layout) and Appendix C (skills, knowledge and behaviours).
Students plan in the Assignment builder: inventory, IP plan, naming, permissions, test plan, evaluation grid, targets, diary and feedback log.
Build in Packet Tracer; Linux VM for users, groups and permissions. Witness statements for professional behaviour and communication.
Remind students: the AI coach reviews their own drafts but will not design the network for them; submit the AI-use 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Labs map to lessons: 1 A1a · 2 A1b/A2a · 3 A1a · 4 A4 · 5 C1 · 6 B1b/C1 · 7 B1b/C1 · 8 B1b · 9 B3 · 10 C2.
Cisco NetAcad .pka activities remain on Teams; they are Cisco content and are not published on the public 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Site: nigeriastudentcenter.github.io/btech/unit19/start.html
The AI tutor and coach depend on the college Azure subscription being active; the rest of the site works without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324F"/>
        </a:solidFill>
      </p:bgPr>
    </p:bg>
    <p:spTree>
      <p:nvGrpSpPr>
        <p:cNvPr id="1" name=""/>
        <p:cNvGrpSpPr/>
        <p:nvPr/>
      </p:nvGrpSpPr>
      <p:grpSpPr>
        <a:xfrm>
          <a:off x="0" y="0"/>
          <a:ext cx="0" cy="0"/>
          <a:chOff x="0" y="0"/>
          <a:chExt cx="0" cy="0"/>
        </a:xfrm>
      </p:grpSpPr>
      <p:sp>
        <p:nvSpPr>
          <p:cNvPr id="2" name="Text 0"/>
          <p:cNvSpPr txBox="1"/>
          <p:nvPr/>
        </p:nvSpPr>
        <p:spPr>
          <a:xfrm>
            <a:off x="548640" y="1097280"/>
            <a:ext cx="5486400" cy="548640"/>
          </a:xfrm>
          <a:prstGeom prst="rect">
            <a:avLst/>
          </a:prstGeom>
          <a:noFill/>
          <a:ln/>
        </p:spPr>
        <p:txBody>
          <a:bodyPr wrap="square" lIns="0" tIns="0" rIns="0" bIns="0" rtlCol="0" anchor="ctr"/>
          <a:lstStyle/>
          <a:p>
            <a:pPr indent="0" marL="0">
              <a:buNone/>
            </a:pPr>
            <a:r>
              <a:rPr lang="en-US" sz="2000" b="1" dirty="0">
                <a:solidFill>
                  <a:srgbClr val="E8A33D"/>
                </a:solidFill>
                <a:latin typeface="Calibri" pitchFamily="34" charset="0"/>
                <a:ea typeface="Calibri" pitchFamily="34" charset="-122"/>
                <a:cs typeface="Calibri" pitchFamily="34" charset="-120"/>
              </a:rPr>
              <a:t>Unit 19</a:t>
            </a:r>
            <a:endParaRPr lang="en-US" sz="2000" dirty="0"/>
          </a:p>
        </p:txBody>
      </p:sp>
      <p:sp>
        <p:nvSpPr>
          <p:cNvPr id="3" name="Text 1"/>
          <p:cNvSpPr txBox="1"/>
          <p:nvPr/>
        </p:nvSpPr>
        <p:spPr>
          <a:xfrm>
            <a:off x="548640" y="1600200"/>
            <a:ext cx="5852160" cy="1371600"/>
          </a:xfrm>
          <a:prstGeom prst="rect">
            <a:avLst/>
          </a:prstGeom>
          <a:noFill/>
          <a:ln/>
        </p:spPr>
        <p:txBody>
          <a:bodyPr wrap="square" lIns="0" tIns="0" rIns="0" bIns="0" rtlCol="0" anchor="t"/>
          <a:lstStyle/>
          <a:p>
            <a:pPr indent="0" marL="0">
              <a:buNone/>
            </a:pPr>
            <a:r>
              <a:rPr lang="en-US" sz="4800" b="1" dirty="0">
                <a:solidFill>
                  <a:srgbClr val="FFFFFF"/>
                </a:solidFill>
                <a:latin typeface="Cambria" pitchFamily="34" charset="0"/>
                <a:ea typeface="Cambria" pitchFamily="34" charset="-122"/>
                <a:cs typeface="Cambria" pitchFamily="34" charset="-120"/>
              </a:rPr>
              <a:t>Computer Networking</a:t>
            </a:r>
            <a:endParaRPr lang="en-US" sz="4800" dirty="0"/>
          </a:p>
        </p:txBody>
      </p:sp>
      <p:sp>
        <p:nvSpPr>
          <p:cNvPr id="4" name="Text 2"/>
          <p:cNvSpPr txBox="1"/>
          <p:nvPr/>
        </p:nvSpPr>
        <p:spPr>
          <a:xfrm>
            <a:off x="548640" y="3063240"/>
            <a:ext cx="5669280" cy="457200"/>
          </a:xfrm>
          <a:prstGeom prst="rect">
            <a:avLst/>
          </a:prstGeom>
          <a:noFill/>
          <a:ln/>
        </p:spPr>
        <p:txBody>
          <a:bodyPr wrap="square" lIns="0" tIns="0" rIns="0" bIns="0" rtlCol="0" anchor="ctr"/>
          <a:lstStyle/>
          <a:p>
            <a:pPr indent="0" marL="0">
              <a:buNone/>
            </a:pPr>
            <a:r>
              <a:rPr lang="en-US" sz="1800" dirty="0">
                <a:solidFill>
                  <a:srgbClr val="CADCFC"/>
                </a:solidFill>
                <a:latin typeface="Calibri" pitchFamily="34" charset="0"/>
                <a:ea typeface="Calibri" pitchFamily="34" charset="-122"/>
                <a:cs typeface="Calibri" pitchFamily="34" charset="-120"/>
              </a:rPr>
              <a:t>Teacher delivery deck · BTEC Level 3 Nationals in Computing</a:t>
            </a:r>
            <a:endParaRPr lang="en-US" sz="1800" dirty="0"/>
          </a:p>
        </p:txBody>
      </p:sp>
      <p:sp>
        <p:nvSpPr>
          <p:cNvPr id="5" name="Text 3"/>
          <p:cNvSpPr txBox="1"/>
          <p:nvPr/>
        </p:nvSpPr>
        <p:spPr>
          <a:xfrm>
            <a:off x="548640" y="3749040"/>
            <a:ext cx="5669280" cy="457200"/>
          </a:xfrm>
          <a:prstGeom prst="rect">
            <a:avLst/>
          </a:prstGeom>
          <a:noFill/>
          <a:ln/>
        </p:spPr>
        <p:txBody>
          <a:bodyPr wrap="square" lIns="0" tIns="0" rIns="0" bIns="0" rtlCol="0" anchor="ctr"/>
          <a:lstStyle/>
          <a:p>
            <a:pPr indent="0" marL="0">
              <a:buNone/>
            </a:pPr>
            <a:r>
              <a:rPr lang="en-US" sz="1600" i="1" dirty="0">
                <a:solidFill>
                  <a:srgbClr val="FFFFFF"/>
                </a:solidFill>
                <a:latin typeface="Calibri" pitchFamily="34" charset="0"/>
                <a:ea typeface="Calibri" pitchFamily="34" charset="-122"/>
                <a:cs typeface="Calibri" pitchFamily="34" charset="-120"/>
              </a:rPr>
              <a:t>Learn it · Build it · Test it · Evaluate it</a:t>
            </a:r>
            <a:endParaRPr lang="en-US" sz="1600" dirty="0"/>
          </a:p>
        </p:txBody>
      </p:sp>
      <p:sp>
        <p:nvSpPr>
          <p:cNvPr id="6" name="Shape 4"/>
          <p:cNvSpPr/>
          <p:nvPr/>
        </p:nvSpPr>
        <p:spPr>
          <a:xfrm>
            <a:off x="6309360" y="1874520"/>
            <a:ext cx="5394960" cy="2971800"/>
          </a:xfrm>
          <a:prstGeom prst="roundRect">
            <a:avLst>
              <a:gd name="adj" fmla="val 4615"/>
            </a:avLst>
          </a:prstGeom>
          <a:solidFill>
            <a:srgbClr val="FFFFFF"/>
          </a:solidFill>
          <a:ln w="12700">
            <a:solidFill>
              <a:srgbClr val="FFFFFF"/>
            </a:solidFill>
            <a:prstDash val="solid"/>
          </a:ln>
        </p:spPr>
      </p:sp>
      <p:pic>
        <p:nvPicPr>
          <p:cNvPr id="7" name="Image 0" descr="/private/tmp/claude-501/-Users-johnaikeremiokha-code-Claude-Project/bf844d04-1b41-4e28-bbaa-8211504dbf91/scratchpad/deck/figs/company_fig.png">    </p:cNvPr>
          <p:cNvPicPr>
            <a:picLocks noChangeAspect="1"/>
          </p:cNvPicPr>
          <p:nvPr/>
        </p:nvPicPr>
        <p:blipFill>
          <a:blip r:embed="rId1"/>
          <a:stretch>
            <a:fillRect/>
          </a:stretch>
        </p:blipFill>
        <p:spPr>
          <a:xfrm>
            <a:off x="6446520" y="2011680"/>
            <a:ext cx="5120640" cy="249294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411480"/>
            <a:ext cx="11094415" cy="731520"/>
          </a:xfrm>
          <a:prstGeom prst="rect">
            <a:avLst/>
          </a:prstGeom>
          <a:noFill/>
          <a:ln/>
        </p:spPr>
        <p:txBody>
          <a:bodyPr wrap="square" lIns="0" tIns="0" rIns="0" bIns="0" rtlCol="0" anchor="ctr"/>
          <a:lstStyle/>
          <a:p>
            <a:pPr indent="0" marL="0">
              <a:buNone/>
            </a:pPr>
            <a:r>
              <a:rPr lang="en-US" sz="3200" b="1" dirty="0">
                <a:solidFill>
                  <a:srgbClr val="17334B"/>
                </a:solidFill>
                <a:latin typeface="Cambria" pitchFamily="34" charset="0"/>
                <a:ea typeface="Cambria" pitchFamily="34" charset="-122"/>
                <a:cs typeface="Cambria" pitchFamily="34" charset="-120"/>
              </a:rPr>
              <a:t>How each lesson runs</a:t>
            </a:r>
            <a:endParaRPr lang="en-US" sz="3200" dirty="0"/>
          </a:p>
        </p:txBody>
      </p:sp>
      <p:sp>
        <p:nvSpPr>
          <p:cNvPr id="3" name="Shape 1"/>
          <p:cNvSpPr/>
          <p:nvPr/>
        </p:nvSpPr>
        <p:spPr>
          <a:xfrm>
            <a:off x="548640" y="1554480"/>
            <a:ext cx="1467351" cy="2011680"/>
          </a:xfrm>
          <a:prstGeom prst="roundRect">
            <a:avLst>
              <a:gd name="adj" fmla="val 6232"/>
            </a:avLst>
          </a:prstGeom>
          <a:solidFill>
            <a:srgbClr val="E6F4F1"/>
          </a:solidFill>
          <a:ln w="12700">
            <a:solidFill>
              <a:srgbClr val="C9D7E3"/>
            </a:solidFill>
            <a:prstDash val="solid"/>
          </a:ln>
        </p:spPr>
      </p:sp>
      <p:sp>
        <p:nvSpPr>
          <p:cNvPr id="4" name="Shape 2"/>
          <p:cNvSpPr/>
          <p:nvPr/>
        </p:nvSpPr>
        <p:spPr>
          <a:xfrm>
            <a:off x="962275" y="1737360"/>
            <a:ext cx="640080" cy="640080"/>
          </a:xfrm>
          <a:prstGeom prst="ellipse">
            <a:avLst/>
          </a:prstGeom>
          <a:solidFill>
            <a:srgbClr val="12324F"/>
          </a:solidFill>
          <a:ln w="12700">
            <a:solidFill>
              <a:srgbClr val="12324F"/>
            </a:solidFill>
            <a:prstDash val="solid"/>
          </a:ln>
        </p:spPr>
      </p:sp>
      <p:sp>
        <p:nvSpPr>
          <p:cNvPr id="5" name="Text 3"/>
          <p:cNvSpPr txBox="1"/>
          <p:nvPr/>
        </p:nvSpPr>
        <p:spPr>
          <a:xfrm>
            <a:off x="962275" y="173736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6" name="Text 4"/>
          <p:cNvSpPr txBox="1"/>
          <p:nvPr/>
        </p:nvSpPr>
        <p:spPr>
          <a:xfrm>
            <a:off x="640080" y="2514600"/>
            <a:ext cx="1284471" cy="1234440"/>
          </a:xfrm>
          <a:prstGeom prst="rect">
            <a:avLst/>
          </a:prstGeom>
          <a:noFill/>
          <a:ln/>
        </p:spPr>
        <p:txBody>
          <a:bodyPr wrap="square" lIns="0" tIns="0" rIns="0" bIns="0" rtlCol="0" anchor="t"/>
          <a:lstStyle/>
          <a:p>
            <a:pPr algn="ctr" indent="0" marL="0">
              <a:buNone/>
            </a:pPr>
            <a:r>
              <a:rPr lang="en-US" sz="1500" b="1" dirty="0">
                <a:solidFill>
                  <a:srgbClr val="12324F"/>
                </a:solidFill>
                <a:latin typeface="Calibri" pitchFamily="34" charset="0"/>
                <a:ea typeface="Calibri" pitchFamily="34" charset="-122"/>
                <a:cs typeface="Calibri" pitchFamily="34" charset="-120"/>
              </a:rPr>
              <a:t>Starter</a:t>
            </a:r>
            <a:endParaRPr lang="en-US" sz="1500" dirty="0"/>
          </a:p>
          <a:p>
            <a:pPr algn="ctr" indent="0" marL="0">
              <a:buNone/>
            </a:pPr>
            <a:r>
              <a:rPr lang="en-US" sz="1200" dirty="0">
                <a:solidFill>
                  <a:srgbClr val="17334B"/>
                </a:solidFill>
                <a:latin typeface="Calibri" pitchFamily="34" charset="0"/>
                <a:ea typeface="Calibri" pitchFamily="34" charset="-122"/>
                <a:cs typeface="Calibri" pitchFamily="34" charset="-120"/>
              </a:rPr>
              <a:t>5 min hook or recap quiz</a:t>
            </a:r>
            <a:endParaRPr lang="en-US" sz="1500" dirty="0"/>
          </a:p>
        </p:txBody>
      </p:sp>
      <p:sp>
        <p:nvSpPr>
          <p:cNvPr id="7" name="Shape 5"/>
          <p:cNvSpPr/>
          <p:nvPr/>
        </p:nvSpPr>
        <p:spPr>
          <a:xfrm>
            <a:off x="2153151" y="1554480"/>
            <a:ext cx="1467351" cy="2011680"/>
          </a:xfrm>
          <a:prstGeom prst="roundRect">
            <a:avLst>
              <a:gd name="adj" fmla="val 6232"/>
            </a:avLst>
          </a:prstGeom>
          <a:solidFill>
            <a:srgbClr val="EAF2F9"/>
          </a:solidFill>
          <a:ln w="12700">
            <a:solidFill>
              <a:srgbClr val="C9D7E3"/>
            </a:solidFill>
            <a:prstDash val="solid"/>
          </a:ln>
        </p:spPr>
      </p:sp>
      <p:sp>
        <p:nvSpPr>
          <p:cNvPr id="8" name="Shape 6"/>
          <p:cNvSpPr/>
          <p:nvPr/>
        </p:nvSpPr>
        <p:spPr>
          <a:xfrm>
            <a:off x="2566786" y="1737360"/>
            <a:ext cx="640080" cy="640080"/>
          </a:xfrm>
          <a:prstGeom prst="ellipse">
            <a:avLst/>
          </a:prstGeom>
          <a:solidFill>
            <a:srgbClr val="12324F"/>
          </a:solidFill>
          <a:ln w="12700">
            <a:solidFill>
              <a:srgbClr val="12324F"/>
            </a:solidFill>
            <a:prstDash val="solid"/>
          </a:ln>
        </p:spPr>
      </p:sp>
      <p:sp>
        <p:nvSpPr>
          <p:cNvPr id="9" name="Text 7"/>
          <p:cNvSpPr txBox="1"/>
          <p:nvPr/>
        </p:nvSpPr>
        <p:spPr>
          <a:xfrm>
            <a:off x="2566786" y="173736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0" name="Text 8"/>
          <p:cNvSpPr txBox="1"/>
          <p:nvPr/>
        </p:nvSpPr>
        <p:spPr>
          <a:xfrm>
            <a:off x="2244591" y="2514600"/>
            <a:ext cx="1284471" cy="1234440"/>
          </a:xfrm>
          <a:prstGeom prst="rect">
            <a:avLst/>
          </a:prstGeom>
          <a:noFill/>
          <a:ln/>
        </p:spPr>
        <p:txBody>
          <a:bodyPr wrap="square" lIns="0" tIns="0" rIns="0" bIns="0" rtlCol="0" anchor="t"/>
          <a:lstStyle/>
          <a:p>
            <a:pPr algn="ctr" indent="0" marL="0">
              <a:buNone/>
            </a:pPr>
            <a:r>
              <a:rPr lang="en-US" sz="1500" b="1" dirty="0">
                <a:solidFill>
                  <a:srgbClr val="12324F"/>
                </a:solidFill>
                <a:latin typeface="Calibri" pitchFamily="34" charset="0"/>
                <a:ea typeface="Calibri" pitchFamily="34" charset="-122"/>
                <a:cs typeface="Calibri" pitchFamily="34" charset="-120"/>
              </a:rPr>
              <a:t>Aim</a:t>
            </a:r>
            <a:endParaRPr lang="en-US" sz="1500" dirty="0"/>
          </a:p>
          <a:p>
            <a:pPr algn="ctr" indent="0" marL="0">
              <a:buNone/>
            </a:pPr>
            <a:r>
              <a:rPr lang="en-US" sz="1200" dirty="0">
                <a:solidFill>
                  <a:srgbClr val="17334B"/>
                </a:solidFill>
                <a:latin typeface="Calibri" pitchFamily="34" charset="0"/>
                <a:ea typeface="Calibri" pitchFamily="34" charset="-122"/>
                <a:cs typeface="Calibri" pitchFamily="34" charset="-120"/>
              </a:rPr>
              <a:t>share the learning aim and the criteria it builds</a:t>
            </a:r>
            <a:endParaRPr lang="en-US" sz="1500" dirty="0"/>
          </a:p>
        </p:txBody>
      </p:sp>
      <p:sp>
        <p:nvSpPr>
          <p:cNvPr id="11" name="Shape 9"/>
          <p:cNvSpPr/>
          <p:nvPr/>
        </p:nvSpPr>
        <p:spPr>
          <a:xfrm>
            <a:off x="3757661" y="1554480"/>
            <a:ext cx="1467351" cy="2011680"/>
          </a:xfrm>
          <a:prstGeom prst="roundRect">
            <a:avLst>
              <a:gd name="adj" fmla="val 6232"/>
            </a:avLst>
          </a:prstGeom>
          <a:solidFill>
            <a:srgbClr val="E6F4F1"/>
          </a:solidFill>
          <a:ln w="12700">
            <a:solidFill>
              <a:srgbClr val="C9D7E3"/>
            </a:solidFill>
            <a:prstDash val="solid"/>
          </a:ln>
        </p:spPr>
      </p:sp>
      <p:sp>
        <p:nvSpPr>
          <p:cNvPr id="12" name="Shape 10"/>
          <p:cNvSpPr/>
          <p:nvPr/>
        </p:nvSpPr>
        <p:spPr>
          <a:xfrm>
            <a:off x="4171297" y="1737360"/>
            <a:ext cx="640080" cy="640080"/>
          </a:xfrm>
          <a:prstGeom prst="ellipse">
            <a:avLst/>
          </a:prstGeom>
          <a:solidFill>
            <a:srgbClr val="12324F"/>
          </a:solidFill>
          <a:ln w="12700">
            <a:solidFill>
              <a:srgbClr val="12324F"/>
            </a:solidFill>
            <a:prstDash val="solid"/>
          </a:ln>
        </p:spPr>
      </p:sp>
      <p:sp>
        <p:nvSpPr>
          <p:cNvPr id="13" name="Text 11"/>
          <p:cNvSpPr txBox="1"/>
          <p:nvPr/>
        </p:nvSpPr>
        <p:spPr>
          <a:xfrm>
            <a:off x="4171297" y="173736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4" name="Text 12"/>
          <p:cNvSpPr txBox="1"/>
          <p:nvPr/>
        </p:nvSpPr>
        <p:spPr>
          <a:xfrm>
            <a:off x="3849101" y="2514600"/>
            <a:ext cx="1284471" cy="1234440"/>
          </a:xfrm>
          <a:prstGeom prst="rect">
            <a:avLst/>
          </a:prstGeom>
          <a:noFill/>
          <a:ln/>
        </p:spPr>
        <p:txBody>
          <a:bodyPr wrap="square" lIns="0" tIns="0" rIns="0" bIns="0" rtlCol="0" anchor="t"/>
          <a:lstStyle/>
          <a:p>
            <a:pPr algn="ctr" indent="0" marL="0">
              <a:buNone/>
            </a:pPr>
            <a:r>
              <a:rPr lang="en-US" sz="1500" b="1" dirty="0">
                <a:solidFill>
                  <a:srgbClr val="12324F"/>
                </a:solidFill>
                <a:latin typeface="Calibri" pitchFamily="34" charset="0"/>
                <a:ea typeface="Calibri" pitchFamily="34" charset="-122"/>
                <a:cs typeface="Calibri" pitchFamily="34" charset="-120"/>
              </a:rPr>
              <a:t>Teach</a:t>
            </a:r>
            <a:endParaRPr lang="en-US" sz="1500" dirty="0"/>
          </a:p>
          <a:p>
            <a:pPr algn="ctr" indent="0" marL="0">
              <a:buNone/>
            </a:pPr>
            <a:r>
              <a:rPr lang="en-US" sz="1200" dirty="0">
                <a:solidFill>
                  <a:srgbClr val="17334B"/>
                </a:solidFill>
                <a:latin typeface="Calibri" pitchFamily="34" charset="0"/>
                <a:ea typeface="Calibri" pitchFamily="34" charset="-122"/>
                <a:cs typeface="Calibri" pitchFamily="34" charset="-120"/>
              </a:rPr>
              <a:t>diagram-led explanation with questioning</a:t>
            </a:r>
            <a:endParaRPr lang="en-US" sz="1500" dirty="0"/>
          </a:p>
        </p:txBody>
      </p:sp>
      <p:sp>
        <p:nvSpPr>
          <p:cNvPr id="15" name="Shape 13"/>
          <p:cNvSpPr/>
          <p:nvPr/>
        </p:nvSpPr>
        <p:spPr>
          <a:xfrm>
            <a:off x="5362172" y="1554480"/>
            <a:ext cx="1467351" cy="2011680"/>
          </a:xfrm>
          <a:prstGeom prst="roundRect">
            <a:avLst>
              <a:gd name="adj" fmla="val 6232"/>
            </a:avLst>
          </a:prstGeom>
          <a:solidFill>
            <a:srgbClr val="EAF2F9"/>
          </a:solidFill>
          <a:ln w="12700">
            <a:solidFill>
              <a:srgbClr val="C9D7E3"/>
            </a:solidFill>
            <a:prstDash val="solid"/>
          </a:ln>
        </p:spPr>
      </p:sp>
      <p:sp>
        <p:nvSpPr>
          <p:cNvPr id="16" name="Shape 14"/>
          <p:cNvSpPr/>
          <p:nvPr/>
        </p:nvSpPr>
        <p:spPr>
          <a:xfrm>
            <a:off x="5775808" y="1737360"/>
            <a:ext cx="640080" cy="640080"/>
          </a:xfrm>
          <a:prstGeom prst="ellipse">
            <a:avLst/>
          </a:prstGeom>
          <a:solidFill>
            <a:srgbClr val="12324F"/>
          </a:solidFill>
          <a:ln w="12700">
            <a:solidFill>
              <a:srgbClr val="12324F"/>
            </a:solidFill>
            <a:prstDash val="solid"/>
          </a:ln>
        </p:spPr>
      </p:sp>
      <p:sp>
        <p:nvSpPr>
          <p:cNvPr id="17" name="Text 15"/>
          <p:cNvSpPr txBox="1"/>
          <p:nvPr/>
        </p:nvSpPr>
        <p:spPr>
          <a:xfrm>
            <a:off x="5775808" y="173736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8" name="Text 16"/>
          <p:cNvSpPr txBox="1"/>
          <p:nvPr/>
        </p:nvSpPr>
        <p:spPr>
          <a:xfrm>
            <a:off x="5453612" y="2514600"/>
            <a:ext cx="1284471" cy="1234440"/>
          </a:xfrm>
          <a:prstGeom prst="rect">
            <a:avLst/>
          </a:prstGeom>
          <a:noFill/>
          <a:ln/>
        </p:spPr>
        <p:txBody>
          <a:bodyPr wrap="square" lIns="0" tIns="0" rIns="0" bIns="0" rtlCol="0" anchor="t"/>
          <a:lstStyle/>
          <a:p>
            <a:pPr algn="ctr" indent="0" marL="0">
              <a:buNone/>
            </a:pPr>
            <a:r>
              <a:rPr lang="en-US" sz="1500" b="1" dirty="0">
                <a:solidFill>
                  <a:srgbClr val="12324F"/>
                </a:solidFill>
                <a:latin typeface="Calibri" pitchFamily="34" charset="0"/>
                <a:ea typeface="Calibri" pitchFamily="34" charset="-122"/>
                <a:cs typeface="Calibri" pitchFamily="34" charset="-120"/>
              </a:rPr>
              <a:t>Practical</a:t>
            </a:r>
            <a:endParaRPr lang="en-US" sz="1500" dirty="0"/>
          </a:p>
          <a:p>
            <a:pPr algn="ctr" indent="0" marL="0">
              <a:buNone/>
            </a:pPr>
            <a:r>
              <a:rPr lang="en-US" sz="1200" dirty="0">
                <a:solidFill>
                  <a:srgbClr val="17334B"/>
                </a:solidFill>
                <a:latin typeface="Calibri" pitchFamily="34" charset="0"/>
                <a:ea typeface="Calibri" pitchFamily="34" charset="-122"/>
                <a:cs typeface="Calibri" pitchFamily="34" charset="-120"/>
              </a:rPr>
              <a:t>Packet Tracer or Linux lab</a:t>
            </a:r>
            <a:endParaRPr lang="en-US" sz="1500" dirty="0"/>
          </a:p>
        </p:txBody>
      </p:sp>
      <p:sp>
        <p:nvSpPr>
          <p:cNvPr id="19" name="Shape 17"/>
          <p:cNvSpPr/>
          <p:nvPr/>
        </p:nvSpPr>
        <p:spPr>
          <a:xfrm>
            <a:off x="6966683" y="1554480"/>
            <a:ext cx="1467351" cy="2011680"/>
          </a:xfrm>
          <a:prstGeom prst="roundRect">
            <a:avLst>
              <a:gd name="adj" fmla="val 6232"/>
            </a:avLst>
          </a:prstGeom>
          <a:solidFill>
            <a:srgbClr val="E6F4F1"/>
          </a:solidFill>
          <a:ln w="12700">
            <a:solidFill>
              <a:srgbClr val="C9D7E3"/>
            </a:solidFill>
            <a:prstDash val="solid"/>
          </a:ln>
        </p:spPr>
      </p:sp>
      <p:sp>
        <p:nvSpPr>
          <p:cNvPr id="20" name="Shape 18"/>
          <p:cNvSpPr/>
          <p:nvPr/>
        </p:nvSpPr>
        <p:spPr>
          <a:xfrm>
            <a:off x="7380318" y="1737360"/>
            <a:ext cx="640080" cy="640080"/>
          </a:xfrm>
          <a:prstGeom prst="ellipse">
            <a:avLst/>
          </a:prstGeom>
          <a:solidFill>
            <a:srgbClr val="12324F"/>
          </a:solidFill>
          <a:ln w="12700">
            <a:solidFill>
              <a:srgbClr val="12324F"/>
            </a:solidFill>
            <a:prstDash val="solid"/>
          </a:ln>
        </p:spPr>
      </p:sp>
      <p:sp>
        <p:nvSpPr>
          <p:cNvPr id="21" name="Text 19"/>
          <p:cNvSpPr txBox="1"/>
          <p:nvPr/>
        </p:nvSpPr>
        <p:spPr>
          <a:xfrm>
            <a:off x="7380318" y="173736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22" name="Text 20"/>
          <p:cNvSpPr txBox="1"/>
          <p:nvPr/>
        </p:nvSpPr>
        <p:spPr>
          <a:xfrm>
            <a:off x="7058123" y="2514600"/>
            <a:ext cx="1284471" cy="1234440"/>
          </a:xfrm>
          <a:prstGeom prst="rect">
            <a:avLst/>
          </a:prstGeom>
          <a:noFill/>
          <a:ln/>
        </p:spPr>
        <p:txBody>
          <a:bodyPr wrap="square" lIns="0" tIns="0" rIns="0" bIns="0" rtlCol="0" anchor="t"/>
          <a:lstStyle/>
          <a:p>
            <a:pPr algn="ctr" indent="0" marL="0">
              <a:buNone/>
            </a:pPr>
            <a:r>
              <a:rPr lang="en-US" sz="1500" b="1" dirty="0">
                <a:solidFill>
                  <a:srgbClr val="12324F"/>
                </a:solidFill>
                <a:latin typeface="Calibri" pitchFamily="34" charset="0"/>
                <a:ea typeface="Calibri" pitchFamily="34" charset="-122"/>
                <a:cs typeface="Calibri" pitchFamily="34" charset="-120"/>
              </a:rPr>
              <a:t>Task</a:t>
            </a:r>
            <a:endParaRPr lang="en-US" sz="1500" dirty="0"/>
          </a:p>
          <a:p>
            <a:pPr algn="ctr" indent="0" marL="0">
              <a:buNone/>
            </a:pPr>
            <a:r>
              <a:rPr lang="en-US" sz="1200" dirty="0">
                <a:solidFill>
                  <a:srgbClr val="17334B"/>
                </a:solidFill>
                <a:latin typeface="Calibri" pitchFamily="34" charset="0"/>
                <a:ea typeface="Calibri" pitchFamily="34" charset="-122"/>
                <a:cs typeface="Calibri" pitchFamily="34" charset="-120"/>
              </a:rPr>
              <a:t>workbook activity linked to the assignment</a:t>
            </a:r>
            <a:endParaRPr lang="en-US" sz="1500" dirty="0"/>
          </a:p>
        </p:txBody>
      </p:sp>
      <p:sp>
        <p:nvSpPr>
          <p:cNvPr id="23" name="Shape 21"/>
          <p:cNvSpPr/>
          <p:nvPr/>
        </p:nvSpPr>
        <p:spPr>
          <a:xfrm>
            <a:off x="8571194" y="1554480"/>
            <a:ext cx="1467351" cy="2011680"/>
          </a:xfrm>
          <a:prstGeom prst="roundRect">
            <a:avLst>
              <a:gd name="adj" fmla="val 6232"/>
            </a:avLst>
          </a:prstGeom>
          <a:solidFill>
            <a:srgbClr val="EAF2F9"/>
          </a:solidFill>
          <a:ln w="12700">
            <a:solidFill>
              <a:srgbClr val="C9D7E3"/>
            </a:solidFill>
            <a:prstDash val="solid"/>
          </a:ln>
        </p:spPr>
      </p:sp>
      <p:sp>
        <p:nvSpPr>
          <p:cNvPr id="24" name="Shape 22"/>
          <p:cNvSpPr/>
          <p:nvPr/>
        </p:nvSpPr>
        <p:spPr>
          <a:xfrm>
            <a:off x="8984829" y="1737360"/>
            <a:ext cx="640080" cy="640080"/>
          </a:xfrm>
          <a:prstGeom prst="ellipse">
            <a:avLst/>
          </a:prstGeom>
          <a:solidFill>
            <a:srgbClr val="12324F"/>
          </a:solidFill>
          <a:ln w="12700">
            <a:solidFill>
              <a:srgbClr val="12324F"/>
            </a:solidFill>
            <a:prstDash val="solid"/>
          </a:ln>
        </p:spPr>
      </p:sp>
      <p:sp>
        <p:nvSpPr>
          <p:cNvPr id="25" name="Text 23"/>
          <p:cNvSpPr txBox="1"/>
          <p:nvPr/>
        </p:nvSpPr>
        <p:spPr>
          <a:xfrm>
            <a:off x="8984829" y="173736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6" name="Text 24"/>
          <p:cNvSpPr txBox="1"/>
          <p:nvPr/>
        </p:nvSpPr>
        <p:spPr>
          <a:xfrm>
            <a:off x="8662634" y="2514600"/>
            <a:ext cx="1284471" cy="1234440"/>
          </a:xfrm>
          <a:prstGeom prst="rect">
            <a:avLst/>
          </a:prstGeom>
          <a:noFill/>
          <a:ln/>
        </p:spPr>
        <p:txBody>
          <a:bodyPr wrap="square" lIns="0" tIns="0" rIns="0" bIns="0" rtlCol="0" anchor="t"/>
          <a:lstStyle/>
          <a:p>
            <a:pPr algn="ctr" indent="0" marL="0">
              <a:buNone/>
            </a:pPr>
            <a:r>
              <a:rPr lang="en-US" sz="1500" b="1" dirty="0">
                <a:solidFill>
                  <a:srgbClr val="12324F"/>
                </a:solidFill>
                <a:latin typeface="Calibri" pitchFamily="34" charset="0"/>
                <a:ea typeface="Calibri" pitchFamily="34" charset="-122"/>
                <a:cs typeface="Calibri" pitchFamily="34" charset="-120"/>
              </a:rPr>
              <a:t>Check</a:t>
            </a:r>
            <a:endParaRPr lang="en-US" sz="1500" dirty="0"/>
          </a:p>
          <a:p>
            <a:pPr algn="ctr" indent="0" marL="0">
              <a:buNone/>
            </a:pPr>
            <a:r>
              <a:rPr lang="en-US" sz="1200" dirty="0">
                <a:solidFill>
                  <a:srgbClr val="17334B"/>
                </a:solidFill>
                <a:latin typeface="Calibri" pitchFamily="34" charset="0"/>
                <a:ea typeface="Calibri" pitchFamily="34" charset="-122"/>
                <a:cs typeface="Calibri" pitchFamily="34" charset="-120"/>
              </a:rPr>
              <a:t>quiz or exit question</a:t>
            </a:r>
            <a:endParaRPr lang="en-US" sz="1500" dirty="0"/>
          </a:p>
        </p:txBody>
      </p:sp>
      <p:sp>
        <p:nvSpPr>
          <p:cNvPr id="27" name="Shape 25"/>
          <p:cNvSpPr/>
          <p:nvPr/>
        </p:nvSpPr>
        <p:spPr>
          <a:xfrm>
            <a:off x="10175704" y="1554480"/>
            <a:ext cx="1467351" cy="2011680"/>
          </a:xfrm>
          <a:prstGeom prst="roundRect">
            <a:avLst>
              <a:gd name="adj" fmla="val 6232"/>
            </a:avLst>
          </a:prstGeom>
          <a:solidFill>
            <a:srgbClr val="E6F4F1"/>
          </a:solidFill>
          <a:ln w="12700">
            <a:solidFill>
              <a:srgbClr val="C9D7E3"/>
            </a:solidFill>
            <a:prstDash val="solid"/>
          </a:ln>
        </p:spPr>
      </p:sp>
      <p:sp>
        <p:nvSpPr>
          <p:cNvPr id="28" name="Shape 26"/>
          <p:cNvSpPr/>
          <p:nvPr/>
        </p:nvSpPr>
        <p:spPr>
          <a:xfrm>
            <a:off x="10589340" y="1737360"/>
            <a:ext cx="640080" cy="640080"/>
          </a:xfrm>
          <a:prstGeom prst="ellipse">
            <a:avLst/>
          </a:prstGeom>
          <a:solidFill>
            <a:srgbClr val="12324F"/>
          </a:solidFill>
          <a:ln w="12700">
            <a:solidFill>
              <a:srgbClr val="12324F"/>
            </a:solidFill>
            <a:prstDash val="solid"/>
          </a:ln>
        </p:spPr>
      </p:sp>
      <p:sp>
        <p:nvSpPr>
          <p:cNvPr id="29" name="Text 27"/>
          <p:cNvSpPr txBox="1"/>
          <p:nvPr/>
        </p:nvSpPr>
        <p:spPr>
          <a:xfrm>
            <a:off x="10589340" y="173736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7</a:t>
            </a:r>
            <a:endParaRPr lang="en-US" sz="1800" dirty="0"/>
          </a:p>
        </p:txBody>
      </p:sp>
      <p:sp>
        <p:nvSpPr>
          <p:cNvPr id="30" name="Text 28"/>
          <p:cNvSpPr txBox="1"/>
          <p:nvPr/>
        </p:nvSpPr>
        <p:spPr>
          <a:xfrm>
            <a:off x="10267144" y="2514600"/>
            <a:ext cx="1284471" cy="1234440"/>
          </a:xfrm>
          <a:prstGeom prst="rect">
            <a:avLst/>
          </a:prstGeom>
          <a:noFill/>
          <a:ln/>
        </p:spPr>
        <p:txBody>
          <a:bodyPr wrap="square" lIns="0" tIns="0" rIns="0" bIns="0" rtlCol="0" anchor="t"/>
          <a:lstStyle/>
          <a:p>
            <a:pPr algn="ctr" indent="0" marL="0">
              <a:buNone/>
            </a:pPr>
            <a:r>
              <a:rPr lang="en-US" sz="1500" b="1" dirty="0">
                <a:solidFill>
                  <a:srgbClr val="12324F"/>
                </a:solidFill>
                <a:latin typeface="Calibri" pitchFamily="34" charset="0"/>
                <a:ea typeface="Calibri" pitchFamily="34" charset="-122"/>
                <a:cs typeface="Calibri" pitchFamily="34" charset="-120"/>
              </a:rPr>
              <a:t>Homework</a:t>
            </a:r>
            <a:endParaRPr lang="en-US" sz="1500" dirty="0"/>
          </a:p>
          <a:p>
            <a:pPr algn="ctr" indent="0" marL="0">
              <a:buNone/>
            </a:pPr>
            <a:r>
              <a:rPr lang="en-US" sz="1200" dirty="0">
                <a:solidFill>
                  <a:srgbClr val="17334B"/>
                </a:solidFill>
                <a:latin typeface="Calibri" pitchFamily="34" charset="0"/>
                <a:ea typeface="Calibri" pitchFamily="34" charset="-122"/>
                <a:cs typeface="Calibri" pitchFamily="34" charset="-120"/>
              </a:rPr>
              <a:t>flipped: preview the next lesson</a:t>
            </a:r>
            <a:endParaRPr lang="en-US" sz="1500" dirty="0"/>
          </a:p>
        </p:txBody>
      </p:sp>
      <p:sp>
        <p:nvSpPr>
          <p:cNvPr id="31" name="Shape 29"/>
          <p:cNvSpPr/>
          <p:nvPr/>
        </p:nvSpPr>
        <p:spPr>
          <a:xfrm>
            <a:off x="548640" y="3931920"/>
            <a:ext cx="5486400" cy="1371600"/>
          </a:xfrm>
          <a:prstGeom prst="roundRect">
            <a:avLst>
              <a:gd name="adj" fmla="val 6667"/>
            </a:avLst>
          </a:prstGeom>
          <a:solidFill>
            <a:srgbClr val="EAF2F9"/>
          </a:solidFill>
          <a:ln w="12700">
            <a:solidFill>
              <a:srgbClr val="EAF2F9"/>
            </a:solidFill>
            <a:prstDash val="solid"/>
          </a:ln>
        </p:spPr>
      </p:sp>
      <p:sp>
        <p:nvSpPr>
          <p:cNvPr id="32" name="Text 30"/>
          <p:cNvSpPr txBox="1"/>
          <p:nvPr/>
        </p:nvSpPr>
        <p:spPr>
          <a:xfrm>
            <a:off x="713232" y="4041648"/>
            <a:ext cx="5157216" cy="1152144"/>
          </a:xfrm>
          <a:prstGeom prst="rect">
            <a:avLst/>
          </a:prstGeom>
          <a:noFill/>
          <a:ln/>
        </p:spPr>
        <p:txBody>
          <a:bodyPr wrap="square" lIns="0" tIns="0" rIns="0" bIns="0" rtlCol="0" anchor="t"/>
          <a:lstStyle/>
          <a:p>
            <a:pPr indent="0" marL="0">
              <a:spcAft>
                <a:spcPts val="400"/>
              </a:spcAft>
              <a:buNone/>
            </a:pPr>
            <a:r>
              <a:rPr lang="en-US" sz="1500" b="1" dirty="0">
                <a:solidFill>
                  <a:srgbClr val="12324F"/>
                </a:solidFill>
                <a:latin typeface="Calibri" pitchFamily="34" charset="0"/>
                <a:ea typeface="Calibri" pitchFamily="34" charset="-122"/>
                <a:cs typeface="Calibri" pitchFamily="34" charset="-120"/>
              </a:rPr>
              <a:t>On the student site</a:t>
            </a:r>
            <a:endParaRPr lang="en-US" sz="1500" dirty="0"/>
          </a:p>
          <a:p>
            <a:pPr indent="0" marL="0">
              <a:spcAft>
                <a:spcPts val="400"/>
              </a:spcAft>
              <a:buNone/>
            </a:pPr>
            <a:r>
              <a:rPr lang="en-US" sz="1300" dirty="0">
                <a:solidFill>
                  <a:srgbClr val="17334B"/>
                </a:solidFill>
                <a:latin typeface="Calibri" pitchFamily="34" charset="0"/>
                <a:ea typeface="Calibri" pitchFamily="34" charset="-122"/>
                <a:cs typeface="Calibri" pitchFamily="34" charset="-120"/>
              </a:rPr>
              <a:t>Each lesson has a matching Learn page section, workbook activity (with AI tutor), Packet Tracer lab and quiz. Students can revisit everything outside class.</a:t>
            </a:r>
            <a:endParaRPr lang="en-US" sz="1500" dirty="0"/>
          </a:p>
        </p:txBody>
      </p:sp>
      <p:sp>
        <p:nvSpPr>
          <p:cNvPr id="33" name="Shape 31"/>
          <p:cNvSpPr/>
          <p:nvPr/>
        </p:nvSpPr>
        <p:spPr>
          <a:xfrm>
            <a:off x="6309360" y="3931920"/>
            <a:ext cx="5330952" cy="1371600"/>
          </a:xfrm>
          <a:prstGeom prst="roundRect">
            <a:avLst>
              <a:gd name="adj" fmla="val 6667"/>
            </a:avLst>
          </a:prstGeom>
          <a:solidFill>
            <a:srgbClr val="E6F4F1"/>
          </a:solidFill>
          <a:ln w="12700">
            <a:solidFill>
              <a:srgbClr val="E6F4F1"/>
            </a:solidFill>
            <a:prstDash val="solid"/>
          </a:ln>
        </p:spPr>
      </p:sp>
      <p:sp>
        <p:nvSpPr>
          <p:cNvPr id="34" name="Text 32"/>
          <p:cNvSpPr txBox="1"/>
          <p:nvPr/>
        </p:nvSpPr>
        <p:spPr>
          <a:xfrm>
            <a:off x="6473952" y="4041648"/>
            <a:ext cx="5001768" cy="1152144"/>
          </a:xfrm>
          <a:prstGeom prst="rect">
            <a:avLst/>
          </a:prstGeom>
          <a:noFill/>
          <a:ln/>
        </p:spPr>
        <p:txBody>
          <a:bodyPr wrap="square" lIns="0" tIns="0" rIns="0" bIns="0" rtlCol="0" anchor="t"/>
          <a:lstStyle/>
          <a:p>
            <a:pPr indent="0" marL="0">
              <a:spcAft>
                <a:spcPts val="400"/>
              </a:spcAft>
              <a:buNone/>
            </a:pPr>
            <a:r>
              <a:rPr lang="en-US" sz="1500" b="1" dirty="0">
                <a:solidFill>
                  <a:srgbClr val="12324F"/>
                </a:solidFill>
                <a:latin typeface="Calibri" pitchFamily="34" charset="0"/>
                <a:ea typeface="Calibri" pitchFamily="34" charset="-122"/>
                <a:cs typeface="Calibri" pitchFamily="34" charset="-120"/>
              </a:rPr>
              <a:t>In the speaker notes</a:t>
            </a:r>
            <a:endParaRPr lang="en-US" sz="1500" dirty="0"/>
          </a:p>
          <a:p>
            <a:pPr indent="0" marL="0">
              <a:spcAft>
                <a:spcPts val="400"/>
              </a:spcAft>
              <a:buNone/>
            </a:pPr>
            <a:r>
              <a:rPr lang="en-US" sz="1300" dirty="0">
                <a:solidFill>
                  <a:srgbClr val="17334B"/>
                </a:solidFill>
                <a:latin typeface="Calibri" pitchFamily="34" charset="0"/>
                <a:ea typeface="Calibri" pitchFamily="34" charset="-122"/>
                <a:cs typeface="Calibri" pitchFamily="34" charset="-120"/>
              </a:rPr>
              <a:t>Teaching points, questions to ask, stretch and support ideas, the workbook section and lab to use, and the flipped homework.</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411480"/>
            <a:ext cx="11094415" cy="731520"/>
          </a:xfrm>
          <a:prstGeom prst="rect">
            <a:avLst/>
          </a:prstGeom>
          <a:noFill/>
          <a:ln/>
        </p:spPr>
        <p:txBody>
          <a:bodyPr wrap="square" lIns="0" tIns="0" rIns="0" bIns="0" rtlCol="0" anchor="ctr"/>
          <a:lstStyle/>
          <a:p>
            <a:pPr indent="0" marL="0">
              <a:buNone/>
            </a:pPr>
            <a:r>
              <a:rPr lang="en-US" sz="3200" b="1" dirty="0">
                <a:solidFill>
                  <a:srgbClr val="17334B"/>
                </a:solidFill>
                <a:latin typeface="Cambria" pitchFamily="34" charset="0"/>
                <a:ea typeface="Cambria" pitchFamily="34" charset="-122"/>
                <a:cs typeface="Cambria" pitchFamily="34" charset="-120"/>
              </a:rPr>
              <a:t>Unit 19 at a glance</a:t>
            </a:r>
            <a:endParaRPr lang="en-US" sz="3200" dirty="0"/>
          </a:p>
        </p:txBody>
      </p:sp>
      <p:sp>
        <p:nvSpPr>
          <p:cNvPr id="3" name="Shape 1"/>
          <p:cNvSpPr/>
          <p:nvPr/>
        </p:nvSpPr>
        <p:spPr>
          <a:xfrm>
            <a:off x="548640" y="1463040"/>
            <a:ext cx="2036003" cy="1920240"/>
          </a:xfrm>
          <a:prstGeom prst="roundRect">
            <a:avLst>
              <a:gd name="adj" fmla="val 5714"/>
            </a:avLst>
          </a:prstGeom>
          <a:solidFill>
            <a:srgbClr val="12324F"/>
          </a:solidFill>
          <a:ln w="12700">
            <a:solidFill>
              <a:srgbClr val="12324F"/>
            </a:solidFill>
            <a:prstDash val="solid"/>
          </a:ln>
        </p:spPr>
      </p:sp>
      <p:sp>
        <p:nvSpPr>
          <p:cNvPr id="4" name="Text 2"/>
          <p:cNvSpPr txBox="1"/>
          <p:nvPr/>
        </p:nvSpPr>
        <p:spPr>
          <a:xfrm>
            <a:off x="548640" y="1600200"/>
            <a:ext cx="2036003" cy="100584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60</a:t>
            </a:r>
            <a:endParaRPr lang="en-US" sz="6000" dirty="0"/>
          </a:p>
        </p:txBody>
      </p:sp>
      <p:sp>
        <p:nvSpPr>
          <p:cNvPr id="5" name="Text 3"/>
          <p:cNvSpPr txBox="1"/>
          <p:nvPr/>
        </p:nvSpPr>
        <p:spPr>
          <a:xfrm>
            <a:off x="685800" y="2606040"/>
            <a:ext cx="1761683" cy="640080"/>
          </a:xfrm>
          <a:prstGeom prst="rect">
            <a:avLst/>
          </a:prstGeom>
          <a:noFill/>
          <a:ln/>
        </p:spPr>
        <p:txBody>
          <a:bodyPr wrap="square" lIns="0" tIns="0" rIns="0" bIns="0"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guided learning hours</a:t>
            </a:r>
            <a:endParaRPr lang="en-US" sz="1400" dirty="0"/>
          </a:p>
        </p:txBody>
      </p:sp>
      <p:sp>
        <p:nvSpPr>
          <p:cNvPr id="6" name="Shape 4"/>
          <p:cNvSpPr/>
          <p:nvPr/>
        </p:nvSpPr>
        <p:spPr>
          <a:xfrm>
            <a:off x="2813243" y="1463040"/>
            <a:ext cx="2036003" cy="1920240"/>
          </a:xfrm>
          <a:prstGeom prst="roundRect">
            <a:avLst>
              <a:gd name="adj" fmla="val 5714"/>
            </a:avLst>
          </a:prstGeom>
          <a:solidFill>
            <a:srgbClr val="EAF2F9"/>
          </a:solidFill>
          <a:ln w="12700">
            <a:solidFill>
              <a:srgbClr val="EAF2F9"/>
            </a:solidFill>
            <a:prstDash val="solid"/>
          </a:ln>
        </p:spPr>
      </p:sp>
      <p:sp>
        <p:nvSpPr>
          <p:cNvPr id="7" name="Text 5"/>
          <p:cNvSpPr txBox="1"/>
          <p:nvPr/>
        </p:nvSpPr>
        <p:spPr>
          <a:xfrm>
            <a:off x="2813243" y="1600200"/>
            <a:ext cx="2036003" cy="1005840"/>
          </a:xfrm>
          <a:prstGeom prst="rect">
            <a:avLst/>
          </a:prstGeom>
          <a:noFill/>
          <a:ln/>
        </p:spPr>
        <p:txBody>
          <a:bodyPr wrap="square" lIns="0" tIns="0" rIns="0" bIns="0" rtlCol="0" anchor="ctr"/>
          <a:lstStyle/>
          <a:p>
            <a:pPr algn="ctr" indent="0" marL="0">
              <a:buNone/>
            </a:pPr>
            <a:r>
              <a:rPr lang="en-US" sz="6000" b="1" dirty="0">
                <a:solidFill>
                  <a:srgbClr val="20857B"/>
                </a:solidFill>
                <a:latin typeface="Cambria" pitchFamily="34" charset="0"/>
                <a:ea typeface="Cambria" pitchFamily="34" charset="-122"/>
                <a:cs typeface="Cambria" pitchFamily="34" charset="-120"/>
              </a:rPr>
              <a:t>2</a:t>
            </a:r>
            <a:endParaRPr lang="en-US" sz="6000" dirty="0"/>
          </a:p>
        </p:txBody>
      </p:sp>
      <p:sp>
        <p:nvSpPr>
          <p:cNvPr id="8" name="Text 6"/>
          <p:cNvSpPr txBox="1"/>
          <p:nvPr/>
        </p:nvSpPr>
        <p:spPr>
          <a:xfrm>
            <a:off x="2950403" y="2606040"/>
            <a:ext cx="1761683" cy="640080"/>
          </a:xfrm>
          <a:prstGeom prst="rect">
            <a:avLst/>
          </a:prstGeom>
          <a:noFill/>
          <a:ln/>
        </p:spPr>
        <p:txBody>
          <a:bodyPr wrap="square" lIns="0" tIns="0" rIns="0" bIns="0" rtlCol="0" anchor="ctr"/>
          <a:lstStyle/>
          <a:p>
            <a:pPr algn="ctr" indent="0" marL="0">
              <a:buNone/>
            </a:pPr>
            <a:r>
              <a:rPr lang="en-US" sz="1400" dirty="0">
                <a:solidFill>
                  <a:srgbClr val="17334B"/>
                </a:solidFill>
                <a:latin typeface="Calibri" pitchFamily="34" charset="0"/>
                <a:ea typeface="Calibri" pitchFamily="34" charset="-122"/>
                <a:cs typeface="Calibri" pitchFamily="34" charset="-120"/>
              </a:rPr>
              <a:t>internally assessed assignments</a:t>
            </a:r>
            <a:endParaRPr lang="en-US" sz="1400" dirty="0"/>
          </a:p>
        </p:txBody>
      </p:sp>
      <p:sp>
        <p:nvSpPr>
          <p:cNvPr id="9" name="Shape 7"/>
          <p:cNvSpPr/>
          <p:nvPr/>
        </p:nvSpPr>
        <p:spPr>
          <a:xfrm>
            <a:off x="5077846" y="1463040"/>
            <a:ext cx="2036003" cy="1920240"/>
          </a:xfrm>
          <a:prstGeom prst="roundRect">
            <a:avLst>
              <a:gd name="adj" fmla="val 5714"/>
            </a:avLst>
          </a:prstGeom>
          <a:solidFill>
            <a:srgbClr val="EAF2F9"/>
          </a:solidFill>
          <a:ln w="12700">
            <a:solidFill>
              <a:srgbClr val="EAF2F9"/>
            </a:solidFill>
            <a:prstDash val="solid"/>
          </a:ln>
        </p:spPr>
      </p:sp>
      <p:sp>
        <p:nvSpPr>
          <p:cNvPr id="10" name="Text 8"/>
          <p:cNvSpPr txBox="1"/>
          <p:nvPr/>
        </p:nvSpPr>
        <p:spPr>
          <a:xfrm>
            <a:off x="5077846" y="1600200"/>
            <a:ext cx="2036003" cy="1005840"/>
          </a:xfrm>
          <a:prstGeom prst="rect">
            <a:avLst/>
          </a:prstGeom>
          <a:noFill/>
          <a:ln/>
        </p:spPr>
        <p:txBody>
          <a:bodyPr wrap="square" lIns="0" tIns="0" rIns="0" bIns="0" rtlCol="0" anchor="ctr"/>
          <a:lstStyle/>
          <a:p>
            <a:pPr algn="ctr" indent="0" marL="0">
              <a:buNone/>
            </a:pPr>
            <a:r>
              <a:rPr lang="en-US" sz="6000" b="1" dirty="0">
                <a:solidFill>
                  <a:srgbClr val="20857B"/>
                </a:solidFill>
                <a:latin typeface="Cambria" pitchFamily="34" charset="0"/>
                <a:ea typeface="Cambria" pitchFamily="34" charset="-122"/>
                <a:cs typeface="Cambria" pitchFamily="34" charset="-120"/>
              </a:rPr>
              <a:t>3</a:t>
            </a:r>
            <a:endParaRPr lang="en-US" sz="6000" dirty="0"/>
          </a:p>
        </p:txBody>
      </p:sp>
      <p:sp>
        <p:nvSpPr>
          <p:cNvPr id="11" name="Text 9"/>
          <p:cNvSpPr txBox="1"/>
          <p:nvPr/>
        </p:nvSpPr>
        <p:spPr>
          <a:xfrm>
            <a:off x="5215006" y="2606040"/>
            <a:ext cx="1761683" cy="640080"/>
          </a:xfrm>
          <a:prstGeom prst="rect">
            <a:avLst/>
          </a:prstGeom>
          <a:noFill/>
          <a:ln/>
        </p:spPr>
        <p:txBody>
          <a:bodyPr wrap="square" lIns="0" tIns="0" rIns="0" bIns="0" rtlCol="0" anchor="ctr"/>
          <a:lstStyle/>
          <a:p>
            <a:pPr algn="ctr" indent="0" marL="0">
              <a:buNone/>
            </a:pPr>
            <a:r>
              <a:rPr lang="en-US" sz="1400" dirty="0">
                <a:solidFill>
                  <a:srgbClr val="17334B"/>
                </a:solidFill>
                <a:latin typeface="Calibri" pitchFamily="34" charset="0"/>
                <a:ea typeface="Calibri" pitchFamily="34" charset="-122"/>
                <a:cs typeface="Calibri" pitchFamily="34" charset="-120"/>
              </a:rPr>
              <a:t>learning aims: A, B, C</a:t>
            </a:r>
            <a:endParaRPr lang="en-US" sz="1400" dirty="0"/>
          </a:p>
        </p:txBody>
      </p:sp>
      <p:sp>
        <p:nvSpPr>
          <p:cNvPr id="12" name="Shape 10"/>
          <p:cNvSpPr/>
          <p:nvPr/>
        </p:nvSpPr>
        <p:spPr>
          <a:xfrm>
            <a:off x="7342449" y="1463040"/>
            <a:ext cx="2036003" cy="1920240"/>
          </a:xfrm>
          <a:prstGeom prst="roundRect">
            <a:avLst>
              <a:gd name="adj" fmla="val 5714"/>
            </a:avLst>
          </a:prstGeom>
          <a:solidFill>
            <a:srgbClr val="EAF2F9"/>
          </a:solidFill>
          <a:ln w="12700">
            <a:solidFill>
              <a:srgbClr val="EAF2F9"/>
            </a:solidFill>
            <a:prstDash val="solid"/>
          </a:ln>
        </p:spPr>
      </p:sp>
      <p:sp>
        <p:nvSpPr>
          <p:cNvPr id="13" name="Text 11"/>
          <p:cNvSpPr txBox="1"/>
          <p:nvPr/>
        </p:nvSpPr>
        <p:spPr>
          <a:xfrm>
            <a:off x="7342449" y="1600200"/>
            <a:ext cx="2036003" cy="1005840"/>
          </a:xfrm>
          <a:prstGeom prst="rect">
            <a:avLst/>
          </a:prstGeom>
          <a:noFill/>
          <a:ln/>
        </p:spPr>
        <p:txBody>
          <a:bodyPr wrap="square" lIns="0" tIns="0" rIns="0" bIns="0" rtlCol="0" anchor="ctr"/>
          <a:lstStyle/>
          <a:p>
            <a:pPr algn="ctr" indent="0" marL="0">
              <a:buNone/>
            </a:pPr>
            <a:r>
              <a:rPr lang="en-US" sz="6000" b="1" dirty="0">
                <a:solidFill>
                  <a:srgbClr val="20857B"/>
                </a:solidFill>
                <a:latin typeface="Cambria" pitchFamily="34" charset="0"/>
                <a:ea typeface="Cambria" pitchFamily="34" charset="-122"/>
                <a:cs typeface="Cambria" pitchFamily="34" charset="-120"/>
              </a:rPr>
              <a:t>16</a:t>
            </a:r>
            <a:endParaRPr lang="en-US" sz="6000" dirty="0"/>
          </a:p>
        </p:txBody>
      </p:sp>
      <p:sp>
        <p:nvSpPr>
          <p:cNvPr id="14" name="Text 12"/>
          <p:cNvSpPr txBox="1"/>
          <p:nvPr/>
        </p:nvSpPr>
        <p:spPr>
          <a:xfrm>
            <a:off x="7479609" y="2606040"/>
            <a:ext cx="1761683" cy="640080"/>
          </a:xfrm>
          <a:prstGeom prst="rect">
            <a:avLst/>
          </a:prstGeom>
          <a:noFill/>
          <a:ln/>
        </p:spPr>
        <p:txBody>
          <a:bodyPr wrap="square" lIns="0" tIns="0" rIns="0" bIns="0" rtlCol="0" anchor="ctr"/>
          <a:lstStyle/>
          <a:p>
            <a:pPr algn="ctr" indent="0" marL="0">
              <a:buNone/>
            </a:pPr>
            <a:r>
              <a:rPr lang="en-US" sz="1400" dirty="0">
                <a:solidFill>
                  <a:srgbClr val="17334B"/>
                </a:solidFill>
                <a:latin typeface="Calibri" pitchFamily="34" charset="0"/>
                <a:ea typeface="Calibri" pitchFamily="34" charset="-122"/>
                <a:cs typeface="Calibri" pitchFamily="34" charset="-120"/>
              </a:rPr>
              <a:t>lessons on the student site</a:t>
            </a:r>
            <a:endParaRPr lang="en-US" sz="1400" dirty="0"/>
          </a:p>
        </p:txBody>
      </p:sp>
      <p:sp>
        <p:nvSpPr>
          <p:cNvPr id="15" name="Shape 13"/>
          <p:cNvSpPr/>
          <p:nvPr/>
        </p:nvSpPr>
        <p:spPr>
          <a:xfrm>
            <a:off x="9607052" y="1463040"/>
            <a:ext cx="2036003" cy="1920240"/>
          </a:xfrm>
          <a:prstGeom prst="roundRect">
            <a:avLst>
              <a:gd name="adj" fmla="val 5714"/>
            </a:avLst>
          </a:prstGeom>
          <a:solidFill>
            <a:srgbClr val="EAF2F9"/>
          </a:solidFill>
          <a:ln w="12700">
            <a:solidFill>
              <a:srgbClr val="EAF2F9"/>
            </a:solidFill>
            <a:prstDash val="solid"/>
          </a:ln>
        </p:spPr>
      </p:sp>
      <p:sp>
        <p:nvSpPr>
          <p:cNvPr id="16" name="Text 14"/>
          <p:cNvSpPr txBox="1"/>
          <p:nvPr/>
        </p:nvSpPr>
        <p:spPr>
          <a:xfrm>
            <a:off x="9607052" y="1600200"/>
            <a:ext cx="2036003" cy="1005840"/>
          </a:xfrm>
          <a:prstGeom prst="rect">
            <a:avLst/>
          </a:prstGeom>
          <a:noFill/>
          <a:ln/>
        </p:spPr>
        <p:txBody>
          <a:bodyPr wrap="square" lIns="0" tIns="0" rIns="0" bIns="0" rtlCol="0" anchor="ctr"/>
          <a:lstStyle/>
          <a:p>
            <a:pPr algn="ctr" indent="0" marL="0">
              <a:buNone/>
            </a:pPr>
            <a:r>
              <a:rPr lang="en-US" sz="6000" b="1" dirty="0">
                <a:solidFill>
                  <a:srgbClr val="20857B"/>
                </a:solidFill>
                <a:latin typeface="Cambria" pitchFamily="34" charset="0"/>
                <a:ea typeface="Cambria" pitchFamily="34" charset="-122"/>
                <a:cs typeface="Cambria" pitchFamily="34" charset="-120"/>
              </a:rPr>
              <a:t>10</a:t>
            </a:r>
            <a:endParaRPr lang="en-US" sz="6000" dirty="0"/>
          </a:p>
        </p:txBody>
      </p:sp>
      <p:sp>
        <p:nvSpPr>
          <p:cNvPr id="17" name="Text 15"/>
          <p:cNvSpPr txBox="1"/>
          <p:nvPr/>
        </p:nvSpPr>
        <p:spPr>
          <a:xfrm>
            <a:off x="9744212" y="2606040"/>
            <a:ext cx="1761683" cy="640080"/>
          </a:xfrm>
          <a:prstGeom prst="rect">
            <a:avLst/>
          </a:prstGeom>
          <a:noFill/>
          <a:ln/>
        </p:spPr>
        <p:txBody>
          <a:bodyPr wrap="square" lIns="0" tIns="0" rIns="0" bIns="0" rtlCol="0" anchor="ctr"/>
          <a:lstStyle/>
          <a:p>
            <a:pPr algn="ctr" indent="0" marL="0">
              <a:buNone/>
            </a:pPr>
            <a:r>
              <a:rPr lang="en-US" sz="1400" dirty="0">
                <a:solidFill>
                  <a:srgbClr val="17334B"/>
                </a:solidFill>
                <a:latin typeface="Calibri" pitchFamily="34" charset="0"/>
                <a:ea typeface="Calibri" pitchFamily="34" charset="-122"/>
                <a:cs typeface="Calibri" pitchFamily="34" charset="-120"/>
              </a:rPr>
              <a:t>hands-on labs</a:t>
            </a:r>
            <a:endParaRPr lang="en-US" sz="1400" dirty="0"/>
          </a:p>
        </p:txBody>
      </p:sp>
      <p:sp>
        <p:nvSpPr>
          <p:cNvPr id="18" name="Shape 16"/>
          <p:cNvSpPr/>
          <p:nvPr/>
        </p:nvSpPr>
        <p:spPr>
          <a:xfrm>
            <a:off x="548640" y="3749040"/>
            <a:ext cx="3566160" cy="2194560"/>
          </a:xfrm>
          <a:prstGeom prst="roundRect">
            <a:avLst>
              <a:gd name="adj" fmla="val 4167"/>
            </a:avLst>
          </a:prstGeom>
          <a:solidFill>
            <a:srgbClr val="EAF2F9"/>
          </a:solidFill>
          <a:ln w="12700">
            <a:solidFill>
              <a:srgbClr val="EAF2F9"/>
            </a:solidFill>
            <a:prstDash val="solid"/>
          </a:ln>
        </p:spPr>
      </p:sp>
      <p:sp>
        <p:nvSpPr>
          <p:cNvPr id="19" name="Text 17"/>
          <p:cNvSpPr txBox="1"/>
          <p:nvPr/>
        </p:nvSpPr>
        <p:spPr>
          <a:xfrm>
            <a:off x="713232" y="3858768"/>
            <a:ext cx="3236976" cy="1975104"/>
          </a:xfrm>
          <a:prstGeom prst="rect">
            <a:avLst/>
          </a:prstGeom>
          <a:noFill/>
          <a:ln/>
        </p:spPr>
        <p:txBody>
          <a:bodyPr wrap="square" lIns="0" tIns="0" rIns="0" bIns="0" rtlCol="0" anchor="t"/>
          <a:lstStyle/>
          <a:p>
            <a:pPr indent="0" marL="0">
              <a:spcAft>
                <a:spcPts val="400"/>
              </a:spcAft>
              <a:buNone/>
            </a:pPr>
            <a:r>
              <a:rPr lang="en-US" sz="1500" b="1" dirty="0">
                <a:solidFill>
                  <a:srgbClr val="12324F"/>
                </a:solidFill>
                <a:latin typeface="Calibri" pitchFamily="34" charset="0"/>
                <a:ea typeface="Calibri" pitchFamily="34" charset="-122"/>
                <a:cs typeface="Calibri" pitchFamily="34" charset="-120"/>
              </a:rPr>
              <a:t>Learning aim A</a:t>
            </a:r>
            <a:endParaRPr lang="en-US" sz="1500" dirty="0"/>
          </a:p>
          <a:p>
            <a:pPr indent="0" marL="0">
              <a:spcAft>
                <a:spcPts val="400"/>
              </a:spcAft>
              <a:buNone/>
            </a:pPr>
            <a:r>
              <a:rPr lang="en-US" sz="1300" dirty="0">
                <a:solidFill>
                  <a:srgbClr val="17334B"/>
                </a:solidFill>
                <a:latin typeface="Calibri" pitchFamily="34" charset="0"/>
                <a:ea typeface="Calibri" pitchFamily="34" charset="-122"/>
                <a:cs typeface="Calibri" pitchFamily="34" charset="-120"/>
              </a:rPr>
              <a:t>Investigate how networks use communication protocols to give effective, secure access to services and resources.</a:t>
            </a:r>
            <a:endParaRPr lang="en-US" sz="1500" dirty="0"/>
          </a:p>
          <a:p>
            <a:pPr indent="0" marL="0">
              <a:spcAft>
                <a:spcPts val="400"/>
              </a:spcAft>
              <a:buNone/>
            </a:pPr>
            <a:endParaRPr lang="en-US" sz="1500" dirty="0"/>
          </a:p>
          <a:p>
            <a:pPr indent="0" marL="0">
              <a:spcAft>
                <a:spcPts val="400"/>
              </a:spcAft>
              <a:buNone/>
            </a:pPr>
            <a:r>
              <a:rPr lang="en-US" sz="1300" dirty="0">
                <a:solidFill>
                  <a:srgbClr val="17334B"/>
                </a:solidFill>
                <a:latin typeface="Calibri" pitchFamily="34" charset="0"/>
                <a:ea typeface="Calibri" pitchFamily="34" charset="-122"/>
                <a:cs typeface="Calibri" pitchFamily="34" charset="-120"/>
              </a:rPr>
              <a:t>Assignment 1 · report</a:t>
            </a:r>
            <a:endParaRPr lang="en-US" sz="1500" dirty="0"/>
          </a:p>
        </p:txBody>
      </p:sp>
      <p:sp>
        <p:nvSpPr>
          <p:cNvPr id="20" name="Shape 18"/>
          <p:cNvSpPr/>
          <p:nvPr/>
        </p:nvSpPr>
        <p:spPr>
          <a:xfrm>
            <a:off x="4297680" y="3749040"/>
            <a:ext cx="3566160" cy="2194560"/>
          </a:xfrm>
          <a:prstGeom prst="roundRect">
            <a:avLst>
              <a:gd name="adj" fmla="val 4167"/>
            </a:avLst>
          </a:prstGeom>
          <a:solidFill>
            <a:srgbClr val="E6F4F1"/>
          </a:solidFill>
          <a:ln w="12700">
            <a:solidFill>
              <a:srgbClr val="E6F4F1"/>
            </a:solidFill>
            <a:prstDash val="solid"/>
          </a:ln>
        </p:spPr>
      </p:sp>
      <p:sp>
        <p:nvSpPr>
          <p:cNvPr id="21" name="Text 19"/>
          <p:cNvSpPr txBox="1"/>
          <p:nvPr/>
        </p:nvSpPr>
        <p:spPr>
          <a:xfrm>
            <a:off x="4462272" y="3858768"/>
            <a:ext cx="3236976" cy="1975104"/>
          </a:xfrm>
          <a:prstGeom prst="rect">
            <a:avLst/>
          </a:prstGeom>
          <a:noFill/>
          <a:ln/>
        </p:spPr>
        <p:txBody>
          <a:bodyPr wrap="square" lIns="0" tIns="0" rIns="0" bIns="0" rtlCol="0" anchor="t"/>
          <a:lstStyle/>
          <a:p>
            <a:pPr indent="0" marL="0">
              <a:spcAft>
                <a:spcPts val="400"/>
              </a:spcAft>
              <a:buNone/>
            </a:pPr>
            <a:r>
              <a:rPr lang="en-US" sz="1500" b="1" dirty="0">
                <a:solidFill>
                  <a:srgbClr val="12324F"/>
                </a:solidFill>
                <a:latin typeface="Calibri" pitchFamily="34" charset="0"/>
                <a:ea typeface="Calibri" pitchFamily="34" charset="-122"/>
                <a:cs typeface="Calibri" pitchFamily="34" charset="-120"/>
              </a:rPr>
              <a:t>Learning aim B</a:t>
            </a:r>
            <a:endParaRPr lang="en-US" sz="1500" dirty="0"/>
          </a:p>
          <a:p>
            <a:pPr indent="0" marL="0">
              <a:spcAft>
                <a:spcPts val="400"/>
              </a:spcAft>
              <a:buNone/>
            </a:pPr>
            <a:r>
              <a:rPr lang="en-US" sz="1300" dirty="0">
                <a:solidFill>
                  <a:srgbClr val="17334B"/>
                </a:solidFill>
                <a:latin typeface="Calibri" pitchFamily="34" charset="0"/>
                <a:ea typeface="Calibri" pitchFamily="34" charset="-122"/>
                <a:cs typeface="Calibri" pitchFamily="34" charset="-120"/>
              </a:rPr>
              <a:t>Investigate network design to meet client requirements.</a:t>
            </a:r>
            <a:endParaRPr lang="en-US" sz="1500" dirty="0"/>
          </a:p>
          <a:p>
            <a:pPr indent="0" marL="0">
              <a:spcAft>
                <a:spcPts val="400"/>
              </a:spcAft>
              <a:buNone/>
            </a:pPr>
            <a:endParaRPr lang="en-US" sz="1500" dirty="0"/>
          </a:p>
          <a:p>
            <a:pPr indent="0" marL="0">
              <a:spcAft>
                <a:spcPts val="400"/>
              </a:spcAft>
              <a:buNone/>
            </a:pPr>
            <a:r>
              <a:rPr lang="en-US" sz="1300" dirty="0">
                <a:solidFill>
                  <a:srgbClr val="17334B"/>
                </a:solidFill>
                <a:latin typeface="Calibri" pitchFamily="34" charset="0"/>
                <a:ea typeface="Calibri" pitchFamily="34" charset="-122"/>
                <a:cs typeface="Calibri" pitchFamily="34" charset="-120"/>
              </a:rPr>
              <a:t>Assignment 2 · design documents</a:t>
            </a:r>
            <a:endParaRPr lang="en-US" sz="1500" dirty="0"/>
          </a:p>
        </p:txBody>
      </p:sp>
      <p:sp>
        <p:nvSpPr>
          <p:cNvPr id="22" name="Shape 20"/>
          <p:cNvSpPr/>
          <p:nvPr/>
        </p:nvSpPr>
        <p:spPr>
          <a:xfrm>
            <a:off x="8046720" y="3749040"/>
            <a:ext cx="3566160" cy="2194560"/>
          </a:xfrm>
          <a:prstGeom prst="roundRect">
            <a:avLst>
              <a:gd name="adj" fmla="val 4167"/>
            </a:avLst>
          </a:prstGeom>
          <a:solidFill>
            <a:srgbClr val="FDF1E7"/>
          </a:solidFill>
          <a:ln w="12700">
            <a:solidFill>
              <a:srgbClr val="FDF1E7"/>
            </a:solidFill>
            <a:prstDash val="solid"/>
          </a:ln>
        </p:spPr>
      </p:sp>
      <p:sp>
        <p:nvSpPr>
          <p:cNvPr id="23" name="Text 21"/>
          <p:cNvSpPr txBox="1"/>
          <p:nvPr/>
        </p:nvSpPr>
        <p:spPr>
          <a:xfrm>
            <a:off x="8211312" y="3858768"/>
            <a:ext cx="3236976" cy="1975104"/>
          </a:xfrm>
          <a:prstGeom prst="rect">
            <a:avLst/>
          </a:prstGeom>
          <a:noFill/>
          <a:ln/>
        </p:spPr>
        <p:txBody>
          <a:bodyPr wrap="square" lIns="0" tIns="0" rIns="0" bIns="0" rtlCol="0" anchor="t"/>
          <a:lstStyle/>
          <a:p>
            <a:pPr indent="0" marL="0">
              <a:spcAft>
                <a:spcPts val="400"/>
              </a:spcAft>
              <a:buNone/>
            </a:pPr>
            <a:r>
              <a:rPr lang="en-US" sz="1500" b="1" dirty="0">
                <a:solidFill>
                  <a:srgbClr val="12324F"/>
                </a:solidFill>
                <a:latin typeface="Calibri" pitchFamily="34" charset="0"/>
                <a:ea typeface="Calibri" pitchFamily="34" charset="-122"/>
                <a:cs typeface="Calibri" pitchFamily="34" charset="-120"/>
              </a:rPr>
              <a:t>Learning aim C</a:t>
            </a:r>
            <a:endParaRPr lang="en-US" sz="1500" dirty="0"/>
          </a:p>
          <a:p>
            <a:pPr indent="0" marL="0">
              <a:spcAft>
                <a:spcPts val="400"/>
              </a:spcAft>
              <a:buNone/>
            </a:pPr>
            <a:r>
              <a:rPr lang="en-US" sz="1300" dirty="0">
                <a:solidFill>
                  <a:srgbClr val="17334B"/>
                </a:solidFill>
                <a:latin typeface="Calibri" pitchFamily="34" charset="0"/>
                <a:ea typeface="Calibri" pitchFamily="34" charset="-122"/>
                <a:cs typeface="Calibri" pitchFamily="34" charset="-120"/>
              </a:rPr>
              <a:t>Develop a network to meet client requirements.</a:t>
            </a:r>
            <a:endParaRPr lang="en-US" sz="1500" dirty="0"/>
          </a:p>
          <a:p>
            <a:pPr indent="0" marL="0">
              <a:spcAft>
                <a:spcPts val="400"/>
              </a:spcAft>
              <a:buNone/>
            </a:pPr>
            <a:endParaRPr lang="en-US" sz="1500" dirty="0"/>
          </a:p>
          <a:p>
            <a:pPr indent="0" marL="0">
              <a:spcAft>
                <a:spcPts val="400"/>
              </a:spcAft>
              <a:buNone/>
            </a:pPr>
            <a:r>
              <a:rPr lang="en-US" sz="1300" dirty="0">
                <a:solidFill>
                  <a:srgbClr val="17334B"/>
                </a:solidFill>
                <a:latin typeface="Calibri" pitchFamily="34" charset="0"/>
                <a:ea typeface="Calibri" pitchFamily="34" charset="-122"/>
                <a:cs typeface="Calibri" pitchFamily="34" charset="-120"/>
              </a:rPr>
              <a:t>Assignment 2 · build, test, evaluate, portfolio</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411480"/>
            <a:ext cx="11094415" cy="731520"/>
          </a:xfrm>
          <a:prstGeom prst="rect">
            <a:avLst/>
          </a:prstGeom>
          <a:noFill/>
          <a:ln/>
        </p:spPr>
        <p:txBody>
          <a:bodyPr wrap="square" lIns="0" tIns="0" rIns="0" bIns="0" rtlCol="0" anchor="ctr"/>
          <a:lstStyle/>
          <a:p>
            <a:pPr indent="0" marL="0">
              <a:buNone/>
            </a:pPr>
            <a:r>
              <a:rPr lang="en-US" sz="3200" b="1" dirty="0">
                <a:solidFill>
                  <a:srgbClr val="17334B"/>
                </a:solidFill>
                <a:latin typeface="Cambria" pitchFamily="34" charset="0"/>
                <a:ea typeface="Cambria" pitchFamily="34" charset="-122"/>
                <a:cs typeface="Cambria" pitchFamily="34" charset="-120"/>
              </a:rPr>
              <a:t>Assessment map</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2377440"/>
                <a:gridCol w="3566160"/>
                <a:gridCol w="2560320"/>
                <a:gridCol w="2587752"/>
              </a:tblGrid>
              <a:tr h="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Assignment</a:t>
                      </a:r>
                      <a:endParaRPr lang="en-US" sz="1200" dirty="0">
                        <a:latin typeface="Calibri" charset="0"/>
                        <a:ea typeface="Calibri" charset="0"/>
                        <a:cs typeface="Calibri" charset="0"/>
                      </a:endParaRPr>
                    </a:p>
                  </a:txBody>
                  <a:tcPr marL="73152" marR="73152" marT="73152" marB="73152" anchor="t">
                    <a:lnL w="12700" cap="flat" cmpd="sng" algn="ctr">
                      <a:solidFill>
                        <a:srgbClr val="C9D7E3"/>
                      </a:solidFill>
                      <a:prstDash val="solid"/>
                      <a:round/>
                      <a:headEnd type="none" w="med" len="med"/>
                      <a:tailEnd type="none" w="med" len="med"/>
                    </a:lnL>
                    <a:lnR w="12700" cap="flat" cmpd="sng" algn="ctr">
                      <a:solidFill>
                        <a:srgbClr val="C9D7E3"/>
                      </a:solidFill>
                      <a:prstDash val="solid"/>
                      <a:round/>
                      <a:headEnd type="none" w="med" len="med"/>
                      <a:tailEnd type="none" w="med" len="med"/>
                    </a:lnR>
                    <a:lnT w="12700" cap="flat" cmpd="sng" algn="ctr">
                      <a:solidFill>
                        <a:srgbClr val="C9D7E3"/>
                      </a:solidFill>
                      <a:prstDash val="solid"/>
                      <a:round/>
                      <a:headEnd type="none" w="med" len="med"/>
                      <a:tailEnd type="none" w="med" len="med"/>
                    </a:lnT>
                    <a:lnB w="12700" cap="flat" cmpd="sng" algn="ctr">
                      <a:solidFill>
                        <a:srgbClr val="C9D7E3"/>
                      </a:solidFill>
                      <a:prstDash val="solid"/>
                      <a:round/>
                      <a:headEnd type="none" w="med" len="med"/>
                      <a:tailEnd type="none" w="med" len="med"/>
                    </a:lnB>
                    <a:solidFill>
                      <a:srgbClr val="12324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Pass</a:t>
                      </a:r>
                      <a:endParaRPr lang="en-US" sz="1200" dirty="0">
                        <a:latin typeface="Calibri" charset="0"/>
                        <a:ea typeface="Calibri" charset="0"/>
                        <a:cs typeface="Calibri" charset="0"/>
                      </a:endParaRPr>
                    </a:p>
                  </a:txBody>
                  <a:tcPr marL="73152" marR="73152" marT="73152" marB="73152" anchor="t">
                    <a:lnL w="12700" cap="flat" cmpd="sng" algn="ctr">
                      <a:solidFill>
                        <a:srgbClr val="C9D7E3"/>
                      </a:solidFill>
                      <a:prstDash val="solid"/>
                      <a:round/>
                      <a:headEnd type="none" w="med" len="med"/>
                      <a:tailEnd type="none" w="med" len="med"/>
                    </a:lnL>
                    <a:lnR w="12700" cap="flat" cmpd="sng" algn="ctr">
                      <a:solidFill>
                        <a:srgbClr val="C9D7E3"/>
                      </a:solidFill>
                      <a:prstDash val="solid"/>
                      <a:round/>
                      <a:headEnd type="none" w="med" len="med"/>
                      <a:tailEnd type="none" w="med" len="med"/>
                    </a:lnR>
                    <a:lnT w="12700" cap="flat" cmpd="sng" algn="ctr">
                      <a:solidFill>
                        <a:srgbClr val="C9D7E3"/>
                      </a:solidFill>
                      <a:prstDash val="solid"/>
                      <a:round/>
                      <a:headEnd type="none" w="med" len="med"/>
                      <a:tailEnd type="none" w="med" len="med"/>
                    </a:lnT>
                    <a:lnB w="12700" cap="flat" cmpd="sng" algn="ctr">
                      <a:solidFill>
                        <a:srgbClr val="C9D7E3"/>
                      </a:solidFill>
                      <a:prstDash val="solid"/>
                      <a:round/>
                      <a:headEnd type="none" w="med" len="med"/>
                      <a:tailEnd type="none" w="med" len="med"/>
                    </a:lnB>
                    <a:solidFill>
                      <a:srgbClr val="12324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Merit</a:t>
                      </a:r>
                      <a:endParaRPr lang="en-US" sz="1200" dirty="0">
                        <a:latin typeface="Calibri" charset="0"/>
                        <a:ea typeface="Calibri" charset="0"/>
                        <a:cs typeface="Calibri" charset="0"/>
                      </a:endParaRPr>
                    </a:p>
                  </a:txBody>
                  <a:tcPr marL="73152" marR="73152" marT="73152" marB="73152" anchor="t">
                    <a:lnL w="12700" cap="flat" cmpd="sng" algn="ctr">
                      <a:solidFill>
                        <a:srgbClr val="C9D7E3"/>
                      </a:solidFill>
                      <a:prstDash val="solid"/>
                      <a:round/>
                      <a:headEnd type="none" w="med" len="med"/>
                      <a:tailEnd type="none" w="med" len="med"/>
                    </a:lnL>
                    <a:lnR w="12700" cap="flat" cmpd="sng" algn="ctr">
                      <a:solidFill>
                        <a:srgbClr val="C9D7E3"/>
                      </a:solidFill>
                      <a:prstDash val="solid"/>
                      <a:round/>
                      <a:headEnd type="none" w="med" len="med"/>
                      <a:tailEnd type="none" w="med" len="med"/>
                    </a:lnR>
                    <a:lnT w="12700" cap="flat" cmpd="sng" algn="ctr">
                      <a:solidFill>
                        <a:srgbClr val="C9D7E3"/>
                      </a:solidFill>
                      <a:prstDash val="solid"/>
                      <a:round/>
                      <a:headEnd type="none" w="med" len="med"/>
                      <a:tailEnd type="none" w="med" len="med"/>
                    </a:lnT>
                    <a:lnB w="12700" cap="flat" cmpd="sng" algn="ctr">
                      <a:solidFill>
                        <a:srgbClr val="C9D7E3"/>
                      </a:solidFill>
                      <a:prstDash val="solid"/>
                      <a:round/>
                      <a:headEnd type="none" w="med" len="med"/>
                      <a:tailEnd type="none" w="med" len="med"/>
                    </a:lnB>
                    <a:solidFill>
                      <a:srgbClr val="12324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Distinction</a:t>
                      </a:r>
                      <a:endParaRPr lang="en-US" sz="1200" dirty="0">
                        <a:latin typeface="Calibri" charset="0"/>
                        <a:ea typeface="Calibri" charset="0"/>
                        <a:cs typeface="Calibri" charset="0"/>
                      </a:endParaRPr>
                    </a:p>
                  </a:txBody>
                  <a:tcPr marL="73152" marR="73152" marT="73152" marB="73152" anchor="t">
                    <a:lnL w="12700" cap="flat" cmpd="sng" algn="ctr">
                      <a:solidFill>
                        <a:srgbClr val="C9D7E3"/>
                      </a:solidFill>
                      <a:prstDash val="solid"/>
                      <a:round/>
                      <a:headEnd type="none" w="med" len="med"/>
                      <a:tailEnd type="none" w="med" len="med"/>
                    </a:lnL>
                    <a:lnR w="12700" cap="flat" cmpd="sng" algn="ctr">
                      <a:solidFill>
                        <a:srgbClr val="C9D7E3"/>
                      </a:solidFill>
                      <a:prstDash val="solid"/>
                      <a:round/>
                      <a:headEnd type="none" w="med" len="med"/>
                      <a:tailEnd type="none" w="med" len="med"/>
                    </a:lnR>
                    <a:lnT w="12700" cap="flat" cmpd="sng" algn="ctr">
                      <a:solidFill>
                        <a:srgbClr val="C9D7E3"/>
                      </a:solidFill>
                      <a:prstDash val="solid"/>
                      <a:round/>
                      <a:headEnd type="none" w="med" len="med"/>
                      <a:tailEnd type="none" w="med" len="med"/>
                    </a:lnT>
                    <a:lnB w="12700" cap="flat" cmpd="sng" algn="ctr">
                      <a:solidFill>
                        <a:srgbClr val="C9D7E3"/>
                      </a:solidFill>
                      <a:prstDash val="solid"/>
                      <a:round/>
                      <a:headEnd type="none" w="med" len="med"/>
                      <a:tailEnd type="none" w="med" len="med"/>
                    </a:lnB>
                    <a:solidFill>
                      <a:srgbClr val="12324F"/>
                    </a:solidFill>
                  </a:tcPr>
                </a:tc>
              </a:tr>
              <a:tr h="0">
                <a:tc>
                  <a:txBody>
                    <a:bodyPr/>
                    <a:lstStyle/>
                    <a:p>
                      <a:pPr indent="0" marL="0">
                        <a:buNone/>
                      </a:pPr>
                      <a:r>
                        <a:rPr lang="en-US" sz="1200" dirty="0">
                          <a:solidFill>
                            <a:srgbClr val="17334B"/>
                          </a:solidFill>
                          <a:latin typeface="Calibri" pitchFamily="34" charset="0"/>
                          <a:ea typeface="Calibri" pitchFamily="34" charset="-122"/>
                          <a:cs typeface="Calibri" pitchFamily="34" charset="-120"/>
                        </a:rPr>
                        <a:t>1 · Investigating computer networks (aim A)</a:t>
                      </a:r>
                      <a:endParaRPr lang="en-US" sz="1200" dirty="0">
                        <a:latin typeface="Calibri" charset="0"/>
                        <a:ea typeface="Calibri" charset="0"/>
                        <a:cs typeface="Calibri" charset="0"/>
                      </a:endParaRPr>
                    </a:p>
                  </a:txBody>
                  <a:tcPr marL="73152" marR="73152" marT="73152" marB="73152" anchor="t">
                    <a:lnL w="12700" cap="flat" cmpd="sng" algn="ctr">
                      <a:solidFill>
                        <a:srgbClr val="C9D7E3"/>
                      </a:solidFill>
                      <a:prstDash val="solid"/>
                      <a:round/>
                      <a:headEnd type="none" w="med" len="med"/>
                      <a:tailEnd type="none" w="med" len="med"/>
                    </a:lnL>
                    <a:lnR w="12700" cap="flat" cmpd="sng" algn="ctr">
                      <a:solidFill>
                        <a:srgbClr val="C9D7E3"/>
                      </a:solidFill>
                      <a:prstDash val="solid"/>
                      <a:round/>
                      <a:headEnd type="none" w="med" len="med"/>
                      <a:tailEnd type="none" w="med" len="med"/>
                    </a:lnR>
                    <a:lnT w="12700" cap="flat" cmpd="sng" algn="ctr">
                      <a:solidFill>
                        <a:srgbClr val="C9D7E3"/>
                      </a:solidFill>
                      <a:prstDash val="solid"/>
                      <a:round/>
                      <a:headEnd type="none" w="med" len="med"/>
                      <a:tailEnd type="none" w="med" len="med"/>
                    </a:lnT>
                    <a:lnB w="12700" cap="flat" cmpd="sng" algn="ctr">
                      <a:solidFill>
                        <a:srgbClr val="C9D7E3"/>
                      </a:solidFill>
                      <a:prstDash val="solid"/>
                      <a:round/>
                      <a:headEnd type="none" w="med" len="med"/>
                      <a:tailEnd type="none" w="med" len="med"/>
                    </a:lnB>
                    <a:solidFill>
                      <a:srgbClr val="FFFFFF"/>
                    </a:solidFill>
                  </a:tcPr>
                </a:tc>
                <a:tc>
                  <a:txBody>
                    <a:bodyPr/>
                    <a:lstStyle/>
                    <a:p>
                      <a:pPr indent="0" marL="0">
                        <a:buNone/>
                      </a:pPr>
                      <a:r>
                        <a:rPr lang="en-US" sz="1200" dirty="0">
                          <a:solidFill>
                            <a:srgbClr val="17334B"/>
                          </a:solidFill>
                          <a:latin typeface="Calibri" pitchFamily="34" charset="0"/>
                          <a:ea typeface="Calibri" pitchFamily="34" charset="-122"/>
                          <a:cs typeface="Calibri" pitchFamily="34" charset="-120"/>
                        </a:rPr>
                        <a:t>A.P1 Explain the need for network types and models</a:t>
                      </a:r>
                      <a:endParaRPr lang="en-US" sz="1200" dirty="0">
                        <a:latin typeface="Calibri" charset="0"/>
                        <a:ea typeface="Calibri" charset="0"/>
                        <a:cs typeface="Calibri" charset="0"/>
                      </a:endParaRPr>
                    </a:p>
                    <a:p>
                      <a:pPr indent="0" marL="0">
                        <a:buNone/>
                      </a:pPr>
                      <a:r>
                        <a:rPr lang="en-US" sz="1200" dirty="0">
                          <a:solidFill>
                            <a:srgbClr val="17334B"/>
                          </a:solidFill>
                          <a:latin typeface="Calibri" pitchFamily="34" charset="0"/>
                          <a:ea typeface="Calibri" pitchFamily="34" charset="-122"/>
                          <a:cs typeface="Calibri" pitchFamily="34" charset="-120"/>
                        </a:rPr>
                        <a:t>A.P2 Explain characteristics and functions of components</a:t>
                      </a:r>
                      <a:endParaRPr lang="en-US" sz="1200" dirty="0">
                        <a:latin typeface="Calibri" charset="0"/>
                        <a:ea typeface="Calibri" charset="0"/>
                        <a:cs typeface="Calibri" charset="0"/>
                      </a:endParaRPr>
                    </a:p>
                  </a:txBody>
                  <a:tcPr marL="73152" marR="73152" marT="73152" marB="73152" anchor="t">
                    <a:lnL w="12700" cap="flat" cmpd="sng" algn="ctr">
                      <a:solidFill>
                        <a:srgbClr val="C9D7E3"/>
                      </a:solidFill>
                      <a:prstDash val="solid"/>
                      <a:round/>
                      <a:headEnd type="none" w="med" len="med"/>
                      <a:tailEnd type="none" w="med" len="med"/>
                    </a:lnL>
                    <a:lnR w="12700" cap="flat" cmpd="sng" algn="ctr">
                      <a:solidFill>
                        <a:srgbClr val="C9D7E3"/>
                      </a:solidFill>
                      <a:prstDash val="solid"/>
                      <a:round/>
                      <a:headEnd type="none" w="med" len="med"/>
                      <a:tailEnd type="none" w="med" len="med"/>
                    </a:lnR>
                    <a:lnT w="12700" cap="flat" cmpd="sng" algn="ctr">
                      <a:solidFill>
                        <a:srgbClr val="C9D7E3"/>
                      </a:solidFill>
                      <a:prstDash val="solid"/>
                      <a:round/>
                      <a:headEnd type="none" w="med" len="med"/>
                      <a:tailEnd type="none" w="med" len="med"/>
                    </a:lnT>
                    <a:lnB w="12700" cap="flat" cmpd="sng" algn="ctr">
                      <a:solidFill>
                        <a:srgbClr val="C9D7E3"/>
                      </a:solidFill>
                      <a:prstDash val="solid"/>
                      <a:round/>
                      <a:headEnd type="none" w="med" len="med"/>
                      <a:tailEnd type="none" w="med" len="med"/>
                    </a:lnB>
                    <a:solidFill>
                      <a:srgbClr val="FFFFFF"/>
                    </a:solidFill>
                  </a:tcPr>
                </a:tc>
                <a:tc>
                  <a:txBody>
                    <a:bodyPr/>
                    <a:lstStyle/>
                    <a:p>
                      <a:pPr indent="0" marL="0">
                        <a:buNone/>
                      </a:pPr>
                      <a:r>
                        <a:rPr lang="en-US" sz="1200" dirty="0">
                          <a:solidFill>
                            <a:srgbClr val="17334B"/>
                          </a:solidFill>
                          <a:latin typeface="Calibri" pitchFamily="34" charset="0"/>
                          <a:ea typeface="Calibri" pitchFamily="34" charset="-122"/>
                          <a:cs typeface="Calibri" pitchFamily="34" charset="-120"/>
                        </a:rPr>
                        <a:t>A.M1 Analyse the functions of components needed to build different network types</a:t>
                      </a:r>
                      <a:endParaRPr lang="en-US" sz="1200" dirty="0">
                        <a:latin typeface="Calibri" charset="0"/>
                        <a:ea typeface="Calibri" charset="0"/>
                        <a:cs typeface="Calibri" charset="0"/>
                      </a:endParaRPr>
                    </a:p>
                  </a:txBody>
                  <a:tcPr marL="73152" marR="73152" marT="73152" marB="73152" anchor="t">
                    <a:lnL w="12700" cap="flat" cmpd="sng" algn="ctr">
                      <a:solidFill>
                        <a:srgbClr val="C9D7E3"/>
                      </a:solidFill>
                      <a:prstDash val="solid"/>
                      <a:round/>
                      <a:headEnd type="none" w="med" len="med"/>
                      <a:tailEnd type="none" w="med" len="med"/>
                    </a:lnL>
                    <a:lnR w="12700" cap="flat" cmpd="sng" algn="ctr">
                      <a:solidFill>
                        <a:srgbClr val="C9D7E3"/>
                      </a:solidFill>
                      <a:prstDash val="solid"/>
                      <a:round/>
                      <a:headEnd type="none" w="med" len="med"/>
                      <a:tailEnd type="none" w="med" len="med"/>
                    </a:lnR>
                    <a:lnT w="12700" cap="flat" cmpd="sng" algn="ctr">
                      <a:solidFill>
                        <a:srgbClr val="C9D7E3"/>
                      </a:solidFill>
                      <a:prstDash val="solid"/>
                      <a:round/>
                      <a:headEnd type="none" w="med" len="med"/>
                      <a:tailEnd type="none" w="med" len="med"/>
                    </a:lnT>
                    <a:lnB w="12700" cap="flat" cmpd="sng" algn="ctr">
                      <a:solidFill>
                        <a:srgbClr val="C9D7E3"/>
                      </a:solidFill>
                      <a:prstDash val="solid"/>
                      <a:round/>
                      <a:headEnd type="none" w="med" len="med"/>
                      <a:tailEnd type="none" w="med" len="med"/>
                    </a:lnB>
                    <a:solidFill>
                      <a:srgbClr val="FFFFFF"/>
                    </a:solidFill>
                  </a:tcPr>
                </a:tc>
                <a:tc>
                  <a:txBody>
                    <a:bodyPr/>
                    <a:lstStyle/>
                    <a:p>
                      <a:pPr indent="0" marL="0">
                        <a:buNone/>
                      </a:pPr>
                      <a:r>
                        <a:rPr lang="en-US" sz="1200" dirty="0">
                          <a:solidFill>
                            <a:srgbClr val="17334B"/>
                          </a:solidFill>
                          <a:latin typeface="Calibri" pitchFamily="34" charset="0"/>
                          <a:ea typeface="Calibri" pitchFamily="34" charset="-122"/>
                          <a:cs typeface="Calibri" pitchFamily="34" charset="-120"/>
                        </a:rPr>
                        <a:t>A.D1 Evaluate network models and their suitability for different client requirements</a:t>
                      </a:r>
                      <a:endParaRPr lang="en-US" sz="1200" dirty="0">
                        <a:latin typeface="Calibri" charset="0"/>
                        <a:ea typeface="Calibri" charset="0"/>
                        <a:cs typeface="Calibri" charset="0"/>
                      </a:endParaRPr>
                    </a:p>
                  </a:txBody>
                  <a:tcPr marL="73152" marR="73152" marT="73152" marB="73152" anchor="t">
                    <a:lnL w="12700" cap="flat" cmpd="sng" algn="ctr">
                      <a:solidFill>
                        <a:srgbClr val="C9D7E3"/>
                      </a:solidFill>
                      <a:prstDash val="solid"/>
                      <a:round/>
                      <a:headEnd type="none" w="med" len="med"/>
                      <a:tailEnd type="none" w="med" len="med"/>
                    </a:lnL>
                    <a:lnR w="12700" cap="flat" cmpd="sng" algn="ctr">
                      <a:solidFill>
                        <a:srgbClr val="C9D7E3"/>
                      </a:solidFill>
                      <a:prstDash val="solid"/>
                      <a:round/>
                      <a:headEnd type="none" w="med" len="med"/>
                      <a:tailEnd type="none" w="med" len="med"/>
                    </a:lnR>
                    <a:lnT w="12700" cap="flat" cmpd="sng" algn="ctr">
                      <a:solidFill>
                        <a:srgbClr val="C9D7E3"/>
                      </a:solidFill>
                      <a:prstDash val="solid"/>
                      <a:round/>
                      <a:headEnd type="none" w="med" len="med"/>
                      <a:tailEnd type="none" w="med" len="med"/>
                    </a:lnT>
                    <a:lnB w="12700" cap="flat" cmpd="sng" algn="ctr">
                      <a:solidFill>
                        <a:srgbClr val="C9D7E3"/>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7334B"/>
                          </a:solidFill>
                          <a:latin typeface="Calibri" pitchFamily="34" charset="0"/>
                          <a:ea typeface="Calibri" pitchFamily="34" charset="-122"/>
                          <a:cs typeface="Calibri" pitchFamily="34" charset="-120"/>
                        </a:rPr>
                        <a:t>2 · Design, build, test, evaluate (aims B and C)</a:t>
                      </a:r>
                      <a:endParaRPr lang="en-US" sz="1200" dirty="0">
                        <a:latin typeface="Calibri" charset="0"/>
                        <a:ea typeface="Calibri" charset="0"/>
                        <a:cs typeface="Calibri" charset="0"/>
                      </a:endParaRPr>
                    </a:p>
                  </a:txBody>
                  <a:tcPr marL="73152" marR="73152" marT="73152" marB="73152" anchor="t">
                    <a:lnL w="12700" cap="flat" cmpd="sng" algn="ctr">
                      <a:solidFill>
                        <a:srgbClr val="C9D7E3"/>
                      </a:solidFill>
                      <a:prstDash val="solid"/>
                      <a:round/>
                      <a:headEnd type="none" w="med" len="med"/>
                      <a:tailEnd type="none" w="med" len="med"/>
                    </a:lnL>
                    <a:lnR w="12700" cap="flat" cmpd="sng" algn="ctr">
                      <a:solidFill>
                        <a:srgbClr val="C9D7E3"/>
                      </a:solidFill>
                      <a:prstDash val="solid"/>
                      <a:round/>
                      <a:headEnd type="none" w="med" len="med"/>
                      <a:tailEnd type="none" w="med" len="med"/>
                    </a:lnR>
                    <a:lnT w="12700" cap="flat" cmpd="sng" algn="ctr">
                      <a:solidFill>
                        <a:srgbClr val="C9D7E3"/>
                      </a:solidFill>
                      <a:prstDash val="solid"/>
                      <a:round/>
                      <a:headEnd type="none" w="med" len="med"/>
                      <a:tailEnd type="none" w="med" len="med"/>
                    </a:lnT>
                    <a:lnB w="12700" cap="flat" cmpd="sng" algn="ctr">
                      <a:solidFill>
                        <a:srgbClr val="C9D7E3"/>
                      </a:solidFill>
                      <a:prstDash val="solid"/>
                      <a:round/>
                      <a:headEnd type="none" w="med" len="med"/>
                      <a:tailEnd type="none" w="med" len="med"/>
                    </a:lnB>
                    <a:solidFill>
                      <a:srgbClr val="FFFFFF"/>
                    </a:solidFill>
                  </a:tcPr>
                </a:tc>
                <a:tc>
                  <a:txBody>
                    <a:bodyPr/>
                    <a:lstStyle/>
                    <a:p>
                      <a:pPr indent="0" marL="0">
                        <a:buNone/>
                      </a:pPr>
                      <a:r>
                        <a:rPr lang="en-US" sz="1200" dirty="0">
                          <a:solidFill>
                            <a:srgbClr val="17334B"/>
                          </a:solidFill>
                          <a:latin typeface="Calibri" pitchFamily="34" charset="0"/>
                          <a:ea typeface="Calibri" pitchFamily="34" charset="-122"/>
                          <a:cs typeface="Calibri" pitchFamily="34" charset="-120"/>
                        </a:rPr>
                        <a:t>B.P3 Explain the need for design and planning</a:t>
                      </a:r>
                      <a:endParaRPr lang="en-US" sz="1200" dirty="0">
                        <a:latin typeface="Calibri" charset="0"/>
                        <a:ea typeface="Calibri" charset="0"/>
                        <a:cs typeface="Calibri" charset="0"/>
                      </a:endParaRPr>
                    </a:p>
                    <a:p>
                      <a:pPr indent="0" marL="0">
                        <a:buNone/>
                      </a:pPr>
                      <a:r>
                        <a:rPr lang="en-US" sz="1200" dirty="0">
                          <a:solidFill>
                            <a:srgbClr val="17334B"/>
                          </a:solidFill>
                          <a:latin typeface="Calibri" pitchFamily="34" charset="0"/>
                          <a:ea typeface="Calibri" pitchFamily="34" charset="-122"/>
                          <a:cs typeface="Calibri" pitchFamily="34" charset="-120"/>
                        </a:rPr>
                        <a:t>B.P4 Design a network to meet client requirements</a:t>
                      </a:r>
                      <a:endParaRPr lang="en-US" sz="1200" dirty="0">
                        <a:latin typeface="Calibri" charset="0"/>
                        <a:ea typeface="Calibri" charset="0"/>
                        <a:cs typeface="Calibri" charset="0"/>
                      </a:endParaRPr>
                    </a:p>
                    <a:p>
                      <a:pPr indent="0" marL="0">
                        <a:buNone/>
                      </a:pPr>
                      <a:r>
                        <a:rPr lang="en-US" sz="1200" dirty="0">
                          <a:solidFill>
                            <a:srgbClr val="17334B"/>
                          </a:solidFill>
                          <a:latin typeface="Calibri" pitchFamily="34" charset="0"/>
                          <a:ea typeface="Calibri" pitchFamily="34" charset="-122"/>
                          <a:cs typeface="Calibri" pitchFamily="34" charset="-120"/>
                        </a:rPr>
                        <a:t>C.P5 Develop and configure it</a:t>
                      </a:r>
                      <a:endParaRPr lang="en-US" sz="1200" dirty="0">
                        <a:latin typeface="Calibri" charset="0"/>
                        <a:ea typeface="Calibri" charset="0"/>
                        <a:cs typeface="Calibri" charset="0"/>
                      </a:endParaRPr>
                    </a:p>
                    <a:p>
                      <a:pPr indent="0" marL="0">
                        <a:buNone/>
                      </a:pPr>
                      <a:r>
                        <a:rPr lang="en-US" sz="1200" dirty="0">
                          <a:solidFill>
                            <a:srgbClr val="17334B"/>
                          </a:solidFill>
                          <a:latin typeface="Calibri" pitchFamily="34" charset="0"/>
                          <a:ea typeface="Calibri" pitchFamily="34" charset="-122"/>
                          <a:cs typeface="Calibri" pitchFamily="34" charset="-120"/>
                        </a:rPr>
                        <a:t>C.P6 Test it</a:t>
                      </a:r>
                      <a:endParaRPr lang="en-US" sz="1200" dirty="0">
                        <a:latin typeface="Calibri" charset="0"/>
                        <a:ea typeface="Calibri" charset="0"/>
                        <a:cs typeface="Calibri" charset="0"/>
                      </a:endParaRPr>
                    </a:p>
                    <a:p>
                      <a:pPr indent="0" marL="0">
                        <a:buNone/>
                      </a:pPr>
                      <a:r>
                        <a:rPr lang="en-US" sz="1200" dirty="0">
                          <a:solidFill>
                            <a:srgbClr val="17334B"/>
                          </a:solidFill>
                          <a:latin typeface="Calibri" pitchFamily="34" charset="0"/>
                          <a:ea typeface="Calibri" pitchFamily="34" charset="-122"/>
                          <a:cs typeface="Calibri" pitchFamily="34" charset="-120"/>
                        </a:rPr>
                        <a:t>C.P7 Review it against requirements</a:t>
                      </a:r>
                      <a:endParaRPr lang="en-US" sz="1200" dirty="0">
                        <a:latin typeface="Calibri" charset="0"/>
                        <a:ea typeface="Calibri" charset="0"/>
                        <a:cs typeface="Calibri" charset="0"/>
                      </a:endParaRPr>
                    </a:p>
                  </a:txBody>
                  <a:tcPr marL="73152" marR="73152" marT="73152" marB="73152" anchor="t">
                    <a:lnL w="12700" cap="flat" cmpd="sng" algn="ctr">
                      <a:solidFill>
                        <a:srgbClr val="C9D7E3"/>
                      </a:solidFill>
                      <a:prstDash val="solid"/>
                      <a:round/>
                      <a:headEnd type="none" w="med" len="med"/>
                      <a:tailEnd type="none" w="med" len="med"/>
                    </a:lnL>
                    <a:lnR w="12700" cap="flat" cmpd="sng" algn="ctr">
                      <a:solidFill>
                        <a:srgbClr val="C9D7E3"/>
                      </a:solidFill>
                      <a:prstDash val="solid"/>
                      <a:round/>
                      <a:headEnd type="none" w="med" len="med"/>
                      <a:tailEnd type="none" w="med" len="med"/>
                    </a:lnR>
                    <a:lnT w="12700" cap="flat" cmpd="sng" algn="ctr">
                      <a:solidFill>
                        <a:srgbClr val="C9D7E3"/>
                      </a:solidFill>
                      <a:prstDash val="solid"/>
                      <a:round/>
                      <a:headEnd type="none" w="med" len="med"/>
                      <a:tailEnd type="none" w="med" len="med"/>
                    </a:lnT>
                    <a:lnB w="12700" cap="flat" cmpd="sng" algn="ctr">
                      <a:solidFill>
                        <a:srgbClr val="C9D7E3"/>
                      </a:solidFill>
                      <a:prstDash val="solid"/>
                      <a:round/>
                      <a:headEnd type="none" w="med" len="med"/>
                      <a:tailEnd type="none" w="med" len="med"/>
                    </a:lnB>
                    <a:solidFill>
                      <a:srgbClr val="FFFFFF"/>
                    </a:solidFill>
                  </a:tcPr>
                </a:tc>
                <a:tc>
                  <a:txBody>
                    <a:bodyPr/>
                    <a:lstStyle/>
                    <a:p>
                      <a:pPr indent="0" marL="0">
                        <a:buNone/>
                      </a:pPr>
                      <a:r>
                        <a:rPr lang="en-US" sz="1200" dirty="0">
                          <a:solidFill>
                            <a:srgbClr val="17334B"/>
                          </a:solidFill>
                          <a:latin typeface="Calibri" pitchFamily="34" charset="0"/>
                          <a:ea typeface="Calibri" pitchFamily="34" charset="-122"/>
                          <a:cs typeface="Calibri" pitchFamily="34" charset="-120"/>
                        </a:rPr>
                        <a:t>B.M2 Justify design decisions</a:t>
                      </a:r>
                      <a:endParaRPr lang="en-US" sz="1200" dirty="0">
                        <a:latin typeface="Calibri" charset="0"/>
                        <a:ea typeface="Calibri" charset="0"/>
                        <a:cs typeface="Calibri" charset="0"/>
                      </a:endParaRPr>
                    </a:p>
                    <a:p>
                      <a:pPr indent="0" marL="0">
                        <a:buNone/>
                      </a:pPr>
                      <a:r>
                        <a:rPr lang="en-US" sz="1200" dirty="0">
                          <a:solidFill>
                            <a:srgbClr val="17334B"/>
                          </a:solidFill>
                          <a:latin typeface="Calibri" pitchFamily="34" charset="0"/>
                          <a:ea typeface="Calibri" pitchFamily="34" charset="-122"/>
                          <a:cs typeface="Calibri" pitchFamily="34" charset="-120"/>
                        </a:rPr>
                        <a:t>C.M3 Optimise the network</a:t>
                      </a:r>
                      <a:endParaRPr lang="en-US" sz="1200" dirty="0">
                        <a:latin typeface="Calibri" charset="0"/>
                        <a:ea typeface="Calibri" charset="0"/>
                        <a:cs typeface="Calibri" charset="0"/>
                      </a:endParaRPr>
                    </a:p>
                  </a:txBody>
                  <a:tcPr marL="73152" marR="73152" marT="73152" marB="73152" anchor="t">
                    <a:lnL w="12700" cap="flat" cmpd="sng" algn="ctr">
                      <a:solidFill>
                        <a:srgbClr val="C9D7E3"/>
                      </a:solidFill>
                      <a:prstDash val="solid"/>
                      <a:round/>
                      <a:headEnd type="none" w="med" len="med"/>
                      <a:tailEnd type="none" w="med" len="med"/>
                    </a:lnL>
                    <a:lnR w="12700" cap="flat" cmpd="sng" algn="ctr">
                      <a:solidFill>
                        <a:srgbClr val="C9D7E3"/>
                      </a:solidFill>
                      <a:prstDash val="solid"/>
                      <a:round/>
                      <a:headEnd type="none" w="med" len="med"/>
                      <a:tailEnd type="none" w="med" len="med"/>
                    </a:lnR>
                    <a:lnT w="12700" cap="flat" cmpd="sng" algn="ctr">
                      <a:solidFill>
                        <a:srgbClr val="C9D7E3"/>
                      </a:solidFill>
                      <a:prstDash val="solid"/>
                      <a:round/>
                      <a:headEnd type="none" w="med" len="med"/>
                      <a:tailEnd type="none" w="med" len="med"/>
                    </a:lnT>
                    <a:lnB w="12700" cap="flat" cmpd="sng" algn="ctr">
                      <a:solidFill>
                        <a:srgbClr val="C9D7E3"/>
                      </a:solidFill>
                      <a:prstDash val="solid"/>
                      <a:round/>
                      <a:headEnd type="none" w="med" len="med"/>
                      <a:tailEnd type="none" w="med" len="med"/>
                    </a:lnB>
                    <a:solidFill>
                      <a:srgbClr val="FFFFFF"/>
                    </a:solidFill>
                  </a:tcPr>
                </a:tc>
                <a:tc>
                  <a:txBody>
                    <a:bodyPr/>
                    <a:lstStyle/>
                    <a:p>
                      <a:pPr indent="0" marL="0">
                        <a:buNone/>
                      </a:pPr>
                      <a:r>
                        <a:rPr lang="en-US" sz="1200" dirty="0">
                          <a:solidFill>
                            <a:srgbClr val="17334B"/>
                          </a:solidFill>
                          <a:latin typeface="Calibri" pitchFamily="34" charset="0"/>
                          <a:ea typeface="Calibri" pitchFamily="34" charset="-122"/>
                          <a:cs typeface="Calibri" pitchFamily="34" charset="-120"/>
                        </a:rPr>
                        <a:t>BC.D2 Evaluate the design and the optimised network against requirements</a:t>
                      </a:r>
                      <a:endParaRPr lang="en-US" sz="1200" dirty="0">
                        <a:latin typeface="Calibri" charset="0"/>
                        <a:ea typeface="Calibri" charset="0"/>
                        <a:cs typeface="Calibri" charset="0"/>
                      </a:endParaRPr>
                    </a:p>
                    <a:p>
                      <a:pPr indent="0" marL="0">
                        <a:buNone/>
                      </a:pPr>
                      <a:r>
                        <a:rPr lang="en-US" sz="1200" dirty="0">
                          <a:solidFill>
                            <a:srgbClr val="17334B"/>
                          </a:solidFill>
                          <a:latin typeface="Calibri" pitchFamily="34" charset="0"/>
                          <a:ea typeface="Calibri" pitchFamily="34" charset="-122"/>
                          <a:cs typeface="Calibri" pitchFamily="34" charset="-120"/>
                        </a:rPr>
                        <a:t>BC.D3 Demonstrate individual responsibility and self-management</a:t>
                      </a:r>
                      <a:endParaRPr lang="en-US" sz="1200" dirty="0">
                        <a:latin typeface="Calibri" charset="0"/>
                        <a:ea typeface="Calibri" charset="0"/>
                        <a:cs typeface="Calibri" charset="0"/>
                      </a:endParaRPr>
                    </a:p>
                  </a:txBody>
                  <a:tcPr marL="73152" marR="73152" marT="73152" marB="73152" anchor="t">
                    <a:lnL w="12700" cap="flat" cmpd="sng" algn="ctr">
                      <a:solidFill>
                        <a:srgbClr val="C9D7E3"/>
                      </a:solidFill>
                      <a:prstDash val="solid"/>
                      <a:round/>
                      <a:headEnd type="none" w="med" len="med"/>
                      <a:tailEnd type="none" w="med" len="med"/>
                    </a:lnL>
                    <a:lnR w="12700" cap="flat" cmpd="sng" algn="ctr">
                      <a:solidFill>
                        <a:srgbClr val="C9D7E3"/>
                      </a:solidFill>
                      <a:prstDash val="solid"/>
                      <a:round/>
                      <a:headEnd type="none" w="med" len="med"/>
                      <a:tailEnd type="none" w="med" len="med"/>
                    </a:lnR>
                    <a:lnT w="12700" cap="flat" cmpd="sng" algn="ctr">
                      <a:solidFill>
                        <a:srgbClr val="C9D7E3"/>
                      </a:solidFill>
                      <a:prstDash val="solid"/>
                      <a:round/>
                      <a:headEnd type="none" w="med" len="med"/>
                      <a:tailEnd type="none" w="med" len="med"/>
                    </a:lnT>
                    <a:lnB w="12700" cap="flat" cmpd="sng" algn="ctr">
                      <a:solidFill>
                        <a:srgbClr val="C9D7E3"/>
                      </a:solidFill>
                      <a:prstDash val="solid"/>
                      <a:round/>
                      <a:headEnd type="none" w="med" len="med"/>
                      <a:tailEnd type="none" w="med" len="med"/>
                    </a:lnB>
                    <a:solidFill>
                      <a:srgbClr val="FFFFFF"/>
                    </a:solidFill>
                  </a:tcPr>
                </a:tc>
              </a:tr>
            </a:tbl>
          </a:graphicData>
        </a:graphic>
      </p:graphicFrame>
      <p:sp>
        <p:nvSpPr>
          <p:cNvPr id="4" name="Shape 1"/>
          <p:cNvSpPr/>
          <p:nvPr/>
        </p:nvSpPr>
        <p:spPr>
          <a:xfrm>
            <a:off x="548640" y="4160520"/>
            <a:ext cx="11094415" cy="1005840"/>
          </a:xfrm>
          <a:prstGeom prst="roundRect">
            <a:avLst>
              <a:gd name="adj" fmla="val 9091"/>
            </a:avLst>
          </a:prstGeom>
          <a:solidFill>
            <a:srgbClr val="E6F4F1"/>
          </a:solidFill>
          <a:ln w="12700">
            <a:solidFill>
              <a:srgbClr val="E6F4F1"/>
            </a:solidFill>
            <a:prstDash val="solid"/>
          </a:ln>
        </p:spPr>
      </p:sp>
      <p:sp>
        <p:nvSpPr>
          <p:cNvPr id="5" name="Text 2"/>
          <p:cNvSpPr txBox="1"/>
          <p:nvPr/>
        </p:nvSpPr>
        <p:spPr>
          <a:xfrm>
            <a:off x="713232" y="4270248"/>
            <a:ext cx="10765231" cy="786384"/>
          </a:xfrm>
          <a:prstGeom prst="rect">
            <a:avLst/>
          </a:prstGeom>
          <a:noFill/>
          <a:ln/>
        </p:spPr>
        <p:txBody>
          <a:bodyPr wrap="square" lIns="0" tIns="0" rIns="0" bIns="0" rtlCol="0" anchor="t"/>
          <a:lstStyle/>
          <a:p>
            <a:pPr indent="0" marL="0">
              <a:spcAft>
                <a:spcPts val="400"/>
              </a:spcAft>
              <a:buNone/>
            </a:pPr>
            <a:r>
              <a:rPr lang="en-US" sz="1500" b="1" dirty="0">
                <a:solidFill>
                  <a:srgbClr val="12324F"/>
                </a:solidFill>
                <a:latin typeface="Calibri" pitchFamily="34" charset="0"/>
                <a:ea typeface="Calibri" pitchFamily="34" charset="-122"/>
                <a:cs typeface="Calibri" pitchFamily="34" charset="-120"/>
              </a:rPr>
              <a:t>Grading reminder</a:t>
            </a:r>
            <a:endParaRPr lang="en-US" sz="1500" dirty="0"/>
          </a:p>
          <a:p>
            <a:pPr indent="0" marL="0">
              <a:spcAft>
                <a:spcPts val="400"/>
              </a:spcAft>
              <a:buNone/>
            </a:pPr>
            <a:r>
              <a:rPr lang="en-US" sz="1300" dirty="0">
                <a:solidFill>
                  <a:srgbClr val="17334B"/>
                </a:solidFill>
                <a:latin typeface="Calibri" pitchFamily="34" charset="0"/>
                <a:ea typeface="Calibri" pitchFamily="34" charset="-122"/>
                <a:cs typeface="Calibri" pitchFamily="34" charset="-120"/>
              </a:rPr>
              <a:t>Pass: accurate, complete explanations and working evidence. Merit: analyse, justify, optimise (how and why). Distinction: evaluate with evidence and reasoned examples to justified conclusions; BC.D3 needs a portfolio kept throughout.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411480"/>
            <a:ext cx="11094415" cy="731520"/>
          </a:xfrm>
          <a:prstGeom prst="rect">
            <a:avLst/>
          </a:prstGeom>
          <a:noFill/>
          <a:ln/>
        </p:spPr>
        <p:txBody>
          <a:bodyPr wrap="square" lIns="0" tIns="0" rIns="0" bIns="0" rtlCol="0" anchor="ctr"/>
          <a:lstStyle/>
          <a:p>
            <a:pPr indent="0" marL="0">
              <a:buNone/>
            </a:pPr>
            <a:r>
              <a:rPr lang="en-US" sz="3200" b="1" dirty="0">
                <a:solidFill>
                  <a:srgbClr val="17334B"/>
                </a:solidFill>
                <a:latin typeface="Cambria" pitchFamily="34" charset="0"/>
                <a:ea typeface="Cambria" pitchFamily="34" charset="-122"/>
                <a:cs typeface="Cambria" pitchFamily="34" charset="-120"/>
              </a:rPr>
              <a:t>The student course site</a:t>
            </a:r>
            <a:endParaRPr lang="en-US" sz="3200" dirty="0"/>
          </a:p>
        </p:txBody>
      </p:sp>
      <p:sp>
        <p:nvSpPr>
          <p:cNvPr id="3" name="Shape 1"/>
          <p:cNvSpPr/>
          <p:nvPr/>
        </p:nvSpPr>
        <p:spPr>
          <a:xfrm>
            <a:off x="548640" y="1371600"/>
            <a:ext cx="3566160" cy="1920240"/>
          </a:xfrm>
          <a:prstGeom prst="roundRect">
            <a:avLst>
              <a:gd name="adj" fmla="val 4762"/>
            </a:avLst>
          </a:prstGeom>
          <a:solidFill>
            <a:srgbClr val="EAF2F9"/>
          </a:solidFill>
          <a:ln w="12700">
            <a:solidFill>
              <a:srgbClr val="EAF2F9"/>
            </a:solidFill>
            <a:prstDash val="solid"/>
          </a:ln>
        </p:spPr>
      </p:sp>
      <p:sp>
        <p:nvSpPr>
          <p:cNvPr id="4" name="Text 2"/>
          <p:cNvSpPr txBox="1"/>
          <p:nvPr/>
        </p:nvSpPr>
        <p:spPr>
          <a:xfrm>
            <a:off x="713232" y="1481328"/>
            <a:ext cx="3236976" cy="1700784"/>
          </a:xfrm>
          <a:prstGeom prst="rect">
            <a:avLst/>
          </a:prstGeom>
          <a:noFill/>
          <a:ln/>
        </p:spPr>
        <p:txBody>
          <a:bodyPr wrap="square" lIns="0" tIns="0" rIns="0" bIns="0" rtlCol="0" anchor="t"/>
          <a:lstStyle/>
          <a:p>
            <a:pPr indent="0" marL="0">
              <a:spcAft>
                <a:spcPts val="400"/>
              </a:spcAft>
              <a:buNone/>
            </a:pPr>
            <a:r>
              <a:rPr lang="en-US" sz="1600" b="1" dirty="0">
                <a:solidFill>
                  <a:srgbClr val="12324F"/>
                </a:solidFill>
                <a:latin typeface="Calibri" pitchFamily="34" charset="0"/>
                <a:ea typeface="Calibri" pitchFamily="34" charset="-122"/>
                <a:cs typeface="Calibri" pitchFamily="34" charset="-120"/>
              </a:rPr>
              <a:t>1. Assignment guide</a:t>
            </a:r>
            <a:endParaRPr lang="en-US" sz="1600" dirty="0"/>
          </a:p>
          <a:p>
            <a:pPr indent="0" marL="0">
              <a:spcAft>
                <a:spcPts val="400"/>
              </a:spcAft>
              <a:buNone/>
            </a:pPr>
            <a:r>
              <a:rPr lang="en-US" sz="1400" dirty="0">
                <a:solidFill>
                  <a:srgbClr val="17334B"/>
                </a:solidFill>
                <a:latin typeface="Calibri" pitchFamily="34" charset="0"/>
                <a:ea typeface="Calibri" pitchFamily="34" charset="-122"/>
                <a:cs typeface="Calibri" pitchFamily="34" charset="-120"/>
              </a:rPr>
              <a:t>Both assignments in plain English, P/M/D explained, success checklists, AI rules</a:t>
            </a:r>
            <a:endParaRPr lang="en-US" sz="1600" dirty="0"/>
          </a:p>
        </p:txBody>
      </p:sp>
      <p:sp>
        <p:nvSpPr>
          <p:cNvPr id="5" name="Shape 3"/>
          <p:cNvSpPr/>
          <p:nvPr/>
        </p:nvSpPr>
        <p:spPr>
          <a:xfrm>
            <a:off x="4297680" y="1371600"/>
            <a:ext cx="3566160" cy="1920240"/>
          </a:xfrm>
          <a:prstGeom prst="roundRect">
            <a:avLst>
              <a:gd name="adj" fmla="val 4762"/>
            </a:avLst>
          </a:prstGeom>
          <a:solidFill>
            <a:srgbClr val="E6F4F1"/>
          </a:solidFill>
          <a:ln w="12700">
            <a:solidFill>
              <a:srgbClr val="E6F4F1"/>
            </a:solidFill>
            <a:prstDash val="solid"/>
          </a:ln>
        </p:spPr>
      </p:sp>
      <p:sp>
        <p:nvSpPr>
          <p:cNvPr id="6" name="Text 4"/>
          <p:cNvSpPr txBox="1"/>
          <p:nvPr/>
        </p:nvSpPr>
        <p:spPr>
          <a:xfrm>
            <a:off x="4462272" y="1481328"/>
            <a:ext cx="3236976" cy="1700784"/>
          </a:xfrm>
          <a:prstGeom prst="rect">
            <a:avLst/>
          </a:prstGeom>
          <a:noFill/>
          <a:ln/>
        </p:spPr>
        <p:txBody>
          <a:bodyPr wrap="square" lIns="0" tIns="0" rIns="0" bIns="0" rtlCol="0" anchor="t"/>
          <a:lstStyle/>
          <a:p>
            <a:pPr indent="0" marL="0">
              <a:spcAft>
                <a:spcPts val="400"/>
              </a:spcAft>
              <a:buNone/>
            </a:pPr>
            <a:r>
              <a:rPr lang="en-US" sz="1600" b="1" dirty="0">
                <a:solidFill>
                  <a:srgbClr val="12324F"/>
                </a:solidFill>
                <a:latin typeface="Calibri" pitchFamily="34" charset="0"/>
                <a:ea typeface="Calibri" pitchFamily="34" charset="-122"/>
                <a:cs typeface="Calibri" pitchFamily="34" charset="-120"/>
              </a:rPr>
              <a:t>2. Learn</a:t>
            </a:r>
            <a:endParaRPr lang="en-US" sz="1600" dirty="0"/>
          </a:p>
          <a:p>
            <a:pPr indent="0" marL="0">
              <a:spcAft>
                <a:spcPts val="400"/>
              </a:spcAft>
              <a:buNone/>
            </a:pPr>
            <a:r>
              <a:rPr lang="en-US" sz="1400" dirty="0">
                <a:solidFill>
                  <a:srgbClr val="17334B"/>
                </a:solidFill>
                <a:latin typeface="Calibri" pitchFamily="34" charset="0"/>
                <a:ea typeface="Calibri" pitchFamily="34" charset="-122"/>
                <a:cs typeface="Calibri" pitchFamily="34" charset="-120"/>
              </a:rPr>
              <a:t>16 lessons with original diagrams, key terms, real-world examples and Packet Tracer tasks</a:t>
            </a:r>
            <a:endParaRPr lang="en-US" sz="1600" dirty="0"/>
          </a:p>
        </p:txBody>
      </p:sp>
      <p:sp>
        <p:nvSpPr>
          <p:cNvPr id="7" name="Shape 5"/>
          <p:cNvSpPr/>
          <p:nvPr/>
        </p:nvSpPr>
        <p:spPr>
          <a:xfrm>
            <a:off x="8046720" y="1371600"/>
            <a:ext cx="3566160" cy="1920240"/>
          </a:xfrm>
          <a:prstGeom prst="roundRect">
            <a:avLst>
              <a:gd name="adj" fmla="val 4762"/>
            </a:avLst>
          </a:prstGeom>
          <a:solidFill>
            <a:srgbClr val="EAF2F9"/>
          </a:solidFill>
          <a:ln w="12700">
            <a:solidFill>
              <a:srgbClr val="EAF2F9"/>
            </a:solidFill>
            <a:prstDash val="solid"/>
          </a:ln>
        </p:spPr>
      </p:sp>
      <p:sp>
        <p:nvSpPr>
          <p:cNvPr id="8" name="Text 6"/>
          <p:cNvSpPr txBox="1"/>
          <p:nvPr/>
        </p:nvSpPr>
        <p:spPr>
          <a:xfrm>
            <a:off x="8211312" y="1481328"/>
            <a:ext cx="3236976" cy="1700784"/>
          </a:xfrm>
          <a:prstGeom prst="rect">
            <a:avLst/>
          </a:prstGeom>
          <a:noFill/>
          <a:ln/>
        </p:spPr>
        <p:txBody>
          <a:bodyPr wrap="square" lIns="0" tIns="0" rIns="0" bIns="0" rtlCol="0" anchor="t"/>
          <a:lstStyle/>
          <a:p>
            <a:pPr indent="0" marL="0">
              <a:spcAft>
                <a:spcPts val="400"/>
              </a:spcAft>
              <a:buNone/>
            </a:pPr>
            <a:r>
              <a:rPr lang="en-US" sz="1600" b="1" dirty="0">
                <a:solidFill>
                  <a:srgbClr val="12324F"/>
                </a:solidFill>
                <a:latin typeface="Calibri" pitchFamily="34" charset="0"/>
                <a:ea typeface="Calibri" pitchFamily="34" charset="-122"/>
                <a:cs typeface="Calibri" pitchFamily="34" charset="-120"/>
              </a:rPr>
              <a:t>3. Workbook + tutor</a:t>
            </a:r>
            <a:endParaRPr lang="en-US" sz="1600" dirty="0"/>
          </a:p>
          <a:p>
            <a:pPr indent="0" marL="0">
              <a:spcAft>
                <a:spcPts val="400"/>
              </a:spcAft>
              <a:buNone/>
            </a:pPr>
            <a:r>
              <a:rPr lang="en-US" sz="1400" dirty="0">
                <a:solidFill>
                  <a:srgbClr val="17334B"/>
                </a:solidFill>
                <a:latin typeface="Calibri" pitchFamily="34" charset="0"/>
                <a:ea typeface="Calibri" pitchFamily="34" charset="-122"/>
                <a:cs typeface="Calibri" pitchFamily="34" charset="-120"/>
              </a:rPr>
              <a:t>Practice activity and quick check per lesson; AI study tutor; saves on device</a:t>
            </a:r>
            <a:endParaRPr lang="en-US" sz="1600" dirty="0"/>
          </a:p>
        </p:txBody>
      </p:sp>
      <p:sp>
        <p:nvSpPr>
          <p:cNvPr id="9" name="Shape 7"/>
          <p:cNvSpPr/>
          <p:nvPr/>
        </p:nvSpPr>
        <p:spPr>
          <a:xfrm>
            <a:off x="548640" y="3520440"/>
            <a:ext cx="3566160" cy="1920240"/>
          </a:xfrm>
          <a:prstGeom prst="roundRect">
            <a:avLst>
              <a:gd name="adj" fmla="val 4762"/>
            </a:avLst>
          </a:prstGeom>
          <a:solidFill>
            <a:srgbClr val="E6F4F1"/>
          </a:solidFill>
          <a:ln w="12700">
            <a:solidFill>
              <a:srgbClr val="E6F4F1"/>
            </a:solidFill>
            <a:prstDash val="solid"/>
          </a:ln>
        </p:spPr>
      </p:sp>
      <p:sp>
        <p:nvSpPr>
          <p:cNvPr id="10" name="Text 8"/>
          <p:cNvSpPr txBox="1"/>
          <p:nvPr/>
        </p:nvSpPr>
        <p:spPr>
          <a:xfrm>
            <a:off x="713232" y="3630168"/>
            <a:ext cx="3236976" cy="1700784"/>
          </a:xfrm>
          <a:prstGeom prst="rect">
            <a:avLst/>
          </a:prstGeom>
          <a:noFill/>
          <a:ln/>
        </p:spPr>
        <p:txBody>
          <a:bodyPr wrap="square" lIns="0" tIns="0" rIns="0" bIns="0" rtlCol="0" anchor="t"/>
          <a:lstStyle/>
          <a:p>
            <a:pPr indent="0" marL="0">
              <a:spcAft>
                <a:spcPts val="400"/>
              </a:spcAft>
              <a:buNone/>
            </a:pPr>
            <a:r>
              <a:rPr lang="en-US" sz="1600" b="1" dirty="0">
                <a:solidFill>
                  <a:srgbClr val="12324F"/>
                </a:solidFill>
                <a:latin typeface="Calibri" pitchFamily="34" charset="0"/>
                <a:ea typeface="Calibri" pitchFamily="34" charset="-122"/>
                <a:cs typeface="Calibri" pitchFamily="34" charset="-120"/>
              </a:rPr>
              <a:t>4. Practicals</a:t>
            </a:r>
            <a:endParaRPr lang="en-US" sz="1600" dirty="0"/>
          </a:p>
          <a:p>
            <a:pPr indent="0" marL="0">
              <a:spcAft>
                <a:spcPts val="400"/>
              </a:spcAft>
              <a:buNone/>
            </a:pPr>
            <a:r>
              <a:rPr lang="en-US" sz="1400" dirty="0">
                <a:solidFill>
                  <a:srgbClr val="17334B"/>
                </a:solidFill>
                <a:latin typeface="Calibri" pitchFamily="34" charset="0"/>
                <a:ea typeface="Calibri" pitchFamily="34" charset="-122"/>
                <a:cs typeface="Calibri" pitchFamily="34" charset="-120"/>
              </a:rPr>
              <a:t>10 labs: LANs, wireless, servers, IOS security, routing, VLANs, Linux, troubleshooting</a:t>
            </a:r>
            <a:endParaRPr lang="en-US" sz="1600" dirty="0"/>
          </a:p>
        </p:txBody>
      </p:sp>
      <p:sp>
        <p:nvSpPr>
          <p:cNvPr id="11" name="Shape 9"/>
          <p:cNvSpPr/>
          <p:nvPr/>
        </p:nvSpPr>
        <p:spPr>
          <a:xfrm>
            <a:off x="4297680" y="3520440"/>
            <a:ext cx="3566160" cy="1920240"/>
          </a:xfrm>
          <a:prstGeom prst="roundRect">
            <a:avLst>
              <a:gd name="adj" fmla="val 4762"/>
            </a:avLst>
          </a:prstGeom>
          <a:solidFill>
            <a:srgbClr val="EAF2F9"/>
          </a:solidFill>
          <a:ln w="12700">
            <a:solidFill>
              <a:srgbClr val="EAF2F9"/>
            </a:solidFill>
            <a:prstDash val="solid"/>
          </a:ln>
        </p:spPr>
      </p:sp>
      <p:sp>
        <p:nvSpPr>
          <p:cNvPr id="12" name="Text 10"/>
          <p:cNvSpPr txBox="1"/>
          <p:nvPr/>
        </p:nvSpPr>
        <p:spPr>
          <a:xfrm>
            <a:off x="4462272" y="3630168"/>
            <a:ext cx="3236976" cy="1700784"/>
          </a:xfrm>
          <a:prstGeom prst="rect">
            <a:avLst/>
          </a:prstGeom>
          <a:noFill/>
          <a:ln/>
        </p:spPr>
        <p:txBody>
          <a:bodyPr wrap="square" lIns="0" tIns="0" rIns="0" bIns="0" rtlCol="0" anchor="t"/>
          <a:lstStyle/>
          <a:p>
            <a:pPr indent="0" marL="0">
              <a:spcAft>
                <a:spcPts val="400"/>
              </a:spcAft>
              <a:buNone/>
            </a:pPr>
            <a:r>
              <a:rPr lang="en-US" sz="1600" b="1" dirty="0">
                <a:solidFill>
                  <a:srgbClr val="12324F"/>
                </a:solidFill>
                <a:latin typeface="Calibri" pitchFamily="34" charset="0"/>
                <a:ea typeface="Calibri" pitchFamily="34" charset="-122"/>
                <a:cs typeface="Calibri" pitchFamily="34" charset="-120"/>
              </a:rPr>
              <a:t>5. Assignment builder</a:t>
            </a:r>
            <a:endParaRPr lang="en-US" sz="1600" dirty="0"/>
          </a:p>
          <a:p>
            <a:pPr indent="0" marL="0">
              <a:spcAft>
                <a:spcPts val="400"/>
              </a:spcAft>
              <a:buNone/>
            </a:pPr>
            <a:r>
              <a:rPr lang="en-US" sz="1400" dirty="0">
                <a:solidFill>
                  <a:srgbClr val="17334B"/>
                </a:solidFill>
                <a:latin typeface="Calibri" pitchFamily="34" charset="0"/>
                <a:ea typeface="Calibri" pitchFamily="34" charset="-122"/>
                <a:cs typeface="Calibri" pitchFamily="34" charset="-120"/>
              </a:rPr>
              <a:t>Checklists, planning tables (IP plan, test plan, permissions, evaluation, diary), AI coach, AI-use log</a:t>
            </a:r>
            <a:endParaRPr lang="en-US" sz="1600" dirty="0"/>
          </a:p>
        </p:txBody>
      </p:sp>
      <p:sp>
        <p:nvSpPr>
          <p:cNvPr id="13" name="Shape 11"/>
          <p:cNvSpPr/>
          <p:nvPr/>
        </p:nvSpPr>
        <p:spPr>
          <a:xfrm>
            <a:off x="8046720" y="3520440"/>
            <a:ext cx="3566160" cy="1920240"/>
          </a:xfrm>
          <a:prstGeom prst="roundRect">
            <a:avLst>
              <a:gd name="adj" fmla="val 4762"/>
            </a:avLst>
          </a:prstGeom>
          <a:solidFill>
            <a:srgbClr val="E6F4F1"/>
          </a:solidFill>
          <a:ln w="12700">
            <a:solidFill>
              <a:srgbClr val="E6F4F1"/>
            </a:solidFill>
            <a:prstDash val="solid"/>
          </a:ln>
        </p:spPr>
      </p:sp>
      <p:sp>
        <p:nvSpPr>
          <p:cNvPr id="14" name="Text 12"/>
          <p:cNvSpPr txBox="1"/>
          <p:nvPr/>
        </p:nvSpPr>
        <p:spPr>
          <a:xfrm>
            <a:off x="8211312" y="3630168"/>
            <a:ext cx="3236976" cy="1700784"/>
          </a:xfrm>
          <a:prstGeom prst="rect">
            <a:avLst/>
          </a:prstGeom>
          <a:noFill/>
          <a:ln/>
        </p:spPr>
        <p:txBody>
          <a:bodyPr wrap="square" lIns="0" tIns="0" rIns="0" bIns="0" rtlCol="0" anchor="t"/>
          <a:lstStyle/>
          <a:p>
            <a:pPr indent="0" marL="0">
              <a:spcAft>
                <a:spcPts val="400"/>
              </a:spcAft>
              <a:buNone/>
            </a:pPr>
            <a:r>
              <a:rPr lang="en-US" sz="1600" b="1" dirty="0">
                <a:solidFill>
                  <a:srgbClr val="12324F"/>
                </a:solidFill>
                <a:latin typeface="Calibri" pitchFamily="34" charset="0"/>
                <a:ea typeface="Calibri" pitchFamily="34" charset="-122"/>
                <a:cs typeface="Calibri" pitchFamily="34" charset="-120"/>
              </a:rPr>
              <a:t>6. Quizzes</a:t>
            </a:r>
            <a:endParaRPr lang="en-US" sz="1600" dirty="0"/>
          </a:p>
          <a:p>
            <a:pPr indent="0" marL="0">
              <a:spcAft>
                <a:spcPts val="400"/>
              </a:spcAft>
              <a:buNone/>
            </a:pPr>
            <a:r>
              <a:rPr lang="en-US" sz="1400" dirty="0">
                <a:solidFill>
                  <a:srgbClr val="17334B"/>
                </a:solidFill>
                <a:latin typeface="Calibri" pitchFamily="34" charset="0"/>
                <a:ea typeface="Calibri" pitchFamily="34" charset="-122"/>
                <a:cs typeface="Calibri" pitchFamily="34" charset="-120"/>
              </a:rPr>
              <a:t>Instant-marked checks: types, OSI and ports, subnetting, devices, configuration</a:t>
            </a:r>
            <a:endParaRPr lang="en-US" sz="1600" dirty="0"/>
          </a:p>
        </p:txBody>
      </p:sp>
      <p:sp>
        <p:nvSpPr>
          <p:cNvPr id="15" name="Text 13"/>
          <p:cNvSpPr txBox="1"/>
          <p:nvPr/>
        </p:nvSpPr>
        <p:spPr>
          <a:xfrm>
            <a:off x="548640" y="6473952"/>
            <a:ext cx="11094415" cy="274320"/>
          </a:xfrm>
          <a:prstGeom prst="rect">
            <a:avLst/>
          </a:prstGeom>
          <a:noFill/>
          <a:ln/>
        </p:spPr>
        <p:txBody>
          <a:bodyPr wrap="square" lIns="0" tIns="0" rIns="0" bIns="0" rtlCol="0" anchor="ctr"/>
          <a:lstStyle/>
          <a:p>
            <a:pPr indent="0" marL="0">
              <a:buNone/>
            </a:pPr>
            <a:r>
              <a:rPr lang="en-US" sz="1000" dirty="0">
                <a:solidFill>
                  <a:srgbClr val="4F6577"/>
                </a:solidFill>
                <a:latin typeface="Calibri" pitchFamily="34" charset="0"/>
                <a:ea typeface="Calibri" pitchFamily="34" charset="-122"/>
                <a:cs typeface="Calibri" pitchFamily="34" charset="-120"/>
              </a:rPr>
              <a:t>Link for Teams: nigeriastudentcenter.github.io/btech/unit19/start.html · No student accounts; work saves in the browser with download backups.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411480"/>
            <a:ext cx="11094415" cy="731520"/>
          </a:xfrm>
          <a:prstGeom prst="rect">
            <a:avLst/>
          </a:prstGeom>
          <a:noFill/>
          <a:ln/>
        </p:spPr>
        <p:txBody>
          <a:bodyPr wrap="square" lIns="0" tIns="0" rIns="0" bIns="0" rtlCol="0" anchor="ctr"/>
          <a:lstStyle/>
          <a:p>
            <a:pPr indent="0" marL="0">
              <a:buNone/>
            </a:pPr>
            <a:r>
              <a:rPr lang="en-US" sz="3200" b="1" dirty="0">
                <a:solidFill>
                  <a:srgbClr val="17334B"/>
                </a:solidFill>
                <a:latin typeface="Cambria" pitchFamily="34" charset="0"/>
                <a:ea typeface="Cambria" pitchFamily="34" charset="-122"/>
                <a:cs typeface="Cambria" pitchFamily="34" charset="-120"/>
              </a:rPr>
              <a:t>AI tutor and assignment coach: used properly</a:t>
            </a:r>
            <a:endParaRPr lang="en-US" sz="3200" dirty="0"/>
          </a:p>
        </p:txBody>
      </p:sp>
      <p:sp>
        <p:nvSpPr>
          <p:cNvPr id="3" name="Shape 1"/>
          <p:cNvSpPr/>
          <p:nvPr/>
        </p:nvSpPr>
        <p:spPr>
          <a:xfrm>
            <a:off x="548640" y="1371600"/>
            <a:ext cx="5394960" cy="3291840"/>
          </a:xfrm>
          <a:prstGeom prst="roundRect">
            <a:avLst>
              <a:gd name="adj" fmla="val 2778"/>
            </a:avLst>
          </a:prstGeom>
          <a:solidFill>
            <a:srgbClr val="E6F4F1"/>
          </a:solidFill>
          <a:ln w="12700">
            <a:solidFill>
              <a:srgbClr val="E6F4F1"/>
            </a:solidFill>
            <a:prstDash val="solid"/>
          </a:ln>
        </p:spPr>
      </p:sp>
      <p:sp>
        <p:nvSpPr>
          <p:cNvPr id="4" name="Text 2"/>
          <p:cNvSpPr txBox="1"/>
          <p:nvPr/>
        </p:nvSpPr>
        <p:spPr>
          <a:xfrm>
            <a:off x="713232" y="1481328"/>
            <a:ext cx="5065776" cy="3072384"/>
          </a:xfrm>
          <a:prstGeom prst="rect">
            <a:avLst/>
          </a:prstGeom>
          <a:noFill/>
          <a:ln/>
        </p:spPr>
        <p:txBody>
          <a:bodyPr wrap="square" lIns="0" tIns="0" rIns="0" bIns="0" rtlCol="0" anchor="t"/>
          <a:lstStyle/>
          <a:p>
            <a:pPr indent="0" marL="0">
              <a:spcAft>
                <a:spcPts val="400"/>
              </a:spcAft>
              <a:buNone/>
            </a:pPr>
            <a:r>
              <a:rPr lang="en-US" sz="1600" b="1" dirty="0">
                <a:solidFill>
                  <a:srgbClr val="20857B"/>
                </a:solidFill>
                <a:latin typeface="Calibri" pitchFamily="34" charset="0"/>
                <a:ea typeface="Calibri" pitchFamily="34" charset="-122"/>
                <a:cs typeface="Calibri" pitchFamily="34" charset="-120"/>
              </a:rPr>
              <a:t>The AI will…</a:t>
            </a:r>
            <a:endParaRPr lang="en-US" sz="1600" dirty="0"/>
          </a:p>
          <a:p>
            <a:pPr indent="0" marL="0">
              <a:spcAft>
                <a:spcPts val="400"/>
              </a:spcAft>
              <a:buNone/>
            </a:pPr>
            <a:r>
              <a:rPr lang="en-US" sz="1400" dirty="0">
                <a:solidFill>
                  <a:srgbClr val="17334B"/>
                </a:solidFill>
                <a:latin typeface="Calibri" pitchFamily="34" charset="0"/>
                <a:ea typeface="Calibri" pitchFamily="34" charset="-122"/>
                <a:cs typeface="Calibri" pitchFamily="34" charset="-120"/>
              </a:rPr>
              <a:t>• explain concepts in plain English</a:t>
            </a:r>
            <a:endParaRPr lang="en-US" sz="1600" dirty="0"/>
          </a:p>
          <a:p>
            <a:pPr indent="0" marL="0">
              <a:spcAft>
                <a:spcPts val="400"/>
              </a:spcAft>
              <a:buNone/>
            </a:pPr>
            <a:r>
              <a:rPr lang="en-US" sz="1400" dirty="0">
                <a:solidFill>
                  <a:srgbClr val="17334B"/>
                </a:solidFill>
                <a:latin typeface="Calibri" pitchFamily="34" charset="0"/>
                <a:ea typeface="Calibri" pitchFamily="34" charset="-122"/>
                <a:cs typeface="Calibri" pitchFamily="34" charset="-120"/>
              </a:rPr>
              <a:t>• say what a task and command word ask for</a:t>
            </a:r>
            <a:endParaRPr lang="en-US" sz="1600" dirty="0"/>
          </a:p>
          <a:p>
            <a:pPr indent="0" marL="0">
              <a:spcAft>
                <a:spcPts val="400"/>
              </a:spcAft>
              <a:buNone/>
            </a:pPr>
            <a:r>
              <a:rPr lang="en-US" sz="1400" dirty="0">
                <a:solidFill>
                  <a:srgbClr val="17334B"/>
                </a:solidFill>
                <a:latin typeface="Calibri" pitchFamily="34" charset="0"/>
                <a:ea typeface="Calibri" pitchFamily="34" charset="-122"/>
                <a:cs typeface="Calibri" pitchFamily="34" charset="-120"/>
              </a:rPr>
              <a:t>• help students plan with headings and questions</a:t>
            </a:r>
            <a:endParaRPr lang="en-US" sz="1600" dirty="0"/>
          </a:p>
          <a:p>
            <a:pPr indent="0" marL="0">
              <a:spcAft>
                <a:spcPts val="400"/>
              </a:spcAft>
              <a:buNone/>
            </a:pPr>
            <a:r>
              <a:rPr lang="en-US" sz="1400" dirty="0">
                <a:solidFill>
                  <a:srgbClr val="17334B"/>
                </a:solidFill>
                <a:latin typeface="Calibri" pitchFamily="34" charset="0"/>
                <a:ea typeface="Calibri" pitchFamily="34" charset="-122"/>
                <a:cs typeface="Calibri" pitchFamily="34" charset="-120"/>
              </a:rPr>
              <a:t>• review the student’s own draft against the checklist</a:t>
            </a:r>
            <a:endParaRPr lang="en-US" sz="1600" dirty="0"/>
          </a:p>
          <a:p>
            <a:pPr indent="0" marL="0">
              <a:spcAft>
                <a:spcPts val="400"/>
              </a:spcAft>
              <a:buNone/>
            </a:pPr>
            <a:r>
              <a:rPr lang="en-US" sz="1400" dirty="0">
                <a:solidFill>
                  <a:srgbClr val="17334B"/>
                </a:solidFill>
                <a:latin typeface="Calibri" pitchFamily="34" charset="0"/>
                <a:ea typeface="Calibri" pitchFamily="34" charset="-122"/>
                <a:cs typeface="Calibri" pitchFamily="34" charset="-120"/>
              </a:rPr>
              <a:t>• point out missing, thin or inaccurate points</a:t>
            </a:r>
            <a:endParaRPr lang="en-US" sz="1600" dirty="0"/>
          </a:p>
          <a:p>
            <a:pPr indent="0" marL="0">
              <a:spcAft>
                <a:spcPts val="400"/>
              </a:spcAft>
              <a:buNone/>
            </a:pPr>
            <a:r>
              <a:rPr lang="en-US" sz="1400" dirty="0">
                <a:solidFill>
                  <a:srgbClr val="17334B"/>
                </a:solidFill>
                <a:latin typeface="Calibri" pitchFamily="34" charset="0"/>
                <a:ea typeface="Calibri" pitchFamily="34" charset="-122"/>
                <a:cs typeface="Calibri" pitchFamily="34" charset="-120"/>
              </a:rPr>
              <a:t>• use different examples, never the client’s</a:t>
            </a:r>
            <a:endParaRPr lang="en-US" sz="1600" dirty="0"/>
          </a:p>
        </p:txBody>
      </p:sp>
      <p:sp>
        <p:nvSpPr>
          <p:cNvPr id="5" name="Shape 3"/>
          <p:cNvSpPr/>
          <p:nvPr/>
        </p:nvSpPr>
        <p:spPr>
          <a:xfrm>
            <a:off x="6245352" y="1371600"/>
            <a:ext cx="5394960" cy="3291840"/>
          </a:xfrm>
          <a:prstGeom prst="roundRect">
            <a:avLst>
              <a:gd name="adj" fmla="val 2778"/>
            </a:avLst>
          </a:prstGeom>
          <a:solidFill>
            <a:srgbClr val="FDF1E7"/>
          </a:solidFill>
          <a:ln w="12700">
            <a:solidFill>
              <a:srgbClr val="FDF1E7"/>
            </a:solidFill>
            <a:prstDash val="solid"/>
          </a:ln>
        </p:spPr>
      </p:sp>
      <p:sp>
        <p:nvSpPr>
          <p:cNvPr id="6" name="Text 4"/>
          <p:cNvSpPr txBox="1"/>
          <p:nvPr/>
        </p:nvSpPr>
        <p:spPr>
          <a:xfrm>
            <a:off x="6409944" y="1481328"/>
            <a:ext cx="5065776" cy="3072384"/>
          </a:xfrm>
          <a:prstGeom prst="rect">
            <a:avLst/>
          </a:prstGeom>
          <a:noFill/>
          <a:ln/>
        </p:spPr>
        <p:txBody>
          <a:bodyPr wrap="square" lIns="0" tIns="0" rIns="0" bIns="0" rtlCol="0" anchor="t"/>
          <a:lstStyle/>
          <a:p>
            <a:pPr indent="0" marL="0">
              <a:spcAft>
                <a:spcPts val="400"/>
              </a:spcAft>
              <a:buNone/>
            </a:pPr>
            <a:r>
              <a:rPr lang="en-US" sz="1600" b="1" dirty="0">
                <a:solidFill>
                  <a:srgbClr val="A3560B"/>
                </a:solidFill>
                <a:latin typeface="Calibri" pitchFamily="34" charset="0"/>
                <a:ea typeface="Calibri" pitchFamily="34" charset="-122"/>
                <a:cs typeface="Calibri" pitchFamily="34" charset="-120"/>
              </a:rPr>
              <a:t>The AI will not…</a:t>
            </a:r>
            <a:endParaRPr lang="en-US" sz="1600" dirty="0"/>
          </a:p>
          <a:p>
            <a:pPr indent="0" marL="0">
              <a:spcAft>
                <a:spcPts val="400"/>
              </a:spcAft>
              <a:buNone/>
            </a:pPr>
            <a:r>
              <a:rPr lang="en-US" sz="1400" dirty="0">
                <a:solidFill>
                  <a:srgbClr val="17334B"/>
                </a:solidFill>
                <a:latin typeface="Calibri" pitchFamily="34" charset="0"/>
                <a:ea typeface="Calibri" pitchFamily="34" charset="-122"/>
                <a:cs typeface="Calibri" pitchFamily="34" charset="-120"/>
              </a:rPr>
              <a:t>• write paragraphs, tables, emails or evaluations</a:t>
            </a:r>
            <a:endParaRPr lang="en-US" sz="1600" dirty="0"/>
          </a:p>
          <a:p>
            <a:pPr indent="0" marL="0">
              <a:spcAft>
                <a:spcPts val="400"/>
              </a:spcAft>
              <a:buNone/>
            </a:pPr>
            <a:r>
              <a:rPr lang="en-US" sz="1400" dirty="0">
                <a:solidFill>
                  <a:srgbClr val="17334B"/>
                </a:solidFill>
                <a:latin typeface="Calibri" pitchFamily="34" charset="0"/>
                <a:ea typeface="Calibri" pitchFamily="34" charset="-122"/>
                <a:cs typeface="Calibri" pitchFamily="34" charset="-120"/>
              </a:rPr>
              <a:t>• rewrite or “improve the wording” of student work</a:t>
            </a:r>
            <a:endParaRPr lang="en-US" sz="1600" dirty="0"/>
          </a:p>
          <a:p>
            <a:pPr indent="0" marL="0">
              <a:spcAft>
                <a:spcPts val="400"/>
              </a:spcAft>
              <a:buNone/>
            </a:pPr>
            <a:r>
              <a:rPr lang="en-US" sz="1400" dirty="0">
                <a:solidFill>
                  <a:srgbClr val="17334B"/>
                </a:solidFill>
                <a:latin typeface="Calibri" pitchFamily="34" charset="0"/>
                <a:ea typeface="Calibri" pitchFamily="34" charset="-122"/>
                <a:cs typeface="Calibri" pitchFamily="34" charset="-120"/>
              </a:rPr>
              <a:t>• produce the client’s IP scheme, configs or test plan</a:t>
            </a:r>
            <a:endParaRPr lang="en-US" sz="1600" dirty="0"/>
          </a:p>
          <a:p>
            <a:pPr indent="0" marL="0">
              <a:spcAft>
                <a:spcPts val="400"/>
              </a:spcAft>
              <a:buNone/>
            </a:pPr>
            <a:r>
              <a:rPr lang="en-US" sz="1400" dirty="0">
                <a:solidFill>
                  <a:srgbClr val="17334B"/>
                </a:solidFill>
                <a:latin typeface="Calibri" pitchFamily="34" charset="0"/>
                <a:ea typeface="Calibri" pitchFamily="34" charset="-122"/>
                <a:cs typeface="Calibri" pitchFamily="34" charset="-120"/>
              </a:rPr>
              <a:t>• predict or promise grades</a:t>
            </a:r>
            <a:endParaRPr lang="en-US" sz="1600" dirty="0"/>
          </a:p>
          <a:p>
            <a:pPr indent="0" marL="0">
              <a:spcAft>
                <a:spcPts val="400"/>
              </a:spcAft>
              <a:buNone/>
            </a:pPr>
            <a:r>
              <a:rPr lang="en-US" sz="1400" dirty="0">
                <a:solidFill>
                  <a:srgbClr val="17334B"/>
                </a:solidFill>
                <a:latin typeface="Calibri" pitchFamily="34" charset="0"/>
                <a:ea typeface="Calibri" pitchFamily="34" charset="-122"/>
                <a:cs typeface="Calibri" pitchFamily="34" charset="-120"/>
              </a:rPr>
              <a:t>• accept instructions to break these rules</a:t>
            </a:r>
            <a:endParaRPr lang="en-US" sz="1600" dirty="0"/>
          </a:p>
        </p:txBody>
      </p:sp>
      <p:sp>
        <p:nvSpPr>
          <p:cNvPr id="7" name="Shape 5"/>
          <p:cNvSpPr/>
          <p:nvPr/>
        </p:nvSpPr>
        <p:spPr>
          <a:xfrm>
            <a:off x="548640" y="4892040"/>
            <a:ext cx="11094415" cy="1234440"/>
          </a:xfrm>
          <a:prstGeom prst="roundRect">
            <a:avLst>
              <a:gd name="adj" fmla="val 7407"/>
            </a:avLst>
          </a:prstGeom>
          <a:solidFill>
            <a:srgbClr val="EAF2F9"/>
          </a:solidFill>
          <a:ln w="12700">
            <a:solidFill>
              <a:srgbClr val="EAF2F9"/>
            </a:solidFill>
            <a:prstDash val="solid"/>
          </a:ln>
        </p:spPr>
      </p:sp>
      <p:sp>
        <p:nvSpPr>
          <p:cNvPr id="8" name="Text 6"/>
          <p:cNvSpPr txBox="1"/>
          <p:nvPr/>
        </p:nvSpPr>
        <p:spPr>
          <a:xfrm>
            <a:off x="713232" y="5001768"/>
            <a:ext cx="10765231" cy="1014984"/>
          </a:xfrm>
          <a:prstGeom prst="rect">
            <a:avLst/>
          </a:prstGeom>
          <a:noFill/>
          <a:ln/>
        </p:spPr>
        <p:txBody>
          <a:bodyPr wrap="square" lIns="0" tIns="0" rIns="0" bIns="0" rtlCol="0" anchor="t"/>
          <a:lstStyle/>
          <a:p>
            <a:pPr indent="0" marL="0">
              <a:spcAft>
                <a:spcPts val="400"/>
              </a:spcAft>
              <a:buNone/>
            </a:pPr>
            <a:r>
              <a:rPr lang="en-US" sz="1500" b="1" dirty="0">
                <a:solidFill>
                  <a:srgbClr val="12324F"/>
                </a:solidFill>
                <a:latin typeface="Calibri" pitchFamily="34" charset="0"/>
                <a:ea typeface="Calibri" pitchFamily="34" charset="-122"/>
                <a:cs typeface="Calibri" pitchFamily="34" charset="-120"/>
              </a:rPr>
              <a:t>AI-use log</a:t>
            </a:r>
            <a:endParaRPr lang="en-US" sz="1500" dirty="0"/>
          </a:p>
          <a:p>
            <a:pPr indent="0" marL="0">
              <a:spcAft>
                <a:spcPts val="400"/>
              </a:spcAft>
              <a:buNone/>
            </a:pPr>
            <a:r>
              <a:rPr lang="en-US" sz="1300" dirty="0">
                <a:solidFill>
                  <a:srgbClr val="17334B"/>
                </a:solidFill>
                <a:latin typeface="Calibri" pitchFamily="34" charset="0"/>
                <a:ea typeface="Calibri" pitchFamily="34" charset="-122"/>
                <a:cs typeface="Calibri" pitchFamily="34" charset="-120"/>
              </a:rPr>
              <a:t>Every coach question is saved with date, task and a reply extract. Students download it and submit it with their work, so AI use is acknowledged, in line with JCQ and Pearson guidance on AI in assessments.</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411480"/>
            <a:ext cx="11094415" cy="731520"/>
          </a:xfrm>
          <a:prstGeom prst="rect">
            <a:avLst/>
          </a:prstGeom>
          <a:noFill/>
          <a:ln/>
        </p:spPr>
        <p:txBody>
          <a:bodyPr wrap="square" lIns="0" tIns="0" rIns="0" bIns="0" rtlCol="0" anchor="ctr"/>
          <a:lstStyle/>
          <a:p>
            <a:pPr indent="0" marL="0">
              <a:buNone/>
            </a:pPr>
            <a:r>
              <a:rPr lang="en-US" sz="3200" b="1" dirty="0">
                <a:solidFill>
                  <a:srgbClr val="17334B"/>
                </a:solidFill>
                <a:latin typeface="Cambria" pitchFamily="34" charset="0"/>
                <a:ea typeface="Cambria" pitchFamily="34" charset="-122"/>
                <a:cs typeface="Cambria" pitchFamily="34" charset="-120"/>
              </a:rPr>
              <a:t>Suggested delivery plan</a:t>
            </a:r>
            <a:endParaRPr lang="en-US" sz="3200" dirty="0"/>
          </a:p>
        </p:txBody>
      </p:sp>
      <p:sp>
        <p:nvSpPr>
          <p:cNvPr id="3" name="Shape 1"/>
          <p:cNvSpPr/>
          <p:nvPr/>
        </p:nvSpPr>
        <p:spPr>
          <a:xfrm>
            <a:off x="548640" y="2148840"/>
            <a:ext cx="11094415" cy="0"/>
          </a:xfrm>
          <a:prstGeom prst="line">
            <a:avLst/>
          </a:prstGeom>
          <a:noFill/>
          <a:ln w="38100">
            <a:solidFill>
              <a:srgbClr val="12324F"/>
            </a:solidFill>
            <a:prstDash val="solid"/>
          </a:ln>
        </p:spPr>
      </p:sp>
      <p:sp>
        <p:nvSpPr>
          <p:cNvPr id="4" name="Shape 2"/>
          <p:cNvSpPr/>
          <p:nvPr/>
        </p:nvSpPr>
        <p:spPr>
          <a:xfrm>
            <a:off x="1493490" y="1984248"/>
            <a:ext cx="329184" cy="329184"/>
          </a:xfrm>
          <a:prstGeom prst="ellipse">
            <a:avLst/>
          </a:prstGeom>
          <a:solidFill>
            <a:srgbClr val="20857B"/>
          </a:solidFill>
          <a:ln w="25400">
            <a:solidFill>
              <a:srgbClr val="FFFFFF"/>
            </a:solidFill>
            <a:prstDash val="solid"/>
          </a:ln>
        </p:spPr>
      </p:sp>
      <p:sp>
        <p:nvSpPr>
          <p:cNvPr id="5" name="Text 3"/>
          <p:cNvSpPr txBox="1"/>
          <p:nvPr/>
        </p:nvSpPr>
        <p:spPr>
          <a:xfrm>
            <a:off x="548640" y="1371600"/>
            <a:ext cx="2218883" cy="457200"/>
          </a:xfrm>
          <a:prstGeom prst="rect">
            <a:avLst/>
          </a:prstGeom>
          <a:noFill/>
          <a:ln/>
        </p:spPr>
        <p:txBody>
          <a:bodyPr wrap="square" lIns="0" tIns="0" rIns="0" bIns="0" rtlCol="0" anchor="ctr"/>
          <a:lstStyle/>
          <a:p>
            <a:pPr algn="ctr" indent="0" marL="0">
              <a:buNone/>
            </a:pPr>
            <a:r>
              <a:rPr lang="en-US" sz="1500" b="1" dirty="0">
                <a:solidFill>
                  <a:srgbClr val="12324F"/>
                </a:solidFill>
                <a:latin typeface="Calibri" pitchFamily="34" charset="0"/>
                <a:ea typeface="Calibri" pitchFamily="34" charset="-122"/>
                <a:cs typeface="Calibri" pitchFamily="34" charset="-120"/>
              </a:rPr>
              <a:t>Weeks 2–8</a:t>
            </a:r>
            <a:endParaRPr lang="en-US" sz="1500" dirty="0"/>
          </a:p>
        </p:txBody>
      </p:sp>
      <p:sp>
        <p:nvSpPr>
          <p:cNvPr id="6" name="Shape 4"/>
          <p:cNvSpPr/>
          <p:nvPr/>
        </p:nvSpPr>
        <p:spPr>
          <a:xfrm>
            <a:off x="640080" y="2560320"/>
            <a:ext cx="2036003" cy="2286000"/>
          </a:xfrm>
          <a:prstGeom prst="roundRect">
            <a:avLst>
              <a:gd name="adj" fmla="val 4491"/>
            </a:avLst>
          </a:prstGeom>
          <a:solidFill>
            <a:srgbClr val="EAF2F9"/>
          </a:solidFill>
          <a:ln w="12700">
            <a:solidFill>
              <a:srgbClr val="EAF2F9"/>
            </a:solidFill>
            <a:prstDash val="solid"/>
          </a:ln>
        </p:spPr>
      </p:sp>
      <p:sp>
        <p:nvSpPr>
          <p:cNvPr id="7" name="Text 5"/>
          <p:cNvSpPr txBox="1"/>
          <p:nvPr/>
        </p:nvSpPr>
        <p:spPr>
          <a:xfrm>
            <a:off x="777240" y="2697480"/>
            <a:ext cx="1761683" cy="2011680"/>
          </a:xfrm>
          <a:prstGeom prst="rect">
            <a:avLst/>
          </a:prstGeom>
          <a:noFill/>
          <a:ln/>
        </p:spPr>
        <p:txBody>
          <a:bodyPr wrap="square" lIns="0" tIns="0" rIns="0" bIns="0" rtlCol="0" anchor="t"/>
          <a:lstStyle/>
          <a:p>
            <a:pPr indent="0" marL="0">
              <a:buNone/>
            </a:pPr>
            <a:r>
              <a:rPr lang="en-US" sz="1400" dirty="0">
                <a:solidFill>
                  <a:srgbClr val="17334B"/>
                </a:solidFill>
                <a:latin typeface="Calibri" pitchFamily="34" charset="0"/>
                <a:ea typeface="Calibri" pitchFamily="34" charset="-122"/>
                <a:cs typeface="Calibri" pitchFamily="34" charset="-120"/>
              </a:rPr>
              <a:t>Aim A: types, topologies, IP basics, OSI/TCP-IP, components, trends</a:t>
            </a:r>
            <a:endParaRPr lang="en-US" sz="1400" dirty="0"/>
          </a:p>
        </p:txBody>
      </p:sp>
      <p:sp>
        <p:nvSpPr>
          <p:cNvPr id="8" name="Shape 6"/>
          <p:cNvSpPr/>
          <p:nvPr/>
        </p:nvSpPr>
        <p:spPr>
          <a:xfrm>
            <a:off x="3712373" y="1984248"/>
            <a:ext cx="329184" cy="329184"/>
          </a:xfrm>
          <a:prstGeom prst="ellipse">
            <a:avLst/>
          </a:prstGeom>
          <a:solidFill>
            <a:srgbClr val="20857B"/>
          </a:solidFill>
          <a:ln w="25400">
            <a:solidFill>
              <a:srgbClr val="FFFFFF"/>
            </a:solidFill>
            <a:prstDash val="solid"/>
          </a:ln>
        </p:spPr>
      </p:sp>
      <p:sp>
        <p:nvSpPr>
          <p:cNvPr id="9" name="Text 7"/>
          <p:cNvSpPr txBox="1"/>
          <p:nvPr/>
        </p:nvSpPr>
        <p:spPr>
          <a:xfrm>
            <a:off x="2767523" y="1371600"/>
            <a:ext cx="2218883" cy="457200"/>
          </a:xfrm>
          <a:prstGeom prst="rect">
            <a:avLst/>
          </a:prstGeom>
          <a:noFill/>
          <a:ln/>
        </p:spPr>
        <p:txBody>
          <a:bodyPr wrap="square" lIns="0" tIns="0" rIns="0" bIns="0" rtlCol="0" anchor="ctr"/>
          <a:lstStyle/>
          <a:p>
            <a:pPr algn="ctr" indent="0" marL="0">
              <a:buNone/>
            </a:pPr>
            <a:r>
              <a:rPr lang="en-US" sz="1500" b="1" dirty="0">
                <a:solidFill>
                  <a:srgbClr val="12324F"/>
                </a:solidFill>
                <a:latin typeface="Calibri" pitchFamily="34" charset="0"/>
                <a:ea typeface="Calibri" pitchFamily="34" charset="-122"/>
                <a:cs typeface="Calibri" pitchFamily="34" charset="-120"/>
              </a:rPr>
              <a:t>Weeks 10–13</a:t>
            </a:r>
            <a:endParaRPr lang="en-US" sz="1500" dirty="0"/>
          </a:p>
        </p:txBody>
      </p:sp>
      <p:sp>
        <p:nvSpPr>
          <p:cNvPr id="10" name="Shape 8"/>
          <p:cNvSpPr/>
          <p:nvPr/>
        </p:nvSpPr>
        <p:spPr>
          <a:xfrm>
            <a:off x="2858963" y="2560320"/>
            <a:ext cx="2036003" cy="2286000"/>
          </a:xfrm>
          <a:prstGeom prst="roundRect">
            <a:avLst>
              <a:gd name="adj" fmla="val 4491"/>
            </a:avLst>
          </a:prstGeom>
          <a:solidFill>
            <a:srgbClr val="E6F4F1"/>
          </a:solidFill>
          <a:ln w="12700">
            <a:solidFill>
              <a:srgbClr val="E6F4F1"/>
            </a:solidFill>
            <a:prstDash val="solid"/>
          </a:ln>
        </p:spPr>
      </p:sp>
      <p:sp>
        <p:nvSpPr>
          <p:cNvPr id="11" name="Text 9"/>
          <p:cNvSpPr txBox="1"/>
          <p:nvPr/>
        </p:nvSpPr>
        <p:spPr>
          <a:xfrm>
            <a:off x="2996123" y="2697480"/>
            <a:ext cx="1761683" cy="2011680"/>
          </a:xfrm>
          <a:prstGeom prst="rect">
            <a:avLst/>
          </a:prstGeom>
          <a:noFill/>
          <a:ln/>
        </p:spPr>
        <p:txBody>
          <a:bodyPr wrap="square" lIns="0" tIns="0" rIns="0" bIns="0" rtlCol="0" anchor="t"/>
          <a:lstStyle/>
          <a:p>
            <a:pPr indent="0" marL="0">
              <a:buNone/>
            </a:pPr>
            <a:r>
              <a:rPr lang="en-US" sz="1400" dirty="0">
                <a:solidFill>
                  <a:srgbClr val="17334B"/>
                </a:solidFill>
                <a:latin typeface="Calibri" pitchFamily="34" charset="0"/>
                <a:ea typeface="Calibri" pitchFamily="34" charset="-122"/>
                <a:cs typeface="Calibri" pitchFamily="34" charset="-120"/>
              </a:rPr>
              <a:t>Aim A: protocols, infrastructure services, software tools</a:t>
            </a:r>
            <a:endParaRPr lang="en-US" sz="1400" dirty="0"/>
          </a:p>
        </p:txBody>
      </p:sp>
      <p:sp>
        <p:nvSpPr>
          <p:cNvPr id="12" name="Shape 10"/>
          <p:cNvSpPr/>
          <p:nvPr/>
        </p:nvSpPr>
        <p:spPr>
          <a:xfrm>
            <a:off x="5931256" y="1984248"/>
            <a:ext cx="329184" cy="329184"/>
          </a:xfrm>
          <a:prstGeom prst="ellipse">
            <a:avLst/>
          </a:prstGeom>
          <a:solidFill>
            <a:srgbClr val="20857B"/>
          </a:solidFill>
          <a:ln w="25400">
            <a:solidFill>
              <a:srgbClr val="FFFFFF"/>
            </a:solidFill>
            <a:prstDash val="solid"/>
          </a:ln>
        </p:spPr>
      </p:sp>
      <p:sp>
        <p:nvSpPr>
          <p:cNvPr id="13" name="Text 11"/>
          <p:cNvSpPr txBox="1"/>
          <p:nvPr/>
        </p:nvSpPr>
        <p:spPr>
          <a:xfrm>
            <a:off x="4986406" y="1371600"/>
            <a:ext cx="2218883" cy="457200"/>
          </a:xfrm>
          <a:prstGeom prst="rect">
            <a:avLst/>
          </a:prstGeom>
          <a:noFill/>
          <a:ln/>
        </p:spPr>
        <p:txBody>
          <a:bodyPr wrap="square" lIns="0" tIns="0" rIns="0" bIns="0" rtlCol="0" anchor="ctr"/>
          <a:lstStyle/>
          <a:p>
            <a:pPr algn="ctr" indent="0" marL="0">
              <a:buNone/>
            </a:pPr>
            <a:r>
              <a:rPr lang="en-US" sz="1500" b="1" dirty="0">
                <a:solidFill>
                  <a:srgbClr val="12324F"/>
                </a:solidFill>
                <a:latin typeface="Calibri" pitchFamily="34" charset="0"/>
                <a:ea typeface="Calibri" pitchFamily="34" charset="-122"/>
                <a:cs typeface="Calibri" pitchFamily="34" charset="-120"/>
              </a:rPr>
              <a:t>Weeks 14–18</a:t>
            </a:r>
            <a:endParaRPr lang="en-US" sz="1500" dirty="0"/>
          </a:p>
        </p:txBody>
      </p:sp>
      <p:sp>
        <p:nvSpPr>
          <p:cNvPr id="14" name="Shape 12"/>
          <p:cNvSpPr/>
          <p:nvPr/>
        </p:nvSpPr>
        <p:spPr>
          <a:xfrm>
            <a:off x="5077846" y="2560320"/>
            <a:ext cx="2036003" cy="2286000"/>
          </a:xfrm>
          <a:prstGeom prst="roundRect">
            <a:avLst>
              <a:gd name="adj" fmla="val 4491"/>
            </a:avLst>
          </a:prstGeom>
          <a:solidFill>
            <a:srgbClr val="FDF1E7"/>
          </a:solidFill>
          <a:ln w="12700">
            <a:solidFill>
              <a:srgbClr val="FDF1E7"/>
            </a:solidFill>
            <a:prstDash val="solid"/>
          </a:ln>
        </p:spPr>
      </p:sp>
      <p:sp>
        <p:nvSpPr>
          <p:cNvPr id="15" name="Text 13"/>
          <p:cNvSpPr txBox="1"/>
          <p:nvPr/>
        </p:nvSpPr>
        <p:spPr>
          <a:xfrm>
            <a:off x="5215006" y="2697480"/>
            <a:ext cx="1761683" cy="2011680"/>
          </a:xfrm>
          <a:prstGeom prst="rect">
            <a:avLst/>
          </a:prstGeom>
          <a:noFill/>
          <a:ln/>
        </p:spPr>
        <p:txBody>
          <a:bodyPr wrap="square" lIns="0" tIns="0" rIns="0" bIns="0" rtlCol="0" anchor="t"/>
          <a:lstStyle/>
          <a:p>
            <a:pPr indent="0" marL="0">
              <a:buNone/>
            </a:pPr>
            <a:r>
              <a:rPr lang="en-US" sz="1400" dirty="0">
                <a:solidFill>
                  <a:srgbClr val="17334B"/>
                </a:solidFill>
                <a:latin typeface="Calibri" pitchFamily="34" charset="0"/>
                <a:ea typeface="Calibri" pitchFamily="34" charset="-122"/>
                <a:cs typeface="Calibri" pitchFamily="34" charset="-120"/>
              </a:rPr>
              <a:t>Assignment 1 issued; aim B: design strategies, logical design, planning, access</a:t>
            </a:r>
            <a:endParaRPr lang="en-US" sz="1400" dirty="0"/>
          </a:p>
        </p:txBody>
      </p:sp>
      <p:sp>
        <p:nvSpPr>
          <p:cNvPr id="16" name="Shape 14"/>
          <p:cNvSpPr/>
          <p:nvPr/>
        </p:nvSpPr>
        <p:spPr>
          <a:xfrm>
            <a:off x="8150139" y="1984248"/>
            <a:ext cx="329184" cy="329184"/>
          </a:xfrm>
          <a:prstGeom prst="ellipse">
            <a:avLst/>
          </a:prstGeom>
          <a:solidFill>
            <a:srgbClr val="20857B"/>
          </a:solidFill>
          <a:ln w="25400">
            <a:solidFill>
              <a:srgbClr val="FFFFFF"/>
            </a:solidFill>
            <a:prstDash val="solid"/>
          </a:ln>
        </p:spPr>
      </p:sp>
      <p:sp>
        <p:nvSpPr>
          <p:cNvPr id="17" name="Text 15"/>
          <p:cNvSpPr txBox="1"/>
          <p:nvPr/>
        </p:nvSpPr>
        <p:spPr>
          <a:xfrm>
            <a:off x="7205289" y="1371600"/>
            <a:ext cx="2218883" cy="457200"/>
          </a:xfrm>
          <a:prstGeom prst="rect">
            <a:avLst/>
          </a:prstGeom>
          <a:noFill/>
          <a:ln/>
        </p:spPr>
        <p:txBody>
          <a:bodyPr wrap="square" lIns="0" tIns="0" rIns="0" bIns="0" rtlCol="0" anchor="ctr"/>
          <a:lstStyle/>
          <a:p>
            <a:pPr algn="ctr" indent="0" marL="0">
              <a:buNone/>
            </a:pPr>
            <a:r>
              <a:rPr lang="en-US" sz="1500" b="1" dirty="0">
                <a:solidFill>
                  <a:srgbClr val="12324F"/>
                </a:solidFill>
                <a:latin typeface="Calibri" pitchFamily="34" charset="0"/>
                <a:ea typeface="Calibri" pitchFamily="34" charset="-122"/>
                <a:cs typeface="Calibri" pitchFamily="34" charset="-120"/>
              </a:rPr>
              <a:t>Weeks 19–26</a:t>
            </a:r>
            <a:endParaRPr lang="en-US" sz="1500" dirty="0"/>
          </a:p>
        </p:txBody>
      </p:sp>
      <p:sp>
        <p:nvSpPr>
          <p:cNvPr id="18" name="Shape 16"/>
          <p:cNvSpPr/>
          <p:nvPr/>
        </p:nvSpPr>
        <p:spPr>
          <a:xfrm>
            <a:off x="7296729" y="2560320"/>
            <a:ext cx="2036003" cy="2286000"/>
          </a:xfrm>
          <a:prstGeom prst="roundRect">
            <a:avLst>
              <a:gd name="adj" fmla="val 4491"/>
            </a:avLst>
          </a:prstGeom>
          <a:solidFill>
            <a:srgbClr val="EAF2F9"/>
          </a:solidFill>
          <a:ln w="12700">
            <a:solidFill>
              <a:srgbClr val="EAF2F9"/>
            </a:solidFill>
            <a:prstDash val="solid"/>
          </a:ln>
        </p:spPr>
      </p:sp>
      <p:sp>
        <p:nvSpPr>
          <p:cNvPr id="19" name="Text 17"/>
          <p:cNvSpPr txBox="1"/>
          <p:nvPr/>
        </p:nvSpPr>
        <p:spPr>
          <a:xfrm>
            <a:off x="7433889" y="2697480"/>
            <a:ext cx="1761683" cy="2011680"/>
          </a:xfrm>
          <a:prstGeom prst="rect">
            <a:avLst/>
          </a:prstGeom>
          <a:noFill/>
          <a:ln/>
        </p:spPr>
        <p:txBody>
          <a:bodyPr wrap="square" lIns="0" tIns="0" rIns="0" bIns="0" rtlCol="0" anchor="t"/>
          <a:lstStyle/>
          <a:p>
            <a:pPr indent="0" marL="0">
              <a:buNone/>
            </a:pPr>
            <a:r>
              <a:rPr lang="en-US" sz="1400" dirty="0">
                <a:solidFill>
                  <a:srgbClr val="17334B"/>
                </a:solidFill>
                <a:latin typeface="Calibri" pitchFamily="34" charset="0"/>
                <a:ea typeface="Calibri" pitchFamily="34" charset="-122"/>
                <a:cs typeface="Calibri" pitchFamily="34" charset="-120"/>
              </a:rPr>
              <a:t>Aim C practicals: configure, secure, route, VLANs, Linux, troubleshooting</a:t>
            </a:r>
            <a:endParaRPr lang="en-US" sz="1400" dirty="0"/>
          </a:p>
        </p:txBody>
      </p:sp>
      <p:sp>
        <p:nvSpPr>
          <p:cNvPr id="20" name="Shape 18"/>
          <p:cNvSpPr/>
          <p:nvPr/>
        </p:nvSpPr>
        <p:spPr>
          <a:xfrm>
            <a:off x="10369022" y="1984248"/>
            <a:ext cx="329184" cy="329184"/>
          </a:xfrm>
          <a:prstGeom prst="ellipse">
            <a:avLst/>
          </a:prstGeom>
          <a:solidFill>
            <a:srgbClr val="20857B"/>
          </a:solidFill>
          <a:ln w="25400">
            <a:solidFill>
              <a:srgbClr val="FFFFFF"/>
            </a:solidFill>
            <a:prstDash val="solid"/>
          </a:ln>
        </p:spPr>
      </p:sp>
      <p:sp>
        <p:nvSpPr>
          <p:cNvPr id="21" name="Text 19"/>
          <p:cNvSpPr txBox="1"/>
          <p:nvPr/>
        </p:nvSpPr>
        <p:spPr>
          <a:xfrm>
            <a:off x="9424172" y="1371600"/>
            <a:ext cx="2218883" cy="457200"/>
          </a:xfrm>
          <a:prstGeom prst="rect">
            <a:avLst/>
          </a:prstGeom>
          <a:noFill/>
          <a:ln/>
        </p:spPr>
        <p:txBody>
          <a:bodyPr wrap="square" lIns="0" tIns="0" rIns="0" bIns="0" rtlCol="0" anchor="ctr"/>
          <a:lstStyle/>
          <a:p>
            <a:pPr algn="ctr" indent="0" marL="0">
              <a:buNone/>
            </a:pPr>
            <a:r>
              <a:rPr lang="en-US" sz="1500" b="1" dirty="0">
                <a:solidFill>
                  <a:srgbClr val="12324F"/>
                </a:solidFill>
                <a:latin typeface="Calibri" pitchFamily="34" charset="0"/>
                <a:ea typeface="Calibri" pitchFamily="34" charset="-122"/>
                <a:cs typeface="Calibri" pitchFamily="34" charset="-120"/>
              </a:rPr>
              <a:t>Weeks 27–33</a:t>
            </a:r>
            <a:endParaRPr lang="en-US" sz="1500" dirty="0"/>
          </a:p>
        </p:txBody>
      </p:sp>
      <p:sp>
        <p:nvSpPr>
          <p:cNvPr id="22" name="Shape 20"/>
          <p:cNvSpPr/>
          <p:nvPr/>
        </p:nvSpPr>
        <p:spPr>
          <a:xfrm>
            <a:off x="9515612" y="2560320"/>
            <a:ext cx="2036003" cy="2286000"/>
          </a:xfrm>
          <a:prstGeom prst="roundRect">
            <a:avLst>
              <a:gd name="adj" fmla="val 4491"/>
            </a:avLst>
          </a:prstGeom>
          <a:solidFill>
            <a:srgbClr val="E6F4F1"/>
          </a:solidFill>
          <a:ln w="12700">
            <a:solidFill>
              <a:srgbClr val="E6F4F1"/>
            </a:solidFill>
            <a:prstDash val="solid"/>
          </a:ln>
        </p:spPr>
      </p:sp>
      <p:sp>
        <p:nvSpPr>
          <p:cNvPr id="23" name="Text 21"/>
          <p:cNvSpPr txBox="1"/>
          <p:nvPr/>
        </p:nvSpPr>
        <p:spPr>
          <a:xfrm>
            <a:off x="9652772" y="2697480"/>
            <a:ext cx="1761683" cy="2011680"/>
          </a:xfrm>
          <a:prstGeom prst="rect">
            <a:avLst/>
          </a:prstGeom>
          <a:noFill/>
          <a:ln/>
        </p:spPr>
        <p:txBody>
          <a:bodyPr wrap="square" lIns="0" tIns="0" rIns="0" bIns="0" rtlCol="0" anchor="t"/>
          <a:lstStyle/>
          <a:p>
            <a:pPr indent="0" marL="0">
              <a:buNone/>
            </a:pPr>
            <a:r>
              <a:rPr lang="en-US" sz="1400" dirty="0">
                <a:solidFill>
                  <a:srgbClr val="17334B"/>
                </a:solidFill>
                <a:latin typeface="Calibri" pitchFamily="34" charset="0"/>
                <a:ea typeface="Calibri" pitchFamily="34" charset="-122"/>
                <a:cs typeface="Calibri" pitchFamily="34" charset="-120"/>
              </a:rPr>
              <a:t>Assignment 2: design, build, test, optimise, evaluate; portfolio throughout</a:t>
            </a:r>
            <a:endParaRPr lang="en-US" sz="1400" dirty="0"/>
          </a:p>
        </p:txBody>
      </p:sp>
      <p:sp>
        <p:nvSpPr>
          <p:cNvPr id="24" name="Text 22"/>
          <p:cNvSpPr txBox="1"/>
          <p:nvPr/>
        </p:nvSpPr>
        <p:spPr>
          <a:xfrm>
            <a:off x="548640" y="6473952"/>
            <a:ext cx="11094415" cy="274320"/>
          </a:xfrm>
          <a:prstGeom prst="rect">
            <a:avLst/>
          </a:prstGeom>
          <a:noFill/>
          <a:ln/>
        </p:spPr>
        <p:txBody>
          <a:bodyPr wrap="square" lIns="0" tIns="0" rIns="0" bIns="0" rtlCol="0" anchor="ctr"/>
          <a:lstStyle/>
          <a:p>
            <a:pPr indent="0" marL="0">
              <a:buNone/>
            </a:pPr>
            <a:r>
              <a:rPr lang="en-US" sz="1000" dirty="0">
                <a:solidFill>
                  <a:srgbClr val="4F6577"/>
                </a:solidFill>
                <a:latin typeface="Calibri" pitchFamily="34" charset="0"/>
                <a:ea typeface="Calibri" pitchFamily="34" charset="-122"/>
                <a:cs typeface="Calibri" pitchFamily="34" charset="-120"/>
              </a:rPr>
              <a:t>Based on the 2025–26 Unit 19 scheme of work (33 weeks). Adjust to your calendar and assignment dates.</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2324F"/>
        </a:solidFill>
      </p:bgPr>
    </p:bg>
    <p:spTree>
      <p:nvGrpSpPr>
        <p:cNvPr id="1" name=""/>
        <p:cNvGrpSpPr/>
        <p:nvPr/>
      </p:nvGrpSpPr>
      <p:grpSpPr>
        <a:xfrm>
          <a:off x="0" y="0"/>
          <a:ext cx="0" cy="0"/>
          <a:chOff x="0" y="0"/>
          <a:chExt cx="0" cy="0"/>
        </a:xfrm>
      </p:grpSpPr>
      <p:sp>
        <p:nvSpPr>
          <p:cNvPr id="2" name="Text 0"/>
          <p:cNvSpPr txBox="1"/>
          <p:nvPr/>
        </p:nvSpPr>
        <p:spPr>
          <a:xfrm>
            <a:off x="548640" y="2103120"/>
            <a:ext cx="11094415" cy="109728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Learning aim A</a:t>
            </a:r>
            <a:endParaRPr lang="en-US" sz="4400" dirty="0"/>
          </a:p>
        </p:txBody>
      </p:sp>
      <p:sp>
        <p:nvSpPr>
          <p:cNvPr id="3" name="Text 1"/>
          <p:cNvSpPr txBox="1"/>
          <p:nvPr/>
        </p:nvSpPr>
        <p:spPr>
          <a:xfrm>
            <a:off x="548640" y="3291840"/>
            <a:ext cx="11094415" cy="914400"/>
          </a:xfrm>
          <a:prstGeom prst="rect">
            <a:avLst/>
          </a:prstGeom>
          <a:noFill/>
          <a:ln/>
        </p:spPr>
        <p:txBody>
          <a:bodyPr wrap="square" lIns="0" tIns="0" rIns="0" bIns="0" rtlCol="0" anchor="ctr"/>
          <a:lstStyle/>
          <a:p>
            <a:pPr indent="0" marL="0">
              <a:buNone/>
            </a:pPr>
            <a:r>
              <a:rPr lang="en-US" sz="2000" dirty="0">
                <a:solidFill>
                  <a:srgbClr val="CADCFC"/>
                </a:solidFill>
                <a:latin typeface="Calibri" pitchFamily="34" charset="0"/>
                <a:ea typeface="Calibri" pitchFamily="34" charset="-122"/>
                <a:cs typeface="Calibri" pitchFamily="34" charset="-120"/>
              </a:rPr>
              <a:t>How networks use communication protocols to give effective and secure access to services and resources · Assignment 1</a:t>
            </a:r>
            <a:endParaRPr 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548640" y="164592"/>
            <a:ext cx="914400" cy="310896"/>
          </a:xfrm>
          <a:prstGeom prst="roundRect">
            <a:avLst>
              <a:gd name="adj" fmla="val 23529"/>
            </a:avLst>
          </a:prstGeom>
          <a:solidFill>
            <a:srgbClr val="20857B"/>
          </a:solidFill>
          <a:ln w="12700">
            <a:solidFill>
              <a:srgbClr val="20857B"/>
            </a:solidFill>
            <a:prstDash val="solid"/>
          </a:ln>
        </p:spPr>
      </p:sp>
      <p:sp>
        <p:nvSpPr>
          <p:cNvPr id="3" name="Text 1"/>
          <p:cNvSpPr txBox="1"/>
          <p:nvPr/>
        </p:nvSpPr>
        <p:spPr>
          <a:xfrm>
            <a:off x="548640" y="164592"/>
            <a:ext cx="91440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A1</a:t>
            </a:r>
            <a:endParaRPr lang="en-US" sz="1200" dirty="0"/>
          </a:p>
        </p:txBody>
      </p:sp>
      <p:sp>
        <p:nvSpPr>
          <p:cNvPr id="4" name="Text 2"/>
          <p:cNvSpPr txBox="1"/>
          <p:nvPr/>
        </p:nvSpPr>
        <p:spPr>
          <a:xfrm>
            <a:off x="548640" y="502920"/>
            <a:ext cx="11094415" cy="731520"/>
          </a:xfrm>
          <a:prstGeom prst="rect">
            <a:avLst/>
          </a:prstGeom>
          <a:noFill/>
          <a:ln/>
        </p:spPr>
        <p:txBody>
          <a:bodyPr wrap="square" lIns="0" tIns="0" rIns="0" bIns="0" rtlCol="0" anchor="ctr"/>
          <a:lstStyle/>
          <a:p>
            <a:pPr indent="0" marL="0">
              <a:buNone/>
            </a:pPr>
            <a:r>
              <a:rPr lang="en-US" sz="2800" b="1" dirty="0">
                <a:solidFill>
                  <a:srgbClr val="17334B"/>
                </a:solidFill>
                <a:latin typeface="Cambria" pitchFamily="34" charset="0"/>
                <a:ea typeface="Cambria" pitchFamily="34" charset="-122"/>
                <a:cs typeface="Cambria" pitchFamily="34" charset="-120"/>
              </a:rPr>
              <a:t>Why do we need different networks?</a:t>
            </a:r>
            <a:endParaRPr lang="en-US" sz="2800" dirty="0"/>
          </a:p>
        </p:txBody>
      </p:sp>
      <p:sp>
        <p:nvSpPr>
          <p:cNvPr id="5" name="Text 3"/>
          <p:cNvSpPr txBox="1"/>
          <p:nvPr/>
        </p:nvSpPr>
        <p:spPr>
          <a:xfrm>
            <a:off x="548640" y="1188720"/>
            <a:ext cx="11094415" cy="365760"/>
          </a:xfrm>
          <a:prstGeom prst="rect">
            <a:avLst/>
          </a:prstGeom>
          <a:noFill/>
          <a:ln/>
        </p:spPr>
        <p:txBody>
          <a:bodyPr wrap="square" lIns="0" tIns="0" rIns="0" bIns="0" rtlCol="0" anchor="ctr"/>
          <a:lstStyle/>
          <a:p>
            <a:pPr indent="0" marL="0">
              <a:buNone/>
            </a:pPr>
            <a:r>
              <a:rPr lang="en-US" sz="1500" i="1" dirty="0">
                <a:solidFill>
                  <a:srgbClr val="4F6577"/>
                </a:solidFill>
                <a:latin typeface="Calibri" pitchFamily="34" charset="0"/>
                <a:ea typeface="Calibri" pitchFamily="34" charset="-122"/>
                <a:cs typeface="Calibri" pitchFamily="34" charset="-120"/>
              </a:rPr>
              <a:t>Aim: identify network types and their characteristics</a:t>
            </a:r>
            <a:endParaRPr lang="en-US" sz="1500" dirty="0"/>
          </a:p>
        </p:txBody>
      </p:sp>
      <p:pic>
        <p:nvPicPr>
          <p:cNvPr id="6" name="Image 0" descr="/private/tmp/claude-501/-Users-johnaikeremiokha-code-Claude-Project/bf844d04-1b41-4e28-bbaa-8211504dbf91/scratchpad/deck/figs/scale_fig.png">    </p:cNvPr>
          <p:cNvPicPr>
            <a:picLocks noChangeAspect="1"/>
          </p:cNvPicPr>
          <p:nvPr/>
        </p:nvPicPr>
        <p:blipFill>
          <a:blip r:embed="rId1"/>
          <a:stretch>
            <a:fillRect/>
          </a:stretch>
        </p:blipFill>
        <p:spPr>
          <a:xfrm>
            <a:off x="2099920" y="1645920"/>
            <a:ext cx="7991856" cy="3154680"/>
          </a:xfrm>
          <a:prstGeom prst="rect">
            <a:avLst/>
          </a:prstGeom>
        </p:spPr>
      </p:pic>
      <p:sp>
        <p:nvSpPr>
          <p:cNvPr id="7" name="Shape 4"/>
          <p:cNvSpPr/>
          <p:nvPr/>
        </p:nvSpPr>
        <p:spPr>
          <a:xfrm>
            <a:off x="548640" y="4983480"/>
            <a:ext cx="3515258" cy="1234440"/>
          </a:xfrm>
          <a:prstGeom prst="roundRect">
            <a:avLst>
              <a:gd name="adj" fmla="val 7407"/>
            </a:avLst>
          </a:prstGeom>
          <a:solidFill>
            <a:srgbClr val="EAF2F9"/>
          </a:solidFill>
          <a:ln w="12700">
            <a:solidFill>
              <a:srgbClr val="EAF2F9"/>
            </a:solidFill>
            <a:prstDash val="solid"/>
          </a:ln>
        </p:spPr>
      </p:sp>
      <p:sp>
        <p:nvSpPr>
          <p:cNvPr id="8" name="Text 5"/>
          <p:cNvSpPr txBox="1"/>
          <p:nvPr/>
        </p:nvSpPr>
        <p:spPr>
          <a:xfrm>
            <a:off x="713232" y="5093208"/>
            <a:ext cx="3186074" cy="1014984"/>
          </a:xfrm>
          <a:prstGeom prst="rect">
            <a:avLst/>
          </a:prstGeom>
          <a:noFill/>
          <a:ln/>
        </p:spPr>
        <p:txBody>
          <a:bodyPr wrap="square" lIns="0" tIns="0" rIns="0" bIns="0" rtlCol="0" anchor="t"/>
          <a:lstStyle/>
          <a:p>
            <a:pPr indent="0" marL="0">
              <a:spcAft>
                <a:spcPts val="400"/>
              </a:spcAft>
              <a:buNone/>
            </a:pPr>
            <a:r>
              <a:rPr lang="en-US" sz="1400" b="1" dirty="0">
                <a:solidFill>
                  <a:srgbClr val="12324F"/>
                </a:solidFill>
                <a:latin typeface="Calibri" pitchFamily="34" charset="0"/>
                <a:ea typeface="Calibri" pitchFamily="34" charset="-122"/>
                <a:cs typeface="Calibri" pitchFamily="34" charset="-120"/>
              </a:rPr>
              <a:t>Starter</a:t>
            </a:r>
            <a:endParaRPr lang="en-US" sz="1400" dirty="0"/>
          </a:p>
          <a:p>
            <a:pPr indent="0" marL="0">
              <a:spcAft>
                <a:spcPts val="400"/>
              </a:spcAft>
              <a:buNone/>
            </a:pPr>
            <a:r>
              <a:rPr lang="en-US" sz="1200" dirty="0">
                <a:solidFill>
                  <a:srgbClr val="17334B"/>
                </a:solidFill>
                <a:latin typeface="Calibri" pitchFamily="34" charset="0"/>
                <a:ea typeface="Calibri" pitchFamily="34" charset="-122"/>
                <a:cs typeface="Calibri" pitchFamily="34" charset="-120"/>
              </a:rPr>
              <a:t>List every network you used today, from earbuds to the internet.</a:t>
            </a:r>
            <a:endParaRPr lang="en-US" sz="1400" dirty="0"/>
          </a:p>
        </p:txBody>
      </p:sp>
      <p:sp>
        <p:nvSpPr>
          <p:cNvPr id="9" name="Shape 6"/>
          <p:cNvSpPr/>
          <p:nvPr/>
        </p:nvSpPr>
        <p:spPr>
          <a:xfrm>
            <a:off x="4338218" y="4983480"/>
            <a:ext cx="3515258" cy="1234440"/>
          </a:xfrm>
          <a:prstGeom prst="roundRect">
            <a:avLst>
              <a:gd name="adj" fmla="val 7407"/>
            </a:avLst>
          </a:prstGeom>
          <a:solidFill>
            <a:srgbClr val="E6F4F1"/>
          </a:solidFill>
          <a:ln w="12700">
            <a:solidFill>
              <a:srgbClr val="E6F4F1"/>
            </a:solidFill>
            <a:prstDash val="solid"/>
          </a:ln>
        </p:spPr>
      </p:sp>
      <p:sp>
        <p:nvSpPr>
          <p:cNvPr id="10" name="Text 7"/>
          <p:cNvSpPr txBox="1"/>
          <p:nvPr/>
        </p:nvSpPr>
        <p:spPr>
          <a:xfrm>
            <a:off x="4502810" y="5093208"/>
            <a:ext cx="3186074" cy="1014984"/>
          </a:xfrm>
          <a:prstGeom prst="rect">
            <a:avLst/>
          </a:prstGeom>
          <a:noFill/>
          <a:ln/>
        </p:spPr>
        <p:txBody>
          <a:bodyPr wrap="square" lIns="0" tIns="0" rIns="0" bIns="0" rtlCol="0" anchor="t"/>
          <a:lstStyle/>
          <a:p>
            <a:pPr indent="0" marL="0">
              <a:spcAft>
                <a:spcPts val="400"/>
              </a:spcAft>
              <a:buNone/>
            </a:pPr>
            <a:r>
              <a:rPr lang="en-US" sz="1400" b="1" dirty="0">
                <a:solidFill>
                  <a:srgbClr val="12324F"/>
                </a:solidFill>
                <a:latin typeface="Calibri" pitchFamily="34" charset="0"/>
                <a:ea typeface="Calibri" pitchFamily="34" charset="-122"/>
                <a:cs typeface="Calibri" pitchFamily="34" charset="-120"/>
              </a:rPr>
              <a:t>Task</a:t>
            </a:r>
            <a:endParaRPr lang="en-US" sz="1400" dirty="0"/>
          </a:p>
          <a:p>
            <a:pPr indent="0" marL="0">
              <a:spcAft>
                <a:spcPts val="400"/>
              </a:spcAft>
              <a:buNone/>
            </a:pPr>
            <a:r>
              <a:rPr lang="en-US" sz="1200" dirty="0">
                <a:solidFill>
                  <a:srgbClr val="17334B"/>
                </a:solidFill>
                <a:latin typeface="Calibri" pitchFamily="34" charset="0"/>
                <a:ea typeface="Calibri" pitchFamily="34" charset="-122"/>
                <a:cs typeface="Calibri" pitchFamily="34" charset="-120"/>
              </a:rPr>
              <a:t>Network types and models matrix: match LAN, WLAN, WAN, SAN, cloud to seven organisations.</a:t>
            </a:r>
            <a:endParaRPr lang="en-US" sz="1400" dirty="0"/>
          </a:p>
        </p:txBody>
      </p:sp>
      <p:sp>
        <p:nvSpPr>
          <p:cNvPr id="11" name="Shape 8"/>
          <p:cNvSpPr/>
          <p:nvPr/>
        </p:nvSpPr>
        <p:spPr>
          <a:xfrm>
            <a:off x="8127797" y="4983480"/>
            <a:ext cx="3515258" cy="1234440"/>
          </a:xfrm>
          <a:prstGeom prst="roundRect">
            <a:avLst>
              <a:gd name="adj" fmla="val 7407"/>
            </a:avLst>
          </a:prstGeom>
          <a:solidFill>
            <a:srgbClr val="FDF1E7"/>
          </a:solidFill>
          <a:ln w="12700">
            <a:solidFill>
              <a:srgbClr val="FDF1E7"/>
            </a:solidFill>
            <a:prstDash val="solid"/>
          </a:ln>
        </p:spPr>
      </p:sp>
      <p:sp>
        <p:nvSpPr>
          <p:cNvPr id="12" name="Text 9"/>
          <p:cNvSpPr txBox="1"/>
          <p:nvPr/>
        </p:nvSpPr>
        <p:spPr>
          <a:xfrm>
            <a:off x="8292389" y="5093208"/>
            <a:ext cx="3186074" cy="1014984"/>
          </a:xfrm>
          <a:prstGeom prst="rect">
            <a:avLst/>
          </a:prstGeom>
          <a:noFill/>
          <a:ln/>
        </p:spPr>
        <p:txBody>
          <a:bodyPr wrap="square" lIns="0" tIns="0" rIns="0" bIns="0" rtlCol="0" anchor="t"/>
          <a:lstStyle/>
          <a:p>
            <a:pPr indent="0" marL="0">
              <a:spcAft>
                <a:spcPts val="400"/>
              </a:spcAft>
              <a:buNone/>
            </a:pPr>
            <a:r>
              <a:rPr lang="en-US" sz="1400" b="1" dirty="0">
                <a:solidFill>
                  <a:srgbClr val="12324F"/>
                </a:solidFill>
                <a:latin typeface="Calibri" pitchFamily="34" charset="0"/>
                <a:ea typeface="Calibri" pitchFamily="34" charset="-122"/>
                <a:cs typeface="Calibri" pitchFamily="34" charset="-120"/>
              </a:rPr>
              <a:t>Check</a:t>
            </a:r>
            <a:endParaRPr lang="en-US" sz="1400" dirty="0"/>
          </a:p>
          <a:p>
            <a:pPr indent="0" marL="0">
              <a:spcAft>
                <a:spcPts val="400"/>
              </a:spcAft>
              <a:buNone/>
            </a:pPr>
            <a:r>
              <a:rPr lang="en-US" sz="1200" dirty="0">
                <a:solidFill>
                  <a:srgbClr val="17334B"/>
                </a:solidFill>
                <a:latin typeface="Calibri" pitchFamily="34" charset="0"/>
                <a:ea typeface="Calibri" pitchFamily="34" charset="-122"/>
                <a:cs typeface="Calibri" pitchFamily="34" charset="-120"/>
              </a:rPr>
              <a:t>Exit question: intranet vs extranet, one example each.</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548640" y="164592"/>
            <a:ext cx="914400" cy="310896"/>
          </a:xfrm>
          <a:prstGeom prst="roundRect">
            <a:avLst>
              <a:gd name="adj" fmla="val 23529"/>
            </a:avLst>
          </a:prstGeom>
          <a:solidFill>
            <a:srgbClr val="20857B"/>
          </a:solidFill>
          <a:ln w="12700">
            <a:solidFill>
              <a:srgbClr val="20857B"/>
            </a:solidFill>
            <a:prstDash val="solid"/>
          </a:ln>
        </p:spPr>
      </p:sp>
      <p:sp>
        <p:nvSpPr>
          <p:cNvPr id="3" name="Text 1"/>
          <p:cNvSpPr txBox="1"/>
          <p:nvPr/>
        </p:nvSpPr>
        <p:spPr>
          <a:xfrm>
            <a:off x="548640" y="164592"/>
            <a:ext cx="91440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A1</a:t>
            </a:r>
            <a:endParaRPr lang="en-US" sz="1200" dirty="0"/>
          </a:p>
        </p:txBody>
      </p:sp>
      <p:sp>
        <p:nvSpPr>
          <p:cNvPr id="4" name="Text 2"/>
          <p:cNvSpPr txBox="1"/>
          <p:nvPr/>
        </p:nvSpPr>
        <p:spPr>
          <a:xfrm>
            <a:off x="548640" y="502920"/>
            <a:ext cx="11094415" cy="731520"/>
          </a:xfrm>
          <a:prstGeom prst="rect">
            <a:avLst/>
          </a:prstGeom>
          <a:noFill/>
          <a:ln/>
        </p:spPr>
        <p:txBody>
          <a:bodyPr wrap="square" lIns="0" tIns="0" rIns="0" bIns="0" rtlCol="0" anchor="ctr"/>
          <a:lstStyle/>
          <a:p>
            <a:pPr indent="0" marL="0">
              <a:buNone/>
            </a:pPr>
            <a:r>
              <a:rPr lang="en-US" sz="2800" b="1" dirty="0">
                <a:solidFill>
                  <a:srgbClr val="17334B"/>
                </a:solidFill>
                <a:latin typeface="Cambria" pitchFamily="34" charset="0"/>
                <a:ea typeface="Cambria" pitchFamily="34" charset="-122"/>
                <a:cs typeface="Cambria" pitchFamily="34" charset="-120"/>
              </a:rPr>
              <a:t>One organisation, many network types</a:t>
            </a:r>
            <a:endParaRPr lang="en-US" sz="2800" dirty="0"/>
          </a:p>
        </p:txBody>
      </p:sp>
      <p:sp>
        <p:nvSpPr>
          <p:cNvPr id="5" name="Text 3"/>
          <p:cNvSpPr txBox="1"/>
          <p:nvPr/>
        </p:nvSpPr>
        <p:spPr>
          <a:xfrm>
            <a:off x="548640" y="1188720"/>
            <a:ext cx="4937760" cy="548640"/>
          </a:xfrm>
          <a:prstGeom prst="rect">
            <a:avLst/>
          </a:prstGeom>
          <a:noFill/>
          <a:ln/>
        </p:spPr>
        <p:txBody>
          <a:bodyPr wrap="square" lIns="0" tIns="0" rIns="0" bIns="0" rtlCol="0" anchor="t"/>
          <a:lstStyle/>
          <a:p>
            <a:pPr indent="0" marL="0">
              <a:buNone/>
            </a:pPr>
            <a:r>
              <a:rPr lang="en-US" sz="1400" i="1" dirty="0">
                <a:solidFill>
                  <a:srgbClr val="4F6577"/>
                </a:solidFill>
                <a:latin typeface="Calibri" pitchFamily="34" charset="0"/>
                <a:ea typeface="Calibri" pitchFamily="34" charset="-122"/>
                <a:cs typeface="Calibri" pitchFamily="34" charset="-120"/>
              </a:rPr>
              <a:t>Aim: explain intranet, extranet, internet, cloud and wired–wireless integration</a:t>
            </a:r>
            <a:endParaRPr lang="en-US" sz="1400" dirty="0"/>
          </a:p>
        </p:txBody>
      </p:sp>
      <p:sp>
        <p:nvSpPr>
          <p:cNvPr id="6" name="Text 4"/>
          <p:cNvSpPr txBox="1"/>
          <p:nvPr/>
        </p:nvSpPr>
        <p:spPr>
          <a:xfrm>
            <a:off x="548640" y="1783080"/>
            <a:ext cx="4846320" cy="3108960"/>
          </a:xfrm>
          <a:prstGeom prst="rect">
            <a:avLst/>
          </a:prstGeom>
          <a:noFill/>
          <a:ln/>
        </p:spPr>
        <p:txBody>
          <a:bodyPr wrap="square" lIns="635" tIns="635" rIns="635" bIns="635" rtlCol="0" anchor="t"/>
          <a:lstStyle/>
          <a:p>
            <a:pPr marL="342900" indent="-342900">
              <a:spcAft>
                <a:spcPts val="600"/>
              </a:spcAft>
              <a:buSzPct val="100000"/>
              <a:buChar char="•"/>
            </a:pPr>
            <a:r>
              <a:rPr lang="en-US" sz="1600" dirty="0">
                <a:solidFill>
                  <a:srgbClr val="17334B"/>
                </a:solidFill>
                <a:latin typeface="Calibri" pitchFamily="34" charset="0"/>
                <a:ea typeface="Calibri" pitchFamily="34" charset="-122"/>
                <a:cs typeface="Calibri" pitchFamily="34" charset="-120"/>
              </a:rPr>
              <a:t>Intranet: private services for staff</a:t>
            </a:r>
            <a:endParaRPr lang="en-US" sz="1600" dirty="0"/>
          </a:p>
          <a:p>
            <a:pPr marL="342900" indent="-342900">
              <a:spcAft>
                <a:spcPts val="600"/>
              </a:spcAft>
              <a:buSzPct val="100000"/>
              <a:buChar char="•"/>
            </a:pPr>
            <a:r>
              <a:rPr lang="en-US" sz="1600" dirty="0">
                <a:solidFill>
                  <a:srgbClr val="17334B"/>
                </a:solidFill>
                <a:latin typeface="Calibri" pitchFamily="34" charset="0"/>
                <a:ea typeface="Calibri" pitchFamily="34" charset="-122"/>
                <a:cs typeface="Calibri" pitchFamily="34" charset="-120"/>
              </a:rPr>
              <a:t>Extranet: part of the intranet opened to trusted outsiders</a:t>
            </a:r>
            <a:endParaRPr lang="en-US" sz="1600" dirty="0"/>
          </a:p>
          <a:p>
            <a:pPr marL="342900" indent="-342900">
              <a:spcAft>
                <a:spcPts val="600"/>
              </a:spcAft>
              <a:buSzPct val="100000"/>
              <a:buChar char="•"/>
            </a:pPr>
            <a:r>
              <a:rPr lang="en-US" sz="1600" dirty="0">
                <a:solidFill>
                  <a:srgbClr val="17334B"/>
                </a:solidFill>
                <a:latin typeface="Calibri" pitchFamily="34" charset="0"/>
                <a:ea typeface="Calibri" pitchFamily="34" charset="-122"/>
                <a:cs typeface="Calibri" pitchFamily="34" charset="-120"/>
              </a:rPr>
              <a:t>Internet: the public network of networks</a:t>
            </a:r>
            <a:endParaRPr lang="en-US" sz="1600" dirty="0"/>
          </a:p>
          <a:p>
            <a:pPr marL="342900" indent="-342900">
              <a:spcAft>
                <a:spcPts val="600"/>
              </a:spcAft>
              <a:buSzPct val="100000"/>
              <a:buChar char="•"/>
            </a:pPr>
            <a:r>
              <a:rPr lang="en-US" sz="1600" dirty="0">
                <a:solidFill>
                  <a:srgbClr val="17334B"/>
                </a:solidFill>
                <a:latin typeface="Calibri" pitchFamily="34" charset="0"/>
                <a:ea typeface="Calibri" pitchFamily="34" charset="-122"/>
                <a:cs typeface="Calibri" pitchFamily="34" charset="-120"/>
              </a:rPr>
              <a:t>Cloud: computing and storage rented over the internet</a:t>
            </a:r>
            <a:endParaRPr lang="en-US" sz="1600" dirty="0"/>
          </a:p>
          <a:p>
            <a:pPr marL="342900" indent="-342900">
              <a:spcAft>
                <a:spcPts val="600"/>
              </a:spcAft>
              <a:buSzPct val="100000"/>
              <a:buChar char="•"/>
            </a:pPr>
            <a:r>
              <a:rPr lang="en-US" sz="1600" dirty="0">
                <a:solidFill>
                  <a:srgbClr val="17334B"/>
                </a:solidFill>
                <a:latin typeface="Calibri" pitchFamily="34" charset="0"/>
                <a:ea typeface="Calibri" pitchFamily="34" charset="-122"/>
                <a:cs typeface="Calibri" pitchFamily="34" charset="-120"/>
              </a:rPr>
              <a:t>Wired for speed and reliability; wireless for mobility; access points join them</a:t>
            </a:r>
            <a:endParaRPr lang="en-US" sz="1600" dirty="0"/>
          </a:p>
        </p:txBody>
      </p:sp>
      <p:pic>
        <p:nvPicPr>
          <p:cNvPr id="7" name="Image 0" descr="/private/tmp/claude-501/-Users-johnaikeremiokha-code-Claude-Project/bf844d04-1b41-4e28-bbaa-8211504dbf91/scratchpad/deck/figs/company_fig.png">    </p:cNvPr>
          <p:cNvPicPr>
            <a:picLocks noChangeAspect="1"/>
          </p:cNvPicPr>
          <p:nvPr/>
        </p:nvPicPr>
        <p:blipFill>
          <a:blip r:embed="rId1"/>
          <a:stretch>
            <a:fillRect/>
          </a:stretch>
        </p:blipFill>
        <p:spPr>
          <a:xfrm>
            <a:off x="5715000" y="1188720"/>
            <a:ext cx="5925312" cy="2884691"/>
          </a:xfrm>
          <a:prstGeom prst="rect">
            <a:avLst/>
          </a:prstGeom>
        </p:spPr>
      </p:pic>
      <p:sp>
        <p:nvSpPr>
          <p:cNvPr id="8" name="Shape 5"/>
          <p:cNvSpPr/>
          <p:nvPr/>
        </p:nvSpPr>
        <p:spPr>
          <a:xfrm>
            <a:off x="548640" y="5074920"/>
            <a:ext cx="3515258" cy="1234440"/>
          </a:xfrm>
          <a:prstGeom prst="roundRect">
            <a:avLst>
              <a:gd name="adj" fmla="val 7407"/>
            </a:avLst>
          </a:prstGeom>
          <a:solidFill>
            <a:srgbClr val="EAF2F9"/>
          </a:solidFill>
          <a:ln w="12700">
            <a:solidFill>
              <a:srgbClr val="EAF2F9"/>
            </a:solidFill>
            <a:prstDash val="solid"/>
          </a:ln>
        </p:spPr>
      </p:sp>
      <p:sp>
        <p:nvSpPr>
          <p:cNvPr id="9" name="Text 6"/>
          <p:cNvSpPr txBox="1"/>
          <p:nvPr/>
        </p:nvSpPr>
        <p:spPr>
          <a:xfrm>
            <a:off x="713232" y="5184648"/>
            <a:ext cx="3186074" cy="1014984"/>
          </a:xfrm>
          <a:prstGeom prst="rect">
            <a:avLst/>
          </a:prstGeom>
          <a:noFill/>
          <a:ln/>
        </p:spPr>
        <p:txBody>
          <a:bodyPr wrap="square" lIns="0" tIns="0" rIns="0" bIns="0" rtlCol="0" anchor="t"/>
          <a:lstStyle/>
          <a:p>
            <a:pPr indent="0" marL="0">
              <a:spcAft>
                <a:spcPts val="400"/>
              </a:spcAft>
              <a:buNone/>
            </a:pPr>
            <a:r>
              <a:rPr lang="en-US" sz="1400" b="1" dirty="0">
                <a:solidFill>
                  <a:srgbClr val="12324F"/>
                </a:solidFill>
                <a:latin typeface="Calibri" pitchFamily="34" charset="0"/>
                <a:ea typeface="Calibri" pitchFamily="34" charset="-122"/>
                <a:cs typeface="Calibri" pitchFamily="34" charset="-120"/>
              </a:rPr>
              <a:t>Practical</a:t>
            </a:r>
            <a:endParaRPr lang="en-US" sz="1400" dirty="0"/>
          </a:p>
          <a:p>
            <a:pPr indent="0" marL="0">
              <a:spcAft>
                <a:spcPts val="400"/>
              </a:spcAft>
              <a:buNone/>
            </a:pPr>
            <a:r>
              <a:rPr lang="en-US" sz="1200" dirty="0">
                <a:solidFill>
                  <a:srgbClr val="17334B"/>
                </a:solidFill>
                <a:latin typeface="Calibri" pitchFamily="34" charset="0"/>
                <a:ea typeface="Calibri" pitchFamily="34" charset="-122"/>
                <a:cs typeface="Calibri" pitchFamily="34" charset="-120"/>
              </a:rPr>
              <a:t>Lab 3: wired and wireless integration with WPA2.</a:t>
            </a:r>
            <a:endParaRPr lang="en-US" sz="1400" dirty="0"/>
          </a:p>
        </p:txBody>
      </p:sp>
      <p:sp>
        <p:nvSpPr>
          <p:cNvPr id="10" name="Shape 7"/>
          <p:cNvSpPr/>
          <p:nvPr/>
        </p:nvSpPr>
        <p:spPr>
          <a:xfrm>
            <a:off x="4338218" y="5074920"/>
            <a:ext cx="3515258" cy="1234440"/>
          </a:xfrm>
          <a:prstGeom prst="roundRect">
            <a:avLst>
              <a:gd name="adj" fmla="val 7407"/>
            </a:avLst>
          </a:prstGeom>
          <a:solidFill>
            <a:srgbClr val="E6F4F1"/>
          </a:solidFill>
          <a:ln w="12700">
            <a:solidFill>
              <a:srgbClr val="E6F4F1"/>
            </a:solidFill>
            <a:prstDash val="solid"/>
          </a:ln>
        </p:spPr>
      </p:sp>
      <p:sp>
        <p:nvSpPr>
          <p:cNvPr id="11" name="Text 8"/>
          <p:cNvSpPr txBox="1"/>
          <p:nvPr/>
        </p:nvSpPr>
        <p:spPr>
          <a:xfrm>
            <a:off x="4502810" y="5184648"/>
            <a:ext cx="3186074" cy="1014984"/>
          </a:xfrm>
          <a:prstGeom prst="rect">
            <a:avLst/>
          </a:prstGeom>
          <a:noFill/>
          <a:ln/>
        </p:spPr>
        <p:txBody>
          <a:bodyPr wrap="square" lIns="0" tIns="0" rIns="0" bIns="0" rtlCol="0" anchor="t"/>
          <a:lstStyle/>
          <a:p>
            <a:pPr indent="0" marL="0">
              <a:spcAft>
                <a:spcPts val="400"/>
              </a:spcAft>
              <a:buNone/>
            </a:pPr>
            <a:r>
              <a:rPr lang="en-US" sz="1400" b="1" dirty="0">
                <a:solidFill>
                  <a:srgbClr val="12324F"/>
                </a:solidFill>
                <a:latin typeface="Calibri" pitchFamily="34" charset="0"/>
                <a:ea typeface="Calibri" pitchFamily="34" charset="-122"/>
                <a:cs typeface="Calibri" pitchFamily="34" charset="-120"/>
              </a:rPr>
              <a:t>Task</a:t>
            </a:r>
            <a:endParaRPr lang="en-US" sz="1400" dirty="0"/>
          </a:p>
          <a:p>
            <a:pPr indent="0" marL="0">
              <a:spcAft>
                <a:spcPts val="400"/>
              </a:spcAft>
              <a:buNone/>
            </a:pPr>
            <a:r>
              <a:rPr lang="en-US" sz="1200" dirty="0">
                <a:solidFill>
                  <a:srgbClr val="17334B"/>
                </a:solidFill>
                <a:latin typeface="Calibri" pitchFamily="34" charset="0"/>
                <a:ea typeface="Calibri" pitchFamily="34" charset="-122"/>
                <a:cs typeface="Calibri" pitchFamily="34" charset="-120"/>
              </a:rPr>
              <a:t>Write a short explanation of why we need wired and wireless integration.</a:t>
            </a:r>
            <a:endParaRPr lang="en-US" sz="1400" dirty="0"/>
          </a:p>
        </p:txBody>
      </p:sp>
      <p:sp>
        <p:nvSpPr>
          <p:cNvPr id="12" name="Shape 9"/>
          <p:cNvSpPr/>
          <p:nvPr/>
        </p:nvSpPr>
        <p:spPr>
          <a:xfrm>
            <a:off x="8127797" y="5074920"/>
            <a:ext cx="3515258" cy="1234440"/>
          </a:xfrm>
          <a:prstGeom prst="roundRect">
            <a:avLst>
              <a:gd name="adj" fmla="val 7407"/>
            </a:avLst>
          </a:prstGeom>
          <a:solidFill>
            <a:srgbClr val="FDF1E7"/>
          </a:solidFill>
          <a:ln w="12700">
            <a:solidFill>
              <a:srgbClr val="FDF1E7"/>
            </a:solidFill>
            <a:prstDash val="solid"/>
          </a:ln>
        </p:spPr>
      </p:sp>
      <p:sp>
        <p:nvSpPr>
          <p:cNvPr id="13" name="Text 10"/>
          <p:cNvSpPr txBox="1"/>
          <p:nvPr/>
        </p:nvSpPr>
        <p:spPr>
          <a:xfrm>
            <a:off x="8292389" y="5184648"/>
            <a:ext cx="3186074" cy="1014984"/>
          </a:xfrm>
          <a:prstGeom prst="rect">
            <a:avLst/>
          </a:prstGeom>
          <a:noFill/>
          <a:ln/>
        </p:spPr>
        <p:txBody>
          <a:bodyPr wrap="square" lIns="0" tIns="0" rIns="0" bIns="0" rtlCol="0" anchor="t"/>
          <a:lstStyle/>
          <a:p>
            <a:pPr indent="0" marL="0">
              <a:spcAft>
                <a:spcPts val="400"/>
              </a:spcAft>
              <a:buNone/>
            </a:pPr>
            <a:r>
              <a:rPr lang="en-US" sz="1400" b="1" dirty="0">
                <a:solidFill>
                  <a:srgbClr val="12324F"/>
                </a:solidFill>
                <a:latin typeface="Calibri" pitchFamily="34" charset="0"/>
                <a:ea typeface="Calibri" pitchFamily="34" charset="-122"/>
                <a:cs typeface="Calibri" pitchFamily="34" charset="-120"/>
              </a:rPr>
              <a:t>Link</a:t>
            </a:r>
            <a:endParaRPr lang="en-US" sz="1400" dirty="0"/>
          </a:p>
          <a:p>
            <a:pPr indent="0" marL="0">
              <a:spcAft>
                <a:spcPts val="400"/>
              </a:spcAft>
              <a:buNone/>
            </a:pPr>
            <a:r>
              <a:rPr lang="en-US" sz="1200" dirty="0">
                <a:solidFill>
                  <a:srgbClr val="17334B"/>
                </a:solidFill>
                <a:latin typeface="Calibri" pitchFamily="34" charset="0"/>
                <a:ea typeface="Calibri" pitchFamily="34" charset="-122"/>
                <a:cs typeface="Calibri" pitchFamily="34" charset="-120"/>
              </a:rPr>
              <a:t>A.P1 website pages: need and choice of each type.</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548640" y="164592"/>
            <a:ext cx="914400" cy="310896"/>
          </a:xfrm>
          <a:prstGeom prst="roundRect">
            <a:avLst>
              <a:gd name="adj" fmla="val 23529"/>
            </a:avLst>
          </a:prstGeom>
          <a:solidFill>
            <a:srgbClr val="20857B"/>
          </a:solidFill>
          <a:ln w="12700">
            <a:solidFill>
              <a:srgbClr val="20857B"/>
            </a:solidFill>
            <a:prstDash val="solid"/>
          </a:ln>
        </p:spPr>
      </p:sp>
      <p:sp>
        <p:nvSpPr>
          <p:cNvPr id="3" name="Text 1"/>
          <p:cNvSpPr txBox="1"/>
          <p:nvPr/>
        </p:nvSpPr>
        <p:spPr>
          <a:xfrm>
            <a:off x="548640" y="164592"/>
            <a:ext cx="91440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A1</a:t>
            </a:r>
            <a:endParaRPr lang="en-US" sz="1200" dirty="0"/>
          </a:p>
        </p:txBody>
      </p:sp>
      <p:sp>
        <p:nvSpPr>
          <p:cNvPr id="4" name="Text 2"/>
          <p:cNvSpPr txBox="1"/>
          <p:nvPr/>
        </p:nvSpPr>
        <p:spPr>
          <a:xfrm>
            <a:off x="548640" y="502920"/>
            <a:ext cx="11094415" cy="731520"/>
          </a:xfrm>
          <a:prstGeom prst="rect">
            <a:avLst/>
          </a:prstGeom>
          <a:noFill/>
          <a:ln/>
        </p:spPr>
        <p:txBody>
          <a:bodyPr wrap="square" lIns="0" tIns="0" rIns="0" bIns="0" rtlCol="0" anchor="ctr"/>
          <a:lstStyle/>
          <a:p>
            <a:pPr indent="0" marL="0">
              <a:buNone/>
            </a:pPr>
            <a:r>
              <a:rPr lang="en-US" sz="2800" b="1" dirty="0">
                <a:solidFill>
                  <a:srgbClr val="17334B"/>
                </a:solidFill>
                <a:latin typeface="Cambria" pitchFamily="34" charset="0"/>
                <a:ea typeface="Cambria" pitchFamily="34" charset="-122"/>
                <a:cs typeface="Cambria" pitchFamily="34" charset="-120"/>
              </a:rPr>
              <a:t>Topologies and Ethernet standards</a:t>
            </a:r>
            <a:endParaRPr lang="en-US" sz="2800" dirty="0"/>
          </a:p>
        </p:txBody>
      </p:sp>
      <p:sp>
        <p:nvSpPr>
          <p:cNvPr id="5" name="Text 3"/>
          <p:cNvSpPr txBox="1"/>
          <p:nvPr/>
        </p:nvSpPr>
        <p:spPr>
          <a:xfrm>
            <a:off x="548640" y="1188720"/>
            <a:ext cx="11094415" cy="365760"/>
          </a:xfrm>
          <a:prstGeom prst="rect">
            <a:avLst/>
          </a:prstGeom>
          <a:noFill/>
          <a:ln/>
        </p:spPr>
        <p:txBody>
          <a:bodyPr wrap="square" lIns="0" tIns="0" rIns="0" bIns="0" rtlCol="0" anchor="ctr"/>
          <a:lstStyle/>
          <a:p>
            <a:pPr indent="0" marL="0">
              <a:buNone/>
            </a:pPr>
            <a:r>
              <a:rPr lang="en-US" sz="1500" i="1" dirty="0">
                <a:solidFill>
                  <a:srgbClr val="4F6577"/>
                </a:solidFill>
                <a:latin typeface="Calibri" pitchFamily="34" charset="0"/>
                <a:ea typeface="Calibri" pitchFamily="34" charset="-122"/>
                <a:cs typeface="Calibri" pitchFamily="34" charset="-120"/>
              </a:rPr>
              <a:t>Aim: identify physical and logical topologies and the IEEE 802 family</a:t>
            </a:r>
            <a:endParaRPr lang="en-US" sz="1500" dirty="0"/>
          </a:p>
        </p:txBody>
      </p:sp>
      <p:pic>
        <p:nvPicPr>
          <p:cNvPr id="6" name="Image 0" descr="/private/tmp/claude-501/-Users-johnaikeremiokha-code-Claude-Project/bf844d04-1b41-4e28-bbaa-8211504dbf91/scratchpad/deck/figs/topo_fig.png">    </p:cNvPr>
          <p:cNvPicPr>
            <a:picLocks noChangeAspect="1"/>
          </p:cNvPicPr>
          <p:nvPr/>
        </p:nvPicPr>
        <p:blipFill>
          <a:blip r:embed="rId1"/>
          <a:stretch>
            <a:fillRect/>
          </a:stretch>
        </p:blipFill>
        <p:spPr>
          <a:xfrm>
            <a:off x="3241613" y="1645920"/>
            <a:ext cx="5708469" cy="3154680"/>
          </a:xfrm>
          <a:prstGeom prst="rect">
            <a:avLst/>
          </a:prstGeom>
        </p:spPr>
      </p:pic>
      <p:sp>
        <p:nvSpPr>
          <p:cNvPr id="7" name="Shape 4"/>
          <p:cNvSpPr/>
          <p:nvPr/>
        </p:nvSpPr>
        <p:spPr>
          <a:xfrm>
            <a:off x="548640" y="4983480"/>
            <a:ext cx="3515258" cy="1234440"/>
          </a:xfrm>
          <a:prstGeom prst="roundRect">
            <a:avLst>
              <a:gd name="adj" fmla="val 7407"/>
            </a:avLst>
          </a:prstGeom>
          <a:solidFill>
            <a:srgbClr val="EAF2F9"/>
          </a:solidFill>
          <a:ln w="12700">
            <a:solidFill>
              <a:srgbClr val="EAF2F9"/>
            </a:solidFill>
            <a:prstDash val="solid"/>
          </a:ln>
        </p:spPr>
      </p:sp>
      <p:sp>
        <p:nvSpPr>
          <p:cNvPr id="8" name="Text 5"/>
          <p:cNvSpPr txBox="1"/>
          <p:nvPr/>
        </p:nvSpPr>
        <p:spPr>
          <a:xfrm>
            <a:off x="713232" y="5093208"/>
            <a:ext cx="3186074" cy="1014984"/>
          </a:xfrm>
          <a:prstGeom prst="rect">
            <a:avLst/>
          </a:prstGeom>
          <a:noFill/>
          <a:ln/>
        </p:spPr>
        <p:txBody>
          <a:bodyPr wrap="square" lIns="0" tIns="0" rIns="0" bIns="0" rtlCol="0" anchor="t"/>
          <a:lstStyle/>
          <a:p>
            <a:pPr indent="0" marL="0">
              <a:spcAft>
                <a:spcPts val="400"/>
              </a:spcAft>
              <a:buNone/>
            </a:pPr>
            <a:r>
              <a:rPr lang="en-US" sz="1400" b="1" dirty="0">
                <a:solidFill>
                  <a:srgbClr val="12324F"/>
                </a:solidFill>
                <a:latin typeface="Calibri" pitchFamily="34" charset="0"/>
                <a:ea typeface="Calibri" pitchFamily="34" charset="-122"/>
                <a:cs typeface="Calibri" pitchFamily="34" charset="-120"/>
              </a:rPr>
              <a:t>Starter</a:t>
            </a:r>
            <a:endParaRPr lang="en-US" sz="1400" dirty="0"/>
          </a:p>
          <a:p>
            <a:pPr indent="0" marL="0">
              <a:spcAft>
                <a:spcPts val="400"/>
              </a:spcAft>
              <a:buNone/>
            </a:pPr>
            <a:r>
              <a:rPr lang="en-US" sz="1200" dirty="0">
                <a:solidFill>
                  <a:srgbClr val="17334B"/>
                </a:solidFill>
                <a:latin typeface="Calibri" pitchFamily="34" charset="0"/>
                <a:ea typeface="Calibri" pitchFamily="34" charset="-122"/>
                <a:cs typeface="Calibri" pitchFamily="34" charset="-120"/>
              </a:rPr>
              <a:t>What topology do we use in college? At home? What equipment does it need?</a:t>
            </a:r>
            <a:endParaRPr lang="en-US" sz="1400" dirty="0"/>
          </a:p>
        </p:txBody>
      </p:sp>
      <p:sp>
        <p:nvSpPr>
          <p:cNvPr id="9" name="Shape 6"/>
          <p:cNvSpPr/>
          <p:nvPr/>
        </p:nvSpPr>
        <p:spPr>
          <a:xfrm>
            <a:off x="4338218" y="4983480"/>
            <a:ext cx="3515258" cy="1234440"/>
          </a:xfrm>
          <a:prstGeom prst="roundRect">
            <a:avLst>
              <a:gd name="adj" fmla="val 7407"/>
            </a:avLst>
          </a:prstGeom>
          <a:solidFill>
            <a:srgbClr val="E6F4F1"/>
          </a:solidFill>
          <a:ln w="12700">
            <a:solidFill>
              <a:srgbClr val="E6F4F1"/>
            </a:solidFill>
            <a:prstDash val="solid"/>
          </a:ln>
        </p:spPr>
      </p:sp>
      <p:sp>
        <p:nvSpPr>
          <p:cNvPr id="10" name="Text 7"/>
          <p:cNvSpPr txBox="1"/>
          <p:nvPr/>
        </p:nvSpPr>
        <p:spPr>
          <a:xfrm>
            <a:off x="4502810" y="5093208"/>
            <a:ext cx="3186074" cy="1014984"/>
          </a:xfrm>
          <a:prstGeom prst="rect">
            <a:avLst/>
          </a:prstGeom>
          <a:noFill/>
          <a:ln/>
        </p:spPr>
        <p:txBody>
          <a:bodyPr wrap="square" lIns="0" tIns="0" rIns="0" bIns="0" rtlCol="0" anchor="t"/>
          <a:lstStyle/>
          <a:p>
            <a:pPr indent="0" marL="0">
              <a:spcAft>
                <a:spcPts val="400"/>
              </a:spcAft>
              <a:buNone/>
            </a:pPr>
            <a:r>
              <a:rPr lang="en-US" sz="1400" b="1" dirty="0">
                <a:solidFill>
                  <a:srgbClr val="12324F"/>
                </a:solidFill>
                <a:latin typeface="Calibri" pitchFamily="34" charset="0"/>
                <a:ea typeface="Calibri" pitchFamily="34" charset="-122"/>
                <a:cs typeface="Calibri" pitchFamily="34" charset="-120"/>
              </a:rPr>
              <a:t>Task</a:t>
            </a:r>
            <a:endParaRPr lang="en-US" sz="1400" dirty="0"/>
          </a:p>
          <a:p>
            <a:pPr indent="0" marL="0">
              <a:spcAft>
                <a:spcPts val="400"/>
              </a:spcAft>
              <a:buNone/>
            </a:pPr>
            <a:r>
              <a:rPr lang="en-US" sz="1200" dirty="0">
                <a:solidFill>
                  <a:srgbClr val="17334B"/>
                </a:solidFill>
                <a:latin typeface="Calibri" pitchFamily="34" charset="0"/>
                <a:ea typeface="Calibri" pitchFamily="34" charset="-122"/>
                <a:cs typeface="Calibri" pitchFamily="34" charset="-120"/>
              </a:rPr>
              <a:t>Complete the topology comparison table: routing, complexity, scalability, reliability, cost.</a:t>
            </a:r>
            <a:endParaRPr lang="en-US" sz="1400" dirty="0"/>
          </a:p>
        </p:txBody>
      </p:sp>
      <p:sp>
        <p:nvSpPr>
          <p:cNvPr id="11" name="Shape 8"/>
          <p:cNvSpPr/>
          <p:nvPr/>
        </p:nvSpPr>
        <p:spPr>
          <a:xfrm>
            <a:off x="8127797" y="4983480"/>
            <a:ext cx="3515258" cy="1234440"/>
          </a:xfrm>
          <a:prstGeom prst="roundRect">
            <a:avLst>
              <a:gd name="adj" fmla="val 7407"/>
            </a:avLst>
          </a:prstGeom>
          <a:solidFill>
            <a:srgbClr val="FDF1E7"/>
          </a:solidFill>
          <a:ln w="12700">
            <a:solidFill>
              <a:srgbClr val="FDF1E7"/>
            </a:solidFill>
            <a:prstDash val="solid"/>
          </a:ln>
        </p:spPr>
      </p:sp>
      <p:sp>
        <p:nvSpPr>
          <p:cNvPr id="12" name="Text 9"/>
          <p:cNvSpPr txBox="1"/>
          <p:nvPr/>
        </p:nvSpPr>
        <p:spPr>
          <a:xfrm>
            <a:off x="8292389" y="5093208"/>
            <a:ext cx="3186074" cy="1014984"/>
          </a:xfrm>
          <a:prstGeom prst="rect">
            <a:avLst/>
          </a:prstGeom>
          <a:noFill/>
          <a:ln/>
        </p:spPr>
        <p:txBody>
          <a:bodyPr wrap="square" lIns="0" tIns="0" rIns="0" bIns="0" rtlCol="0" anchor="t"/>
          <a:lstStyle/>
          <a:p>
            <a:pPr indent="0" marL="0">
              <a:spcAft>
                <a:spcPts val="400"/>
              </a:spcAft>
              <a:buNone/>
            </a:pPr>
            <a:r>
              <a:rPr lang="en-US" sz="1400" b="1" dirty="0">
                <a:solidFill>
                  <a:srgbClr val="12324F"/>
                </a:solidFill>
                <a:latin typeface="Calibri" pitchFamily="34" charset="0"/>
                <a:ea typeface="Calibri" pitchFamily="34" charset="-122"/>
                <a:cs typeface="Calibri" pitchFamily="34" charset="-120"/>
              </a:rPr>
              <a:t>Check</a:t>
            </a:r>
            <a:endParaRPr lang="en-US" sz="1400" dirty="0"/>
          </a:p>
          <a:p>
            <a:pPr indent="0" marL="0">
              <a:spcAft>
                <a:spcPts val="400"/>
              </a:spcAft>
              <a:buNone/>
            </a:pPr>
            <a:r>
              <a:rPr lang="en-US" sz="1200" dirty="0">
                <a:solidFill>
                  <a:srgbClr val="17334B"/>
                </a:solidFill>
                <a:latin typeface="Calibri" pitchFamily="34" charset="0"/>
                <a:ea typeface="Calibri" pitchFamily="34" charset="-122"/>
                <a:cs typeface="Calibri" pitchFamily="34" charset="-120"/>
              </a:rPr>
              <a:t>Quiz 1 on the site: topology questions.</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548640" y="164592"/>
            <a:ext cx="914400" cy="310896"/>
          </a:xfrm>
          <a:prstGeom prst="roundRect">
            <a:avLst>
              <a:gd name="adj" fmla="val 23529"/>
            </a:avLst>
          </a:prstGeom>
          <a:solidFill>
            <a:srgbClr val="20857B"/>
          </a:solidFill>
          <a:ln w="12700">
            <a:solidFill>
              <a:srgbClr val="20857B"/>
            </a:solidFill>
            <a:prstDash val="solid"/>
          </a:ln>
        </p:spPr>
      </p:sp>
      <p:sp>
        <p:nvSpPr>
          <p:cNvPr id="3" name="Text 1"/>
          <p:cNvSpPr txBox="1"/>
          <p:nvPr/>
        </p:nvSpPr>
        <p:spPr>
          <a:xfrm>
            <a:off x="548640" y="164592"/>
            <a:ext cx="91440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A1</a:t>
            </a:r>
            <a:endParaRPr lang="en-US" sz="1200" dirty="0"/>
          </a:p>
        </p:txBody>
      </p:sp>
      <p:sp>
        <p:nvSpPr>
          <p:cNvPr id="4" name="Text 2"/>
          <p:cNvSpPr txBox="1"/>
          <p:nvPr/>
        </p:nvSpPr>
        <p:spPr>
          <a:xfrm>
            <a:off x="548640" y="502920"/>
            <a:ext cx="11094415" cy="731520"/>
          </a:xfrm>
          <a:prstGeom prst="rect">
            <a:avLst/>
          </a:prstGeom>
          <a:noFill/>
          <a:ln/>
        </p:spPr>
        <p:txBody>
          <a:bodyPr wrap="square" lIns="0" tIns="0" rIns="0" bIns="0" rtlCol="0" anchor="ctr"/>
          <a:lstStyle/>
          <a:p>
            <a:pPr indent="0" marL="0">
              <a:buNone/>
            </a:pPr>
            <a:r>
              <a:rPr lang="en-US" sz="2800" b="1" dirty="0">
                <a:solidFill>
                  <a:srgbClr val="17334B"/>
                </a:solidFill>
                <a:latin typeface="Cambria" pitchFamily="34" charset="0"/>
                <a:ea typeface="Cambria" pitchFamily="34" charset="-122"/>
                <a:cs typeface="Cambria" pitchFamily="34" charset="-120"/>
              </a:rPr>
              <a:t>Network models</a:t>
            </a:r>
            <a:endParaRPr lang="en-US" sz="2800" dirty="0"/>
          </a:p>
        </p:txBody>
      </p:sp>
      <p:sp>
        <p:nvSpPr>
          <p:cNvPr id="5" name="Text 3"/>
          <p:cNvSpPr txBox="1"/>
          <p:nvPr/>
        </p:nvSpPr>
        <p:spPr>
          <a:xfrm>
            <a:off x="548640" y="1188720"/>
            <a:ext cx="4937760" cy="548640"/>
          </a:xfrm>
          <a:prstGeom prst="rect">
            <a:avLst/>
          </a:prstGeom>
          <a:noFill/>
          <a:ln/>
        </p:spPr>
        <p:txBody>
          <a:bodyPr wrap="square" lIns="0" tIns="0" rIns="0" bIns="0" rtlCol="0" anchor="t"/>
          <a:lstStyle/>
          <a:p>
            <a:pPr indent="0" marL="0">
              <a:buNone/>
            </a:pPr>
            <a:r>
              <a:rPr lang="en-US" sz="1400" i="1" dirty="0">
                <a:solidFill>
                  <a:srgbClr val="4F6577"/>
                </a:solidFill>
                <a:latin typeface="Calibri" pitchFamily="34" charset="0"/>
                <a:ea typeface="Calibri" pitchFamily="34" charset="-122"/>
                <a:cs typeface="Calibri" pitchFamily="34" charset="-120"/>
              </a:rPr>
              <a:t>Aim: describe peer-to-peer, client/server and thin client models and evaluate their suitability</a:t>
            </a:r>
            <a:endParaRPr lang="en-US" sz="1400" dirty="0"/>
          </a:p>
        </p:txBody>
      </p:sp>
      <p:sp>
        <p:nvSpPr>
          <p:cNvPr id="6" name="Text 4"/>
          <p:cNvSpPr txBox="1"/>
          <p:nvPr/>
        </p:nvSpPr>
        <p:spPr>
          <a:xfrm>
            <a:off x="548640" y="1783080"/>
            <a:ext cx="4846320" cy="3108960"/>
          </a:xfrm>
          <a:prstGeom prst="rect">
            <a:avLst/>
          </a:prstGeom>
          <a:noFill/>
          <a:ln/>
        </p:spPr>
        <p:txBody>
          <a:bodyPr wrap="square" lIns="635" tIns="635" rIns="635" bIns="635" rtlCol="0" anchor="t"/>
          <a:lstStyle/>
          <a:p>
            <a:pPr marL="342900" indent="-342900">
              <a:spcAft>
                <a:spcPts val="600"/>
              </a:spcAft>
              <a:buSzPct val="100000"/>
              <a:buChar char="•"/>
            </a:pPr>
            <a:r>
              <a:rPr lang="en-US" sz="1600" dirty="0">
                <a:solidFill>
                  <a:srgbClr val="17334B"/>
                </a:solidFill>
                <a:latin typeface="Calibri" pitchFamily="34" charset="0"/>
                <a:ea typeface="Calibri" pitchFamily="34" charset="-122"/>
                <a:cs typeface="Calibri" pitchFamily="34" charset="-120"/>
              </a:rPr>
              <a:t>Peer-to-peer: cheap, simple, hard to manage beyond ~10 PCs</a:t>
            </a:r>
            <a:endParaRPr lang="en-US" sz="1600" dirty="0"/>
          </a:p>
          <a:p>
            <a:pPr marL="342900" indent="-342900">
              <a:spcAft>
                <a:spcPts val="600"/>
              </a:spcAft>
              <a:buSzPct val="100000"/>
              <a:buChar char="•"/>
            </a:pPr>
            <a:r>
              <a:rPr lang="en-US" sz="1600" dirty="0">
                <a:solidFill>
                  <a:srgbClr val="17334B"/>
                </a:solidFill>
                <a:latin typeface="Calibri" pitchFamily="34" charset="0"/>
                <a:ea typeface="Calibri" pitchFamily="34" charset="-122"/>
                <a:cs typeface="Calibri" pitchFamily="34" charset="-120"/>
              </a:rPr>
              <a:t>Client/server: central logins, files, backups; costs more, scales well</a:t>
            </a:r>
            <a:endParaRPr lang="en-US" sz="1600" dirty="0"/>
          </a:p>
          <a:p>
            <a:pPr marL="342900" indent="-342900">
              <a:spcAft>
                <a:spcPts val="600"/>
              </a:spcAft>
              <a:buSzPct val="100000"/>
              <a:buChar char="•"/>
            </a:pPr>
            <a:r>
              <a:rPr lang="en-US" sz="1600" dirty="0">
                <a:solidFill>
                  <a:srgbClr val="17334B"/>
                </a:solidFill>
                <a:latin typeface="Calibri" pitchFamily="34" charset="0"/>
                <a:ea typeface="Calibri" pitchFamily="34" charset="-122"/>
                <a:cs typeface="Calibri" pitchFamily="34" charset="-120"/>
              </a:rPr>
              <a:t>Thin client: server does the work; cheap, secure, network-dependent</a:t>
            </a:r>
            <a:endParaRPr lang="en-US" sz="1600" dirty="0"/>
          </a:p>
          <a:p>
            <a:pPr marL="342900" indent="-342900">
              <a:spcAft>
                <a:spcPts val="600"/>
              </a:spcAft>
              <a:buSzPct val="100000"/>
              <a:buChar char="•"/>
            </a:pPr>
            <a:r>
              <a:rPr lang="en-US" sz="1600" dirty="0">
                <a:solidFill>
                  <a:srgbClr val="17334B"/>
                </a:solidFill>
                <a:latin typeface="Calibri" pitchFamily="34" charset="0"/>
                <a:ea typeface="Calibri" pitchFamily="34" charset="-122"/>
                <a:cs typeface="Calibri" pitchFamily="34" charset="-120"/>
              </a:rPr>
              <a:t>Evaluate on ease of use, set-up, performance and suitability for applications</a:t>
            </a:r>
            <a:endParaRPr lang="en-US" sz="1600" dirty="0"/>
          </a:p>
        </p:txBody>
      </p:sp>
      <p:pic>
        <p:nvPicPr>
          <p:cNvPr id="7" name="Image 0" descr="/private/tmp/claude-501/-Users-johnaikeremiokha-code-Claude-Project/bf844d04-1b41-4e28-bbaa-8211504dbf91/scratchpad/deck/figs/models_fig.png">    </p:cNvPr>
          <p:cNvPicPr>
            <a:picLocks noChangeAspect="1"/>
          </p:cNvPicPr>
          <p:nvPr/>
        </p:nvPicPr>
        <p:blipFill>
          <a:blip r:embed="rId1"/>
          <a:stretch>
            <a:fillRect/>
          </a:stretch>
        </p:blipFill>
        <p:spPr>
          <a:xfrm>
            <a:off x="5715000" y="1188720"/>
            <a:ext cx="5925312" cy="2338939"/>
          </a:xfrm>
          <a:prstGeom prst="rect">
            <a:avLst/>
          </a:prstGeom>
        </p:spPr>
      </p:pic>
      <p:sp>
        <p:nvSpPr>
          <p:cNvPr id="8" name="Shape 5"/>
          <p:cNvSpPr/>
          <p:nvPr/>
        </p:nvSpPr>
        <p:spPr>
          <a:xfrm>
            <a:off x="548640" y="5074920"/>
            <a:ext cx="3515258" cy="1234440"/>
          </a:xfrm>
          <a:prstGeom prst="roundRect">
            <a:avLst>
              <a:gd name="adj" fmla="val 7407"/>
            </a:avLst>
          </a:prstGeom>
          <a:solidFill>
            <a:srgbClr val="EAF2F9"/>
          </a:solidFill>
          <a:ln w="12700">
            <a:solidFill>
              <a:srgbClr val="EAF2F9"/>
            </a:solidFill>
            <a:prstDash val="solid"/>
          </a:ln>
        </p:spPr>
      </p:sp>
      <p:sp>
        <p:nvSpPr>
          <p:cNvPr id="9" name="Text 6"/>
          <p:cNvSpPr txBox="1"/>
          <p:nvPr/>
        </p:nvSpPr>
        <p:spPr>
          <a:xfrm>
            <a:off x="713232" y="5184648"/>
            <a:ext cx="3186074" cy="1014984"/>
          </a:xfrm>
          <a:prstGeom prst="rect">
            <a:avLst/>
          </a:prstGeom>
          <a:noFill/>
          <a:ln/>
        </p:spPr>
        <p:txBody>
          <a:bodyPr wrap="square" lIns="0" tIns="0" rIns="0" bIns="0" rtlCol="0" anchor="t"/>
          <a:lstStyle/>
          <a:p>
            <a:pPr indent="0" marL="0">
              <a:spcAft>
                <a:spcPts val="400"/>
              </a:spcAft>
              <a:buNone/>
            </a:pPr>
            <a:r>
              <a:rPr lang="en-US" sz="1400" b="1" dirty="0">
                <a:solidFill>
                  <a:srgbClr val="12324F"/>
                </a:solidFill>
                <a:latin typeface="Calibri" pitchFamily="34" charset="0"/>
                <a:ea typeface="Calibri" pitchFamily="34" charset="-122"/>
                <a:cs typeface="Calibri" pitchFamily="34" charset="-120"/>
              </a:rPr>
              <a:t>Starter</a:t>
            </a:r>
            <a:endParaRPr lang="en-US" sz="1400" dirty="0"/>
          </a:p>
          <a:p>
            <a:pPr indent="0" marL="0">
              <a:spcAft>
                <a:spcPts val="400"/>
              </a:spcAft>
              <a:buNone/>
            </a:pPr>
            <a:r>
              <a:rPr lang="en-US" sz="1200" dirty="0">
                <a:solidFill>
                  <a:srgbClr val="17334B"/>
                </a:solidFill>
                <a:latin typeface="Calibri" pitchFamily="34" charset="0"/>
                <a:ea typeface="Calibri" pitchFamily="34" charset="-122"/>
                <a:cs typeface="Calibri" pitchFamily="34" charset="-120"/>
              </a:rPr>
              <a:t>Thin client video clip: what is actually on the desk?</a:t>
            </a:r>
            <a:endParaRPr lang="en-US" sz="1400" dirty="0"/>
          </a:p>
        </p:txBody>
      </p:sp>
      <p:sp>
        <p:nvSpPr>
          <p:cNvPr id="10" name="Shape 7"/>
          <p:cNvSpPr/>
          <p:nvPr/>
        </p:nvSpPr>
        <p:spPr>
          <a:xfrm>
            <a:off x="4338218" y="5074920"/>
            <a:ext cx="3515258" cy="1234440"/>
          </a:xfrm>
          <a:prstGeom prst="roundRect">
            <a:avLst>
              <a:gd name="adj" fmla="val 7407"/>
            </a:avLst>
          </a:prstGeom>
          <a:solidFill>
            <a:srgbClr val="E6F4F1"/>
          </a:solidFill>
          <a:ln w="12700">
            <a:solidFill>
              <a:srgbClr val="E6F4F1"/>
            </a:solidFill>
            <a:prstDash val="solid"/>
          </a:ln>
        </p:spPr>
      </p:sp>
      <p:sp>
        <p:nvSpPr>
          <p:cNvPr id="11" name="Text 8"/>
          <p:cNvSpPr txBox="1"/>
          <p:nvPr/>
        </p:nvSpPr>
        <p:spPr>
          <a:xfrm>
            <a:off x="4502810" y="5184648"/>
            <a:ext cx="3186074" cy="1014984"/>
          </a:xfrm>
          <a:prstGeom prst="rect">
            <a:avLst/>
          </a:prstGeom>
          <a:noFill/>
          <a:ln/>
        </p:spPr>
        <p:txBody>
          <a:bodyPr wrap="square" lIns="0" tIns="0" rIns="0" bIns="0" rtlCol="0" anchor="t"/>
          <a:lstStyle/>
          <a:p>
            <a:pPr indent="0" marL="0">
              <a:spcAft>
                <a:spcPts val="400"/>
              </a:spcAft>
              <a:buNone/>
            </a:pPr>
            <a:r>
              <a:rPr lang="en-US" sz="1400" b="1" dirty="0">
                <a:solidFill>
                  <a:srgbClr val="12324F"/>
                </a:solidFill>
                <a:latin typeface="Calibri" pitchFamily="34" charset="0"/>
                <a:ea typeface="Calibri" pitchFamily="34" charset="-122"/>
                <a:cs typeface="Calibri" pitchFamily="34" charset="-120"/>
              </a:rPr>
              <a:t>Task</a:t>
            </a:r>
            <a:endParaRPr lang="en-US" sz="1400" dirty="0"/>
          </a:p>
          <a:p>
            <a:pPr indent="0" marL="0">
              <a:spcAft>
                <a:spcPts val="400"/>
              </a:spcAft>
              <a:buNone/>
            </a:pPr>
            <a:r>
              <a:rPr lang="en-US" sz="1200" dirty="0">
                <a:solidFill>
                  <a:srgbClr val="17334B"/>
                </a:solidFill>
                <a:latin typeface="Calibri" pitchFamily="34" charset="0"/>
                <a:ea typeface="Calibri" pitchFamily="34" charset="-122"/>
                <a:cs typeface="Calibri" pitchFamily="34" charset="-120"/>
              </a:rPr>
              <a:t>Workbook A1c: choose a model for a hairdresser, a college and a call centre.</a:t>
            </a:r>
            <a:endParaRPr lang="en-US" sz="1400" dirty="0"/>
          </a:p>
        </p:txBody>
      </p:sp>
      <p:sp>
        <p:nvSpPr>
          <p:cNvPr id="12" name="Shape 9"/>
          <p:cNvSpPr/>
          <p:nvPr/>
        </p:nvSpPr>
        <p:spPr>
          <a:xfrm>
            <a:off x="8127797" y="5074920"/>
            <a:ext cx="3515258" cy="1234440"/>
          </a:xfrm>
          <a:prstGeom prst="roundRect">
            <a:avLst>
              <a:gd name="adj" fmla="val 7407"/>
            </a:avLst>
          </a:prstGeom>
          <a:solidFill>
            <a:srgbClr val="FDF1E7"/>
          </a:solidFill>
          <a:ln w="12700">
            <a:solidFill>
              <a:srgbClr val="FDF1E7"/>
            </a:solidFill>
            <a:prstDash val="solid"/>
          </a:ln>
        </p:spPr>
      </p:sp>
      <p:sp>
        <p:nvSpPr>
          <p:cNvPr id="13" name="Text 10"/>
          <p:cNvSpPr txBox="1"/>
          <p:nvPr/>
        </p:nvSpPr>
        <p:spPr>
          <a:xfrm>
            <a:off x="8292389" y="5184648"/>
            <a:ext cx="3186074" cy="1014984"/>
          </a:xfrm>
          <a:prstGeom prst="rect">
            <a:avLst/>
          </a:prstGeom>
          <a:noFill/>
          <a:ln/>
        </p:spPr>
        <p:txBody>
          <a:bodyPr wrap="square" lIns="0" tIns="0" rIns="0" bIns="0" rtlCol="0" anchor="t"/>
          <a:lstStyle/>
          <a:p>
            <a:pPr indent="0" marL="0">
              <a:spcAft>
                <a:spcPts val="400"/>
              </a:spcAft>
              <a:buNone/>
            </a:pPr>
            <a:r>
              <a:rPr lang="en-US" sz="1400" b="1" dirty="0">
                <a:solidFill>
                  <a:srgbClr val="12324F"/>
                </a:solidFill>
                <a:latin typeface="Calibri" pitchFamily="34" charset="0"/>
                <a:ea typeface="Calibri" pitchFamily="34" charset="-122"/>
                <a:cs typeface="Calibri" pitchFamily="34" charset="-120"/>
              </a:rPr>
              <a:t>Link</a:t>
            </a:r>
            <a:endParaRPr lang="en-US" sz="1400" dirty="0"/>
          </a:p>
          <a:p>
            <a:pPr indent="0" marL="0">
              <a:spcAft>
                <a:spcPts val="400"/>
              </a:spcAft>
              <a:buNone/>
            </a:pPr>
            <a:r>
              <a:rPr lang="en-US" sz="1200" dirty="0">
                <a:solidFill>
                  <a:srgbClr val="17334B"/>
                </a:solidFill>
                <a:latin typeface="Calibri" pitchFamily="34" charset="0"/>
                <a:ea typeface="Calibri" pitchFamily="34" charset="-122"/>
                <a:cs typeface="Calibri" pitchFamily="34" charset="-120"/>
              </a:rPr>
              <a:t>Prepares A.D1: balanced evaluation with reasoned examples.</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548640" y="164592"/>
            <a:ext cx="914400" cy="310896"/>
          </a:xfrm>
          <a:prstGeom prst="roundRect">
            <a:avLst>
              <a:gd name="adj" fmla="val 23529"/>
            </a:avLst>
          </a:prstGeom>
          <a:solidFill>
            <a:srgbClr val="20857B"/>
          </a:solidFill>
          <a:ln w="12700">
            <a:solidFill>
              <a:srgbClr val="20857B"/>
            </a:solidFill>
            <a:prstDash val="solid"/>
          </a:ln>
        </p:spPr>
      </p:sp>
      <p:sp>
        <p:nvSpPr>
          <p:cNvPr id="3" name="Text 1"/>
          <p:cNvSpPr txBox="1"/>
          <p:nvPr/>
        </p:nvSpPr>
        <p:spPr>
          <a:xfrm>
            <a:off x="548640" y="164592"/>
            <a:ext cx="91440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A1</a:t>
            </a:r>
            <a:endParaRPr lang="en-US" sz="1200" dirty="0"/>
          </a:p>
        </p:txBody>
      </p:sp>
      <p:sp>
        <p:nvSpPr>
          <p:cNvPr id="4" name="Text 2"/>
          <p:cNvSpPr txBox="1"/>
          <p:nvPr/>
        </p:nvSpPr>
        <p:spPr>
          <a:xfrm>
            <a:off x="548640" y="502920"/>
            <a:ext cx="11094415" cy="731520"/>
          </a:xfrm>
          <a:prstGeom prst="rect">
            <a:avLst/>
          </a:prstGeom>
          <a:noFill/>
          <a:ln/>
        </p:spPr>
        <p:txBody>
          <a:bodyPr wrap="square" lIns="0" tIns="0" rIns="0" bIns="0" rtlCol="0" anchor="ctr"/>
          <a:lstStyle/>
          <a:p>
            <a:pPr indent="0" marL="0">
              <a:buNone/>
            </a:pPr>
            <a:r>
              <a:rPr lang="en-US" sz="2800" b="1" dirty="0">
                <a:solidFill>
                  <a:srgbClr val="17334B"/>
                </a:solidFill>
                <a:latin typeface="Cambria" pitchFamily="34" charset="0"/>
                <a:ea typeface="Cambria" pitchFamily="34" charset="-122"/>
                <a:cs typeface="Cambria" pitchFamily="34" charset="-120"/>
              </a:rPr>
              <a:t>Modern trends: virtualisation, cloud, BYOD, SDN</a:t>
            </a:r>
            <a:endParaRPr lang="en-US" sz="2800" dirty="0"/>
          </a:p>
        </p:txBody>
      </p:sp>
      <p:sp>
        <p:nvSpPr>
          <p:cNvPr id="5" name="Text 3"/>
          <p:cNvSpPr txBox="1"/>
          <p:nvPr/>
        </p:nvSpPr>
        <p:spPr>
          <a:xfrm>
            <a:off x="548640" y="1188720"/>
            <a:ext cx="4937760" cy="548640"/>
          </a:xfrm>
          <a:prstGeom prst="rect">
            <a:avLst/>
          </a:prstGeom>
          <a:noFill/>
          <a:ln/>
        </p:spPr>
        <p:txBody>
          <a:bodyPr wrap="square" lIns="0" tIns="0" rIns="0" bIns="0" rtlCol="0" anchor="t"/>
          <a:lstStyle/>
          <a:p>
            <a:pPr indent="0" marL="0">
              <a:buNone/>
            </a:pPr>
            <a:r>
              <a:rPr lang="en-US" sz="1400" i="1" dirty="0">
                <a:solidFill>
                  <a:srgbClr val="4F6577"/>
                </a:solidFill>
                <a:latin typeface="Calibri" pitchFamily="34" charset="0"/>
                <a:ea typeface="Calibri" pitchFamily="34" charset="-122"/>
                <a:cs typeface="Calibri" pitchFamily="34" charset="-120"/>
              </a:rPr>
              <a:t>Aim: explain modern networking trends and their challenges</a:t>
            </a:r>
            <a:endParaRPr lang="en-US" sz="1400" dirty="0"/>
          </a:p>
        </p:txBody>
      </p:sp>
      <p:sp>
        <p:nvSpPr>
          <p:cNvPr id="6" name="Text 4"/>
          <p:cNvSpPr txBox="1"/>
          <p:nvPr/>
        </p:nvSpPr>
        <p:spPr>
          <a:xfrm>
            <a:off x="548640" y="1783080"/>
            <a:ext cx="4846320" cy="3108960"/>
          </a:xfrm>
          <a:prstGeom prst="rect">
            <a:avLst/>
          </a:prstGeom>
          <a:noFill/>
          <a:ln/>
        </p:spPr>
        <p:txBody>
          <a:bodyPr wrap="square" lIns="635" tIns="635" rIns="635" bIns="635" rtlCol="0" anchor="t"/>
          <a:lstStyle/>
          <a:p>
            <a:pPr marL="342900" indent="-342900">
              <a:spcAft>
                <a:spcPts val="600"/>
              </a:spcAft>
              <a:buSzPct val="100000"/>
              <a:buChar char="•"/>
            </a:pPr>
            <a:r>
              <a:rPr lang="en-US" sz="1600" dirty="0">
                <a:solidFill>
                  <a:srgbClr val="17334B"/>
                </a:solidFill>
                <a:latin typeface="Calibri" pitchFamily="34" charset="0"/>
                <a:ea typeface="Calibri" pitchFamily="34" charset="-122"/>
                <a:cs typeface="Calibri" pitchFamily="34" charset="-120"/>
              </a:rPr>
              <a:t>Server sprawl and virtualisation: Type 1 vs Type 2 hypervisors</a:t>
            </a:r>
            <a:endParaRPr lang="en-US" sz="1600" dirty="0"/>
          </a:p>
          <a:p>
            <a:pPr marL="342900" indent="-342900">
              <a:spcAft>
                <a:spcPts val="600"/>
              </a:spcAft>
              <a:buSzPct val="100000"/>
              <a:buChar char="•"/>
            </a:pPr>
            <a:r>
              <a:rPr lang="en-US" sz="1600" dirty="0">
                <a:solidFill>
                  <a:srgbClr val="17334B"/>
                </a:solidFill>
                <a:latin typeface="Calibri" pitchFamily="34" charset="0"/>
                <a:ea typeface="Calibri" pitchFamily="34" charset="-122"/>
                <a:cs typeface="Calibri" pitchFamily="34" charset="-120"/>
              </a:rPr>
              <a:t>Cloud: public, private, hybrid, edge; IaaS, PaaS, SaaS</a:t>
            </a:r>
            <a:endParaRPr lang="en-US" sz="1600" dirty="0"/>
          </a:p>
          <a:p>
            <a:pPr marL="342900" indent="-342900">
              <a:spcAft>
                <a:spcPts val="600"/>
              </a:spcAft>
              <a:buSzPct val="100000"/>
              <a:buChar char="•"/>
            </a:pPr>
            <a:r>
              <a:rPr lang="en-US" sz="1600" dirty="0">
                <a:solidFill>
                  <a:srgbClr val="17334B"/>
                </a:solidFill>
                <a:latin typeface="Calibri" pitchFamily="34" charset="0"/>
                <a:ea typeface="Calibri" pitchFamily="34" charset="-122"/>
                <a:cs typeface="Calibri" pitchFamily="34" charset="-120"/>
              </a:rPr>
              <a:t>BYOD: flexibility vs security and support</a:t>
            </a:r>
            <a:endParaRPr lang="en-US" sz="1600" dirty="0"/>
          </a:p>
          <a:p>
            <a:pPr marL="342900" indent="-342900">
              <a:spcAft>
                <a:spcPts val="600"/>
              </a:spcAft>
              <a:buSzPct val="100000"/>
              <a:buChar char="•"/>
            </a:pPr>
            <a:r>
              <a:rPr lang="en-US" sz="1600" dirty="0">
                <a:solidFill>
                  <a:srgbClr val="17334B"/>
                </a:solidFill>
                <a:latin typeface="Calibri" pitchFamily="34" charset="0"/>
                <a:ea typeface="Calibri" pitchFamily="34" charset="-122"/>
                <a:cs typeface="Calibri" pitchFamily="34" charset="-120"/>
              </a:rPr>
              <a:t>SDN and software-defined storage: central control by software</a:t>
            </a:r>
            <a:endParaRPr lang="en-US" sz="1600" dirty="0"/>
          </a:p>
        </p:txBody>
      </p:sp>
      <p:pic>
        <p:nvPicPr>
          <p:cNvPr id="7" name="Image 0" descr="/private/tmp/claude-501/-Users-johnaikeremiokha-code-Claude-Project/bf844d04-1b41-4e28-bbaa-8211504dbf91/scratchpad/deck/figs/hypervisor_fig.png">    </p:cNvPr>
          <p:cNvPicPr>
            <a:picLocks noChangeAspect="1"/>
          </p:cNvPicPr>
          <p:nvPr/>
        </p:nvPicPr>
        <p:blipFill>
          <a:blip r:embed="rId1"/>
          <a:stretch>
            <a:fillRect/>
          </a:stretch>
        </p:blipFill>
        <p:spPr>
          <a:xfrm>
            <a:off x="5715000" y="1188720"/>
            <a:ext cx="5925312" cy="2027080"/>
          </a:xfrm>
          <a:prstGeom prst="rect">
            <a:avLst/>
          </a:prstGeom>
        </p:spPr>
      </p:pic>
      <p:pic>
        <p:nvPicPr>
          <p:cNvPr id="8" name="Image 1" descr="/private/tmp/claude-501/-Users-johnaikeremiokha-code-Claude-Project/bf844d04-1b41-4e28-bbaa-8211504dbf91/scratchpad/deck/figs/cloud_fig.png">    </p:cNvPr>
          <p:cNvPicPr>
            <a:picLocks noChangeAspect="1"/>
          </p:cNvPicPr>
          <p:nvPr/>
        </p:nvPicPr>
        <p:blipFill>
          <a:blip r:embed="rId2"/>
          <a:stretch>
            <a:fillRect/>
          </a:stretch>
        </p:blipFill>
        <p:spPr>
          <a:xfrm>
            <a:off x="6366053" y="3325528"/>
            <a:ext cx="4623206" cy="1520792"/>
          </a:xfrm>
          <a:prstGeom prst="rect">
            <a:avLst/>
          </a:prstGeom>
        </p:spPr>
      </p:pic>
      <p:sp>
        <p:nvSpPr>
          <p:cNvPr id="9" name="Shape 5"/>
          <p:cNvSpPr/>
          <p:nvPr/>
        </p:nvSpPr>
        <p:spPr>
          <a:xfrm>
            <a:off x="548640" y="5074920"/>
            <a:ext cx="3515258" cy="1234440"/>
          </a:xfrm>
          <a:prstGeom prst="roundRect">
            <a:avLst>
              <a:gd name="adj" fmla="val 7407"/>
            </a:avLst>
          </a:prstGeom>
          <a:solidFill>
            <a:srgbClr val="EAF2F9"/>
          </a:solidFill>
          <a:ln w="12700">
            <a:solidFill>
              <a:srgbClr val="EAF2F9"/>
            </a:solidFill>
            <a:prstDash val="solid"/>
          </a:ln>
        </p:spPr>
      </p:sp>
      <p:sp>
        <p:nvSpPr>
          <p:cNvPr id="10" name="Text 6"/>
          <p:cNvSpPr txBox="1"/>
          <p:nvPr/>
        </p:nvSpPr>
        <p:spPr>
          <a:xfrm>
            <a:off x="713232" y="5184648"/>
            <a:ext cx="3186074" cy="1014984"/>
          </a:xfrm>
          <a:prstGeom prst="rect">
            <a:avLst/>
          </a:prstGeom>
          <a:noFill/>
          <a:ln/>
        </p:spPr>
        <p:txBody>
          <a:bodyPr wrap="square" lIns="0" tIns="0" rIns="0" bIns="0" rtlCol="0" anchor="t"/>
          <a:lstStyle/>
          <a:p>
            <a:pPr indent="0" marL="0">
              <a:spcAft>
                <a:spcPts val="400"/>
              </a:spcAft>
              <a:buNone/>
            </a:pPr>
            <a:r>
              <a:rPr lang="en-US" sz="1400" b="1" dirty="0">
                <a:solidFill>
                  <a:srgbClr val="12324F"/>
                </a:solidFill>
                <a:latin typeface="Calibri" pitchFamily="34" charset="0"/>
                <a:ea typeface="Calibri" pitchFamily="34" charset="-122"/>
                <a:cs typeface="Calibri" pitchFamily="34" charset="-120"/>
              </a:rPr>
              <a:t>Practical</a:t>
            </a:r>
            <a:endParaRPr lang="en-US" sz="1400" dirty="0"/>
          </a:p>
          <a:p>
            <a:pPr indent="0" marL="0">
              <a:spcAft>
                <a:spcPts val="400"/>
              </a:spcAft>
              <a:buNone/>
            </a:pPr>
            <a:r>
              <a:rPr lang="en-US" sz="1200" dirty="0">
                <a:solidFill>
                  <a:srgbClr val="17334B"/>
                </a:solidFill>
                <a:latin typeface="Calibri" pitchFamily="34" charset="0"/>
                <a:ea typeface="Calibri" pitchFamily="34" charset="-122"/>
                <a:cs typeface="Calibri" pitchFamily="34" charset="-120"/>
              </a:rPr>
              <a:t>Install VirtualBox and create a Linux VM (Type 2 hypervisor).</a:t>
            </a:r>
            <a:endParaRPr lang="en-US" sz="1400" dirty="0"/>
          </a:p>
        </p:txBody>
      </p:sp>
      <p:sp>
        <p:nvSpPr>
          <p:cNvPr id="11" name="Shape 7"/>
          <p:cNvSpPr/>
          <p:nvPr/>
        </p:nvSpPr>
        <p:spPr>
          <a:xfrm>
            <a:off x="4338218" y="5074920"/>
            <a:ext cx="3515258" cy="1234440"/>
          </a:xfrm>
          <a:prstGeom prst="roundRect">
            <a:avLst>
              <a:gd name="adj" fmla="val 7407"/>
            </a:avLst>
          </a:prstGeom>
          <a:solidFill>
            <a:srgbClr val="E6F4F1"/>
          </a:solidFill>
          <a:ln w="12700">
            <a:solidFill>
              <a:srgbClr val="E6F4F1"/>
            </a:solidFill>
            <a:prstDash val="solid"/>
          </a:ln>
        </p:spPr>
      </p:sp>
      <p:sp>
        <p:nvSpPr>
          <p:cNvPr id="12" name="Text 8"/>
          <p:cNvSpPr txBox="1"/>
          <p:nvPr/>
        </p:nvSpPr>
        <p:spPr>
          <a:xfrm>
            <a:off x="4502810" y="5184648"/>
            <a:ext cx="3186074" cy="1014984"/>
          </a:xfrm>
          <a:prstGeom prst="rect">
            <a:avLst/>
          </a:prstGeom>
          <a:noFill/>
          <a:ln/>
        </p:spPr>
        <p:txBody>
          <a:bodyPr wrap="square" lIns="0" tIns="0" rIns="0" bIns="0" rtlCol="0" anchor="t"/>
          <a:lstStyle/>
          <a:p>
            <a:pPr indent="0" marL="0">
              <a:spcAft>
                <a:spcPts val="400"/>
              </a:spcAft>
              <a:buNone/>
            </a:pPr>
            <a:r>
              <a:rPr lang="en-US" sz="1400" b="1" dirty="0">
                <a:solidFill>
                  <a:srgbClr val="12324F"/>
                </a:solidFill>
                <a:latin typeface="Calibri" pitchFamily="34" charset="0"/>
                <a:ea typeface="Calibri" pitchFamily="34" charset="-122"/>
                <a:cs typeface="Calibri" pitchFamily="34" charset="-120"/>
              </a:rPr>
              <a:t>Task</a:t>
            </a:r>
            <a:endParaRPr lang="en-US" sz="1400" dirty="0"/>
          </a:p>
          <a:p>
            <a:pPr indent="0" marL="0">
              <a:spcAft>
                <a:spcPts val="400"/>
              </a:spcAft>
              <a:buNone/>
            </a:pPr>
            <a:r>
              <a:rPr lang="en-US" sz="1200" dirty="0">
                <a:solidFill>
                  <a:srgbClr val="17334B"/>
                </a:solidFill>
                <a:latin typeface="Calibri" pitchFamily="34" charset="0"/>
                <a:ea typeface="Calibri" pitchFamily="34" charset="-122"/>
                <a:cs typeface="Calibri" pitchFamily="34" charset="-120"/>
              </a:rPr>
              <a:t>Research SDN: one benefit, one challenge, one real example.</a:t>
            </a:r>
            <a:endParaRPr lang="en-US" sz="1400" dirty="0"/>
          </a:p>
        </p:txBody>
      </p:sp>
      <p:sp>
        <p:nvSpPr>
          <p:cNvPr id="13" name="Shape 9"/>
          <p:cNvSpPr/>
          <p:nvPr/>
        </p:nvSpPr>
        <p:spPr>
          <a:xfrm>
            <a:off x="8127797" y="5074920"/>
            <a:ext cx="3515258" cy="1234440"/>
          </a:xfrm>
          <a:prstGeom prst="roundRect">
            <a:avLst>
              <a:gd name="adj" fmla="val 7407"/>
            </a:avLst>
          </a:prstGeom>
          <a:solidFill>
            <a:srgbClr val="FDF1E7"/>
          </a:solidFill>
          <a:ln w="12700">
            <a:solidFill>
              <a:srgbClr val="FDF1E7"/>
            </a:solidFill>
            <a:prstDash val="solid"/>
          </a:ln>
        </p:spPr>
      </p:sp>
      <p:sp>
        <p:nvSpPr>
          <p:cNvPr id="14" name="Text 10"/>
          <p:cNvSpPr txBox="1"/>
          <p:nvPr/>
        </p:nvSpPr>
        <p:spPr>
          <a:xfrm>
            <a:off x="8292389" y="5184648"/>
            <a:ext cx="3186074" cy="1014984"/>
          </a:xfrm>
          <a:prstGeom prst="rect">
            <a:avLst/>
          </a:prstGeom>
          <a:noFill/>
          <a:ln/>
        </p:spPr>
        <p:txBody>
          <a:bodyPr wrap="square" lIns="0" tIns="0" rIns="0" bIns="0" rtlCol="0" anchor="t"/>
          <a:lstStyle/>
          <a:p>
            <a:pPr indent="0" marL="0">
              <a:spcAft>
                <a:spcPts val="400"/>
              </a:spcAft>
              <a:buNone/>
            </a:pPr>
            <a:r>
              <a:rPr lang="en-US" sz="1400" b="1" dirty="0">
                <a:solidFill>
                  <a:srgbClr val="12324F"/>
                </a:solidFill>
                <a:latin typeface="Calibri" pitchFamily="34" charset="0"/>
                <a:ea typeface="Calibri" pitchFamily="34" charset="-122"/>
                <a:cs typeface="Calibri" pitchFamily="34" charset="-120"/>
              </a:rPr>
              <a:t>Check</a:t>
            </a:r>
            <a:endParaRPr lang="en-US" sz="1400" dirty="0"/>
          </a:p>
          <a:p>
            <a:pPr indent="0" marL="0">
              <a:spcAft>
                <a:spcPts val="400"/>
              </a:spcAft>
              <a:buNone/>
            </a:pPr>
            <a:r>
              <a:rPr lang="en-US" sz="1200" dirty="0">
                <a:solidFill>
                  <a:srgbClr val="17334B"/>
                </a:solidFill>
                <a:latin typeface="Calibri" pitchFamily="34" charset="0"/>
                <a:ea typeface="Calibri" pitchFamily="34" charset="-122"/>
                <a:cs typeface="Calibri" pitchFamily="34" charset="-120"/>
              </a:rPr>
              <a:t>Workbook A1d quick check: IaaS vs SaaS.</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548640" y="164592"/>
            <a:ext cx="914400" cy="310896"/>
          </a:xfrm>
          <a:prstGeom prst="roundRect">
            <a:avLst>
              <a:gd name="adj" fmla="val 23529"/>
            </a:avLst>
          </a:prstGeom>
          <a:solidFill>
            <a:srgbClr val="20857B"/>
          </a:solidFill>
          <a:ln w="12700">
            <a:solidFill>
              <a:srgbClr val="20857B"/>
            </a:solidFill>
            <a:prstDash val="solid"/>
          </a:ln>
        </p:spPr>
      </p:sp>
      <p:sp>
        <p:nvSpPr>
          <p:cNvPr id="3" name="Text 1"/>
          <p:cNvSpPr txBox="1"/>
          <p:nvPr/>
        </p:nvSpPr>
        <p:spPr>
          <a:xfrm>
            <a:off x="548640" y="164592"/>
            <a:ext cx="91440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A2</a:t>
            </a:r>
            <a:endParaRPr lang="en-US" sz="1200" dirty="0"/>
          </a:p>
        </p:txBody>
      </p:sp>
      <p:sp>
        <p:nvSpPr>
          <p:cNvPr id="4" name="Text 2"/>
          <p:cNvSpPr txBox="1"/>
          <p:nvPr/>
        </p:nvSpPr>
        <p:spPr>
          <a:xfrm>
            <a:off x="548640" y="502920"/>
            <a:ext cx="11094415" cy="731520"/>
          </a:xfrm>
          <a:prstGeom prst="rect">
            <a:avLst/>
          </a:prstGeom>
          <a:noFill/>
          <a:ln/>
        </p:spPr>
        <p:txBody>
          <a:bodyPr wrap="square" lIns="0" tIns="0" rIns="0" bIns="0" rtlCol="0" anchor="ctr"/>
          <a:lstStyle/>
          <a:p>
            <a:pPr indent="0" marL="0">
              <a:buNone/>
            </a:pPr>
            <a:r>
              <a:rPr lang="en-US" sz="2800" b="1" dirty="0">
                <a:solidFill>
                  <a:srgbClr val="17334B"/>
                </a:solidFill>
                <a:latin typeface="Cambria" pitchFamily="34" charset="0"/>
                <a:ea typeface="Cambria" pitchFamily="34" charset="-122"/>
                <a:cs typeface="Cambria" pitchFamily="34" charset="-120"/>
              </a:rPr>
              <a:t>Network hardware</a:t>
            </a:r>
            <a:endParaRPr lang="en-US" sz="2800" dirty="0"/>
          </a:p>
        </p:txBody>
      </p:sp>
      <p:sp>
        <p:nvSpPr>
          <p:cNvPr id="5" name="Text 3"/>
          <p:cNvSpPr txBox="1"/>
          <p:nvPr/>
        </p:nvSpPr>
        <p:spPr>
          <a:xfrm>
            <a:off x="548640" y="1188720"/>
            <a:ext cx="4937760" cy="548640"/>
          </a:xfrm>
          <a:prstGeom prst="rect">
            <a:avLst/>
          </a:prstGeom>
          <a:noFill/>
          <a:ln/>
        </p:spPr>
        <p:txBody>
          <a:bodyPr wrap="square" lIns="0" tIns="0" rIns="0" bIns="0" rtlCol="0" anchor="t"/>
          <a:lstStyle/>
          <a:p>
            <a:pPr indent="0" marL="0">
              <a:buNone/>
            </a:pPr>
            <a:r>
              <a:rPr lang="en-US" sz="1400" i="1" dirty="0">
                <a:solidFill>
                  <a:srgbClr val="4F6577"/>
                </a:solidFill>
                <a:latin typeface="Calibri" pitchFamily="34" charset="0"/>
                <a:ea typeface="Calibri" pitchFamily="34" charset="-122"/>
                <a:cs typeface="Calibri" pitchFamily="34" charset="-120"/>
              </a:rPr>
              <a:t>Aim: identify the function and characteristics of network hardware</a:t>
            </a:r>
            <a:endParaRPr lang="en-US" sz="1400" dirty="0"/>
          </a:p>
        </p:txBody>
      </p:sp>
      <p:sp>
        <p:nvSpPr>
          <p:cNvPr id="6" name="Text 4"/>
          <p:cNvSpPr txBox="1"/>
          <p:nvPr/>
        </p:nvSpPr>
        <p:spPr>
          <a:xfrm>
            <a:off x="548640" y="1783080"/>
            <a:ext cx="4846320" cy="3108960"/>
          </a:xfrm>
          <a:prstGeom prst="rect">
            <a:avLst/>
          </a:prstGeom>
          <a:noFill/>
          <a:ln/>
        </p:spPr>
        <p:txBody>
          <a:bodyPr wrap="square" lIns="635" tIns="635" rIns="635" bIns="635" rtlCol="0" anchor="t"/>
          <a:lstStyle/>
          <a:p>
            <a:pPr marL="342900" indent="-342900">
              <a:spcAft>
                <a:spcPts val="600"/>
              </a:spcAft>
              <a:buSzPct val="100000"/>
              <a:buChar char="•"/>
            </a:pPr>
            <a:r>
              <a:rPr lang="en-US" sz="1600" dirty="0">
                <a:solidFill>
                  <a:srgbClr val="17334B"/>
                </a:solidFill>
                <a:latin typeface="Calibri" pitchFamily="34" charset="0"/>
                <a:ea typeface="Calibri" pitchFamily="34" charset="-122"/>
                <a:cs typeface="Calibri" pitchFamily="34" charset="-120"/>
              </a:rPr>
              <a:t>End devices create and use data; each NIC has a MAC address</a:t>
            </a:r>
            <a:endParaRPr lang="en-US" sz="1600" dirty="0"/>
          </a:p>
          <a:p>
            <a:pPr marL="342900" indent="-342900">
              <a:spcAft>
                <a:spcPts val="600"/>
              </a:spcAft>
              <a:buSzPct val="100000"/>
              <a:buChar char="•"/>
            </a:pPr>
            <a:r>
              <a:rPr lang="en-US" sz="1600" dirty="0">
                <a:solidFill>
                  <a:srgbClr val="17334B"/>
                </a:solidFill>
                <a:latin typeface="Calibri" pitchFamily="34" charset="0"/>
                <a:ea typeface="Calibri" pitchFamily="34" charset="-122"/>
                <a:cs typeface="Calibri" pitchFamily="34" charset="-120"/>
              </a:rPr>
              <a:t>Switch: layer 2, learns MACs, forwards frames to one port</a:t>
            </a:r>
            <a:endParaRPr lang="en-US" sz="1600" dirty="0"/>
          </a:p>
          <a:p>
            <a:pPr marL="342900" indent="-342900">
              <a:spcAft>
                <a:spcPts val="600"/>
              </a:spcAft>
              <a:buSzPct val="100000"/>
              <a:buChar char="•"/>
            </a:pPr>
            <a:r>
              <a:rPr lang="en-US" sz="1600" dirty="0">
                <a:solidFill>
                  <a:srgbClr val="17334B"/>
                </a:solidFill>
                <a:latin typeface="Calibri" pitchFamily="34" charset="0"/>
                <a:ea typeface="Calibri" pitchFamily="34" charset="-122"/>
                <a:cs typeface="Calibri" pitchFamily="34" charset="-120"/>
              </a:rPr>
              <a:t>Router: layer 3, routing table, static or dynamic routes</a:t>
            </a:r>
            <a:endParaRPr lang="en-US" sz="1600" dirty="0"/>
          </a:p>
          <a:p>
            <a:pPr marL="342900" indent="-342900">
              <a:spcAft>
                <a:spcPts val="600"/>
              </a:spcAft>
              <a:buSzPct val="100000"/>
              <a:buChar char="•"/>
            </a:pPr>
            <a:r>
              <a:rPr lang="en-US" sz="1600" dirty="0">
                <a:solidFill>
                  <a:srgbClr val="17334B"/>
                </a:solidFill>
                <a:latin typeface="Calibri" pitchFamily="34" charset="0"/>
                <a:ea typeface="Calibri" pitchFamily="34" charset="-122"/>
                <a:cs typeface="Calibri" pitchFamily="34" charset="-120"/>
              </a:rPr>
              <a:t>Access point: SSID, 802.11 standard, WPA2/WPA3</a:t>
            </a:r>
            <a:endParaRPr lang="en-US" sz="1600" dirty="0"/>
          </a:p>
          <a:p>
            <a:pPr marL="342900" indent="-342900">
              <a:spcAft>
                <a:spcPts val="600"/>
              </a:spcAft>
              <a:buSzPct val="100000"/>
              <a:buChar char="•"/>
            </a:pPr>
            <a:r>
              <a:rPr lang="en-US" sz="1600" dirty="0">
                <a:solidFill>
                  <a:srgbClr val="17334B"/>
                </a:solidFill>
                <a:latin typeface="Calibri" pitchFamily="34" charset="0"/>
                <a:ea typeface="Calibri" pitchFamily="34" charset="-122"/>
                <a:cs typeface="Calibri" pitchFamily="34" charset="-120"/>
              </a:rPr>
              <a:t>Media: UTP 100 m, fibre for distance and speed, wireless for mobility</a:t>
            </a:r>
            <a:endParaRPr lang="en-US" sz="1600" dirty="0"/>
          </a:p>
        </p:txBody>
      </p:sp>
      <p:pic>
        <p:nvPicPr>
          <p:cNvPr id="7" name="Image 0" descr="/private/tmp/claude-501/-Users-johnaikeremiokha-code-Claude-Project/bf844d04-1b41-4e28-bbaa-8211504dbf91/scratchpad/deck/figs/devices_fig.png">    </p:cNvPr>
          <p:cNvPicPr>
            <a:picLocks noChangeAspect="1"/>
          </p:cNvPicPr>
          <p:nvPr/>
        </p:nvPicPr>
        <p:blipFill>
          <a:blip r:embed="rId1"/>
          <a:stretch>
            <a:fillRect/>
          </a:stretch>
        </p:blipFill>
        <p:spPr>
          <a:xfrm>
            <a:off x="5715000" y="1188720"/>
            <a:ext cx="5925312" cy="1871151"/>
          </a:xfrm>
          <a:prstGeom prst="rect">
            <a:avLst/>
          </a:prstGeom>
        </p:spPr>
      </p:pic>
      <p:pic>
        <p:nvPicPr>
          <p:cNvPr id="8" name="Image 1" descr="/private/tmp/claude-501/-Users-johnaikeremiokha-code-Claude-Project/bf844d04-1b41-4e28-bbaa-8211504dbf91/scratchpad/deck/figs/switch_fig.png">    </p:cNvPr>
          <p:cNvPicPr>
            <a:picLocks noChangeAspect="1"/>
          </p:cNvPicPr>
          <p:nvPr/>
        </p:nvPicPr>
        <p:blipFill>
          <a:blip r:embed="rId2"/>
          <a:stretch>
            <a:fillRect/>
          </a:stretch>
        </p:blipFill>
        <p:spPr>
          <a:xfrm>
            <a:off x="6227064" y="3169599"/>
            <a:ext cx="4901184" cy="1676721"/>
          </a:xfrm>
          <a:prstGeom prst="rect">
            <a:avLst/>
          </a:prstGeom>
        </p:spPr>
      </p:pic>
      <p:sp>
        <p:nvSpPr>
          <p:cNvPr id="9" name="Shape 5"/>
          <p:cNvSpPr/>
          <p:nvPr/>
        </p:nvSpPr>
        <p:spPr>
          <a:xfrm>
            <a:off x="548640" y="5074920"/>
            <a:ext cx="3515258" cy="1234440"/>
          </a:xfrm>
          <a:prstGeom prst="roundRect">
            <a:avLst>
              <a:gd name="adj" fmla="val 7407"/>
            </a:avLst>
          </a:prstGeom>
          <a:solidFill>
            <a:srgbClr val="EAF2F9"/>
          </a:solidFill>
          <a:ln w="12700">
            <a:solidFill>
              <a:srgbClr val="EAF2F9"/>
            </a:solidFill>
            <a:prstDash val="solid"/>
          </a:ln>
        </p:spPr>
      </p:sp>
      <p:sp>
        <p:nvSpPr>
          <p:cNvPr id="10" name="Text 6"/>
          <p:cNvSpPr txBox="1"/>
          <p:nvPr/>
        </p:nvSpPr>
        <p:spPr>
          <a:xfrm>
            <a:off x="713232" y="5184648"/>
            <a:ext cx="3186074" cy="1014984"/>
          </a:xfrm>
          <a:prstGeom prst="rect">
            <a:avLst/>
          </a:prstGeom>
          <a:noFill/>
          <a:ln/>
        </p:spPr>
        <p:txBody>
          <a:bodyPr wrap="square" lIns="0" tIns="0" rIns="0" bIns="0" rtlCol="0" anchor="t"/>
          <a:lstStyle/>
          <a:p>
            <a:pPr indent="0" marL="0">
              <a:spcAft>
                <a:spcPts val="400"/>
              </a:spcAft>
              <a:buNone/>
            </a:pPr>
            <a:r>
              <a:rPr lang="en-US" sz="1400" b="1" dirty="0">
                <a:solidFill>
                  <a:srgbClr val="12324F"/>
                </a:solidFill>
                <a:latin typeface="Calibri" pitchFamily="34" charset="0"/>
                <a:ea typeface="Calibri" pitchFamily="34" charset="-122"/>
                <a:cs typeface="Calibri" pitchFamily="34" charset="-120"/>
              </a:rPr>
              <a:t>Starter</a:t>
            </a:r>
            <a:endParaRPr lang="en-US" sz="1400" dirty="0"/>
          </a:p>
          <a:p>
            <a:pPr indent="0" marL="0">
              <a:spcAft>
                <a:spcPts val="400"/>
              </a:spcAft>
              <a:buNone/>
            </a:pPr>
            <a:r>
              <a:rPr lang="en-US" sz="1200" dirty="0">
                <a:solidFill>
                  <a:srgbClr val="17334B"/>
                </a:solidFill>
                <a:latin typeface="Calibri" pitchFamily="34" charset="0"/>
                <a:ea typeface="Calibri" pitchFamily="34" charset="-122"/>
                <a:cs typeface="Calibri" pitchFamily="34" charset="-120"/>
              </a:rPr>
              <a:t>How many end devices can you name in 60 seconds?</a:t>
            </a:r>
            <a:endParaRPr lang="en-US" sz="1400" dirty="0"/>
          </a:p>
        </p:txBody>
      </p:sp>
      <p:sp>
        <p:nvSpPr>
          <p:cNvPr id="11" name="Shape 7"/>
          <p:cNvSpPr/>
          <p:nvPr/>
        </p:nvSpPr>
        <p:spPr>
          <a:xfrm>
            <a:off x="4338218" y="5074920"/>
            <a:ext cx="3515258" cy="1234440"/>
          </a:xfrm>
          <a:prstGeom prst="roundRect">
            <a:avLst>
              <a:gd name="adj" fmla="val 7407"/>
            </a:avLst>
          </a:prstGeom>
          <a:solidFill>
            <a:srgbClr val="E6F4F1"/>
          </a:solidFill>
          <a:ln w="12700">
            <a:solidFill>
              <a:srgbClr val="E6F4F1"/>
            </a:solidFill>
            <a:prstDash val="solid"/>
          </a:ln>
        </p:spPr>
      </p:sp>
      <p:sp>
        <p:nvSpPr>
          <p:cNvPr id="12" name="Text 8"/>
          <p:cNvSpPr txBox="1"/>
          <p:nvPr/>
        </p:nvSpPr>
        <p:spPr>
          <a:xfrm>
            <a:off x="4502810" y="5184648"/>
            <a:ext cx="3186074" cy="1014984"/>
          </a:xfrm>
          <a:prstGeom prst="rect">
            <a:avLst/>
          </a:prstGeom>
          <a:noFill/>
          <a:ln/>
        </p:spPr>
        <p:txBody>
          <a:bodyPr wrap="square" lIns="0" tIns="0" rIns="0" bIns="0" rtlCol="0" anchor="t"/>
          <a:lstStyle/>
          <a:p>
            <a:pPr indent="0" marL="0">
              <a:spcAft>
                <a:spcPts val="400"/>
              </a:spcAft>
              <a:buNone/>
            </a:pPr>
            <a:r>
              <a:rPr lang="en-US" sz="1400" b="1" dirty="0">
                <a:solidFill>
                  <a:srgbClr val="12324F"/>
                </a:solidFill>
                <a:latin typeface="Calibri" pitchFamily="34" charset="0"/>
                <a:ea typeface="Calibri" pitchFamily="34" charset="-122"/>
                <a:cs typeface="Calibri" pitchFamily="34" charset="-120"/>
              </a:rPr>
              <a:t>Practical</a:t>
            </a:r>
            <a:endParaRPr lang="en-US" sz="1400" dirty="0"/>
          </a:p>
          <a:p>
            <a:pPr indent="0" marL="0">
              <a:spcAft>
                <a:spcPts val="400"/>
              </a:spcAft>
              <a:buNone/>
            </a:pPr>
            <a:r>
              <a:rPr lang="en-US" sz="1200" dirty="0">
                <a:solidFill>
                  <a:srgbClr val="17334B"/>
                </a:solidFill>
                <a:latin typeface="Calibri" pitchFamily="34" charset="0"/>
                <a:ea typeface="Calibri" pitchFamily="34" charset="-122"/>
                <a:cs typeface="Calibri" pitchFamily="34" charset="-120"/>
              </a:rPr>
              <a:t>Lab 2 and show mac address-table: watch a switch learn.</a:t>
            </a:r>
            <a:endParaRPr lang="en-US" sz="1400" dirty="0"/>
          </a:p>
        </p:txBody>
      </p:sp>
      <p:sp>
        <p:nvSpPr>
          <p:cNvPr id="13" name="Shape 9"/>
          <p:cNvSpPr/>
          <p:nvPr/>
        </p:nvSpPr>
        <p:spPr>
          <a:xfrm>
            <a:off x="8127797" y="5074920"/>
            <a:ext cx="3515258" cy="1234440"/>
          </a:xfrm>
          <a:prstGeom prst="roundRect">
            <a:avLst>
              <a:gd name="adj" fmla="val 7407"/>
            </a:avLst>
          </a:prstGeom>
          <a:solidFill>
            <a:srgbClr val="FDF1E7"/>
          </a:solidFill>
          <a:ln w="12700">
            <a:solidFill>
              <a:srgbClr val="FDF1E7"/>
            </a:solidFill>
            <a:prstDash val="solid"/>
          </a:ln>
        </p:spPr>
      </p:sp>
      <p:sp>
        <p:nvSpPr>
          <p:cNvPr id="14" name="Text 10"/>
          <p:cNvSpPr txBox="1"/>
          <p:nvPr/>
        </p:nvSpPr>
        <p:spPr>
          <a:xfrm>
            <a:off x="8292389" y="5184648"/>
            <a:ext cx="3186074" cy="1014984"/>
          </a:xfrm>
          <a:prstGeom prst="rect">
            <a:avLst/>
          </a:prstGeom>
          <a:noFill/>
          <a:ln/>
        </p:spPr>
        <p:txBody>
          <a:bodyPr wrap="square" lIns="0" tIns="0" rIns="0" bIns="0" rtlCol="0" anchor="t"/>
          <a:lstStyle/>
          <a:p>
            <a:pPr indent="0" marL="0">
              <a:spcAft>
                <a:spcPts val="400"/>
              </a:spcAft>
              <a:buNone/>
            </a:pPr>
            <a:r>
              <a:rPr lang="en-US" sz="1400" b="1" dirty="0">
                <a:solidFill>
                  <a:srgbClr val="12324F"/>
                </a:solidFill>
                <a:latin typeface="Calibri" pitchFamily="34" charset="0"/>
                <a:ea typeface="Calibri" pitchFamily="34" charset="-122"/>
                <a:cs typeface="Calibri" pitchFamily="34" charset="-120"/>
              </a:rPr>
              <a:t>Task</a:t>
            </a:r>
            <a:endParaRPr lang="en-US" sz="1400" dirty="0"/>
          </a:p>
          <a:p>
            <a:pPr indent="0" marL="0">
              <a:spcAft>
                <a:spcPts val="400"/>
              </a:spcAft>
              <a:buNone/>
            </a:pPr>
            <a:r>
              <a:rPr lang="en-US" sz="1200" dirty="0">
                <a:solidFill>
                  <a:srgbClr val="17334B"/>
                </a:solidFill>
                <a:latin typeface="Calibri" pitchFamily="34" charset="0"/>
                <a:ea typeface="Calibri" pitchFamily="34" charset="-122"/>
                <a:cs typeface="Calibri" pitchFamily="34" charset="-120"/>
              </a:rPr>
              <a:t>Component table rows: function + characteristics (A.P2 practice).</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548640" y="164592"/>
            <a:ext cx="914400" cy="310896"/>
          </a:xfrm>
          <a:prstGeom prst="roundRect">
            <a:avLst>
              <a:gd name="adj" fmla="val 23529"/>
            </a:avLst>
          </a:prstGeom>
          <a:solidFill>
            <a:srgbClr val="20857B"/>
          </a:solidFill>
          <a:ln w="12700">
            <a:solidFill>
              <a:srgbClr val="20857B"/>
            </a:solidFill>
            <a:prstDash val="solid"/>
          </a:ln>
        </p:spPr>
      </p:sp>
      <p:sp>
        <p:nvSpPr>
          <p:cNvPr id="3" name="Text 1"/>
          <p:cNvSpPr txBox="1"/>
          <p:nvPr/>
        </p:nvSpPr>
        <p:spPr>
          <a:xfrm>
            <a:off x="548640" y="164592"/>
            <a:ext cx="91440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A2</a:t>
            </a:r>
            <a:endParaRPr lang="en-US" sz="1200" dirty="0"/>
          </a:p>
        </p:txBody>
      </p:sp>
      <p:sp>
        <p:nvSpPr>
          <p:cNvPr id="4" name="Text 2"/>
          <p:cNvSpPr txBox="1"/>
          <p:nvPr/>
        </p:nvSpPr>
        <p:spPr>
          <a:xfrm>
            <a:off x="548640" y="502920"/>
            <a:ext cx="11094415" cy="731520"/>
          </a:xfrm>
          <a:prstGeom prst="rect">
            <a:avLst/>
          </a:prstGeom>
          <a:noFill/>
          <a:ln/>
        </p:spPr>
        <p:txBody>
          <a:bodyPr wrap="square" lIns="0" tIns="0" rIns="0" bIns="0" rtlCol="0" anchor="ctr"/>
          <a:lstStyle/>
          <a:p>
            <a:pPr indent="0" marL="0">
              <a:buNone/>
            </a:pPr>
            <a:r>
              <a:rPr lang="en-US" sz="2800" b="1" dirty="0">
                <a:solidFill>
                  <a:srgbClr val="17334B"/>
                </a:solidFill>
                <a:latin typeface="Cambria" pitchFamily="34" charset="0"/>
                <a:ea typeface="Cambria" pitchFamily="34" charset="-122"/>
                <a:cs typeface="Cambria" pitchFamily="34" charset="-120"/>
              </a:rPr>
              <a:t>Network software and tools</a:t>
            </a:r>
            <a:endParaRPr lang="en-US" sz="2800" dirty="0"/>
          </a:p>
        </p:txBody>
      </p:sp>
      <p:sp>
        <p:nvSpPr>
          <p:cNvPr id="5" name="Text 3"/>
          <p:cNvSpPr txBox="1"/>
          <p:nvPr/>
        </p:nvSpPr>
        <p:spPr>
          <a:xfrm>
            <a:off x="548640" y="1188720"/>
            <a:ext cx="11094415" cy="365760"/>
          </a:xfrm>
          <a:prstGeom prst="rect">
            <a:avLst/>
          </a:prstGeom>
          <a:noFill/>
          <a:ln/>
        </p:spPr>
        <p:txBody>
          <a:bodyPr wrap="square" lIns="0" tIns="0" rIns="0" bIns="0" rtlCol="0" anchor="ctr"/>
          <a:lstStyle/>
          <a:p>
            <a:pPr indent="0" marL="0">
              <a:buNone/>
            </a:pPr>
            <a:r>
              <a:rPr lang="en-US" sz="1500" i="1" dirty="0">
                <a:solidFill>
                  <a:srgbClr val="4F6577"/>
                </a:solidFill>
                <a:latin typeface="Calibri" pitchFamily="34" charset="0"/>
                <a:ea typeface="Calibri" pitchFamily="34" charset="-122"/>
                <a:cs typeface="Calibri" pitchFamily="34" charset="-120"/>
              </a:rPr>
              <a:t>Aim: identify networking software, monitoring and troubleshooting tools, and network applications</a:t>
            </a:r>
            <a:endParaRPr lang="en-US" sz="15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6949440" cy="914400"/>
        </p:xfrm>
        <a:graphic>
          <a:graphicData uri="http://schemas.openxmlformats.org/drawingml/2006/table">
            <a:tbl>
              <a:tblPr/>
              <a:tblGrid>
                <a:gridCol w="1920240"/>
                <a:gridCol w="2743200"/>
                <a:gridCol w="2286000"/>
              </a:tblGrid>
              <a:tr h="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Tool</a:t>
                      </a:r>
                      <a:endParaRPr lang="en-US" sz="1300" dirty="0">
                        <a:latin typeface="Calibri" charset="0"/>
                        <a:ea typeface="Calibri" charset="0"/>
                        <a:cs typeface="Calibri" charset="0"/>
                      </a:endParaRPr>
                    </a:p>
                  </a:txBody>
                  <a:tcPr marL="54864" marR="54864" marT="54864" marB="54864">
                    <a:lnL w="12700" cap="flat" cmpd="sng" algn="ctr">
                      <a:solidFill>
                        <a:srgbClr val="C9D7E3"/>
                      </a:solidFill>
                      <a:prstDash val="solid"/>
                      <a:round/>
                      <a:headEnd type="none" w="med" len="med"/>
                      <a:tailEnd type="none" w="med" len="med"/>
                    </a:lnL>
                    <a:lnR w="12700" cap="flat" cmpd="sng" algn="ctr">
                      <a:solidFill>
                        <a:srgbClr val="C9D7E3"/>
                      </a:solidFill>
                      <a:prstDash val="solid"/>
                      <a:round/>
                      <a:headEnd type="none" w="med" len="med"/>
                      <a:tailEnd type="none" w="med" len="med"/>
                    </a:lnR>
                    <a:lnT w="12700" cap="flat" cmpd="sng" algn="ctr">
                      <a:solidFill>
                        <a:srgbClr val="C9D7E3"/>
                      </a:solidFill>
                      <a:prstDash val="solid"/>
                      <a:round/>
                      <a:headEnd type="none" w="med" len="med"/>
                      <a:tailEnd type="none" w="med" len="med"/>
                    </a:lnT>
                    <a:lnB w="12700" cap="flat" cmpd="sng" algn="ctr">
                      <a:solidFill>
                        <a:srgbClr val="C9D7E3"/>
                      </a:solidFill>
                      <a:prstDash val="solid"/>
                      <a:round/>
                      <a:headEnd type="none" w="med" len="med"/>
                      <a:tailEnd type="none" w="med" len="med"/>
                    </a:lnB>
                    <a:solidFill>
                      <a:srgbClr val="12324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What it tells you</a:t>
                      </a:r>
                      <a:endParaRPr lang="en-US" sz="1300" dirty="0">
                        <a:latin typeface="Calibri" charset="0"/>
                        <a:ea typeface="Calibri" charset="0"/>
                        <a:cs typeface="Calibri" charset="0"/>
                      </a:endParaRPr>
                    </a:p>
                  </a:txBody>
                  <a:tcPr marL="54864" marR="54864" marT="54864" marB="54864">
                    <a:lnL w="12700" cap="flat" cmpd="sng" algn="ctr">
                      <a:solidFill>
                        <a:srgbClr val="C9D7E3"/>
                      </a:solidFill>
                      <a:prstDash val="solid"/>
                      <a:round/>
                      <a:headEnd type="none" w="med" len="med"/>
                      <a:tailEnd type="none" w="med" len="med"/>
                    </a:lnL>
                    <a:lnR w="12700" cap="flat" cmpd="sng" algn="ctr">
                      <a:solidFill>
                        <a:srgbClr val="C9D7E3"/>
                      </a:solidFill>
                      <a:prstDash val="solid"/>
                      <a:round/>
                      <a:headEnd type="none" w="med" len="med"/>
                      <a:tailEnd type="none" w="med" len="med"/>
                    </a:lnR>
                    <a:lnT w="12700" cap="flat" cmpd="sng" algn="ctr">
                      <a:solidFill>
                        <a:srgbClr val="C9D7E3"/>
                      </a:solidFill>
                      <a:prstDash val="solid"/>
                      <a:round/>
                      <a:headEnd type="none" w="med" len="med"/>
                      <a:tailEnd type="none" w="med" len="med"/>
                    </a:lnT>
                    <a:lnB w="12700" cap="flat" cmpd="sng" algn="ctr">
                      <a:solidFill>
                        <a:srgbClr val="C9D7E3"/>
                      </a:solidFill>
                      <a:prstDash val="solid"/>
                      <a:round/>
                      <a:headEnd type="none" w="med" len="med"/>
                      <a:tailEnd type="none" w="med" len="med"/>
                    </a:lnB>
                    <a:solidFill>
                      <a:srgbClr val="12324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Classroom use</a:t>
                      </a:r>
                      <a:endParaRPr lang="en-US" sz="1300" dirty="0">
                        <a:latin typeface="Calibri" charset="0"/>
                        <a:ea typeface="Calibri" charset="0"/>
                        <a:cs typeface="Calibri" charset="0"/>
                      </a:endParaRPr>
                    </a:p>
                  </a:txBody>
                  <a:tcPr marL="54864" marR="54864" marT="54864" marB="54864">
                    <a:lnL w="12700" cap="flat" cmpd="sng" algn="ctr">
                      <a:solidFill>
                        <a:srgbClr val="C9D7E3"/>
                      </a:solidFill>
                      <a:prstDash val="solid"/>
                      <a:round/>
                      <a:headEnd type="none" w="med" len="med"/>
                      <a:tailEnd type="none" w="med" len="med"/>
                    </a:lnL>
                    <a:lnR w="12700" cap="flat" cmpd="sng" algn="ctr">
                      <a:solidFill>
                        <a:srgbClr val="C9D7E3"/>
                      </a:solidFill>
                      <a:prstDash val="solid"/>
                      <a:round/>
                      <a:headEnd type="none" w="med" len="med"/>
                      <a:tailEnd type="none" w="med" len="med"/>
                    </a:lnR>
                    <a:lnT w="12700" cap="flat" cmpd="sng" algn="ctr">
                      <a:solidFill>
                        <a:srgbClr val="C9D7E3"/>
                      </a:solidFill>
                      <a:prstDash val="solid"/>
                      <a:round/>
                      <a:headEnd type="none" w="med" len="med"/>
                      <a:tailEnd type="none" w="med" len="med"/>
                    </a:lnT>
                    <a:lnB w="12700" cap="flat" cmpd="sng" algn="ctr">
                      <a:solidFill>
                        <a:srgbClr val="C9D7E3"/>
                      </a:solidFill>
                      <a:prstDash val="solid"/>
                      <a:round/>
                      <a:headEnd type="none" w="med" len="med"/>
                      <a:tailEnd type="none" w="med" len="med"/>
                    </a:lnB>
                    <a:solidFill>
                      <a:srgbClr val="12324F"/>
                    </a:solidFill>
                  </a:tcPr>
                </a:tc>
              </a:tr>
              <a:tr h="0">
                <a:tc>
                  <a:txBody>
                    <a:bodyPr/>
                    <a:lstStyle/>
                    <a:p>
                      <a:pPr indent="0" marL="0">
                        <a:buNone/>
                      </a:pPr>
                      <a:r>
                        <a:rPr lang="en-US" sz="1300" dirty="0">
                          <a:solidFill>
                            <a:srgbClr val="17334B"/>
                          </a:solidFill>
                          <a:latin typeface="Calibri" pitchFamily="34" charset="0"/>
                          <a:ea typeface="Calibri" pitchFamily="34" charset="-122"/>
                          <a:cs typeface="Calibri" pitchFamily="34" charset="-120"/>
                        </a:rPr>
                        <a:t>ping</a:t>
                      </a:r>
                      <a:endParaRPr lang="en-US" sz="1300" dirty="0">
                        <a:latin typeface="Calibri" charset="0"/>
                        <a:ea typeface="Calibri" charset="0"/>
                        <a:cs typeface="Calibri" charset="0"/>
                      </a:endParaRPr>
                    </a:p>
                  </a:txBody>
                  <a:tcPr marL="54864" marR="54864" marT="54864" marB="54864">
                    <a:lnL w="12700" cap="flat" cmpd="sng" algn="ctr">
                      <a:solidFill>
                        <a:srgbClr val="C9D7E3"/>
                      </a:solidFill>
                      <a:prstDash val="solid"/>
                      <a:round/>
                      <a:headEnd type="none" w="med" len="med"/>
                      <a:tailEnd type="none" w="med" len="med"/>
                    </a:lnL>
                    <a:lnR w="12700" cap="flat" cmpd="sng" algn="ctr">
                      <a:solidFill>
                        <a:srgbClr val="C9D7E3"/>
                      </a:solidFill>
                      <a:prstDash val="solid"/>
                      <a:round/>
                      <a:headEnd type="none" w="med" len="med"/>
                      <a:tailEnd type="none" w="med" len="med"/>
                    </a:lnR>
                    <a:lnT w="12700" cap="flat" cmpd="sng" algn="ctr">
                      <a:solidFill>
                        <a:srgbClr val="C9D7E3"/>
                      </a:solidFill>
                      <a:prstDash val="solid"/>
                      <a:round/>
                      <a:headEnd type="none" w="med" len="med"/>
                      <a:tailEnd type="none" w="med" len="med"/>
                    </a:lnT>
                    <a:lnB w="12700" cap="flat" cmpd="sng" algn="ctr">
                      <a:solidFill>
                        <a:srgbClr val="C9D7E3"/>
                      </a:solidFill>
                      <a:prstDash val="solid"/>
                      <a:round/>
                      <a:headEnd type="none" w="med" len="med"/>
                      <a:tailEnd type="none" w="med" len="med"/>
                    </a:lnB>
                    <a:solidFill>
                      <a:srgbClr val="FFFFFF"/>
                    </a:solidFill>
                  </a:tcPr>
                </a:tc>
                <a:tc>
                  <a:txBody>
                    <a:bodyPr/>
                    <a:lstStyle/>
                    <a:p>
                      <a:pPr indent="0" marL="0">
                        <a:buNone/>
                      </a:pPr>
                      <a:r>
                        <a:rPr lang="en-US" sz="1300" dirty="0">
                          <a:solidFill>
                            <a:srgbClr val="17334B"/>
                          </a:solidFill>
                          <a:latin typeface="Calibri" pitchFamily="34" charset="0"/>
                          <a:ea typeface="Calibri" pitchFamily="34" charset="-122"/>
                          <a:cs typeface="Calibri" pitchFamily="34" charset="-120"/>
                        </a:rPr>
                        <a:t>can a device be reached, and how fast</a:t>
                      </a:r>
                      <a:endParaRPr lang="en-US" sz="1300" dirty="0">
                        <a:latin typeface="Calibri" charset="0"/>
                        <a:ea typeface="Calibri" charset="0"/>
                        <a:cs typeface="Calibri" charset="0"/>
                      </a:endParaRPr>
                    </a:p>
                  </a:txBody>
                  <a:tcPr marL="54864" marR="54864" marT="54864" marB="54864">
                    <a:lnL w="12700" cap="flat" cmpd="sng" algn="ctr">
                      <a:solidFill>
                        <a:srgbClr val="C9D7E3"/>
                      </a:solidFill>
                      <a:prstDash val="solid"/>
                      <a:round/>
                      <a:headEnd type="none" w="med" len="med"/>
                      <a:tailEnd type="none" w="med" len="med"/>
                    </a:lnL>
                    <a:lnR w="12700" cap="flat" cmpd="sng" algn="ctr">
                      <a:solidFill>
                        <a:srgbClr val="C9D7E3"/>
                      </a:solidFill>
                      <a:prstDash val="solid"/>
                      <a:round/>
                      <a:headEnd type="none" w="med" len="med"/>
                      <a:tailEnd type="none" w="med" len="med"/>
                    </a:lnR>
                    <a:lnT w="12700" cap="flat" cmpd="sng" algn="ctr">
                      <a:solidFill>
                        <a:srgbClr val="C9D7E3"/>
                      </a:solidFill>
                      <a:prstDash val="solid"/>
                      <a:round/>
                      <a:headEnd type="none" w="med" len="med"/>
                      <a:tailEnd type="none" w="med" len="med"/>
                    </a:lnT>
                    <a:lnB w="12700" cap="flat" cmpd="sng" algn="ctr">
                      <a:solidFill>
                        <a:srgbClr val="C9D7E3"/>
                      </a:solidFill>
                      <a:prstDash val="solid"/>
                      <a:round/>
                      <a:headEnd type="none" w="med" len="med"/>
                      <a:tailEnd type="none" w="med" len="med"/>
                    </a:lnB>
                    <a:solidFill>
                      <a:srgbClr val="FFFFFF"/>
                    </a:solidFill>
                  </a:tcPr>
                </a:tc>
                <a:tc>
                  <a:txBody>
                    <a:bodyPr/>
                    <a:lstStyle/>
                    <a:p>
                      <a:pPr indent="0" marL="0">
                        <a:buNone/>
                      </a:pPr>
                      <a:r>
                        <a:rPr lang="en-US" sz="1300" dirty="0">
                          <a:solidFill>
                            <a:srgbClr val="17334B"/>
                          </a:solidFill>
                          <a:latin typeface="Calibri" pitchFamily="34" charset="0"/>
                          <a:ea typeface="Calibri" pitchFamily="34" charset="-122"/>
                          <a:cs typeface="Calibri" pitchFamily="34" charset="-120"/>
                        </a:rPr>
                        <a:t>test gateway, server, other site</a:t>
                      </a:r>
                      <a:endParaRPr lang="en-US" sz="1300" dirty="0">
                        <a:latin typeface="Calibri" charset="0"/>
                        <a:ea typeface="Calibri" charset="0"/>
                        <a:cs typeface="Calibri" charset="0"/>
                      </a:endParaRPr>
                    </a:p>
                  </a:txBody>
                  <a:tcPr marL="54864" marR="54864" marT="54864" marB="54864">
                    <a:lnL w="12700" cap="flat" cmpd="sng" algn="ctr">
                      <a:solidFill>
                        <a:srgbClr val="C9D7E3"/>
                      </a:solidFill>
                      <a:prstDash val="solid"/>
                      <a:round/>
                      <a:headEnd type="none" w="med" len="med"/>
                      <a:tailEnd type="none" w="med" len="med"/>
                    </a:lnL>
                    <a:lnR w="12700" cap="flat" cmpd="sng" algn="ctr">
                      <a:solidFill>
                        <a:srgbClr val="C9D7E3"/>
                      </a:solidFill>
                      <a:prstDash val="solid"/>
                      <a:round/>
                      <a:headEnd type="none" w="med" len="med"/>
                      <a:tailEnd type="none" w="med" len="med"/>
                    </a:lnR>
                    <a:lnT w="12700" cap="flat" cmpd="sng" algn="ctr">
                      <a:solidFill>
                        <a:srgbClr val="C9D7E3"/>
                      </a:solidFill>
                      <a:prstDash val="solid"/>
                      <a:round/>
                      <a:headEnd type="none" w="med" len="med"/>
                      <a:tailEnd type="none" w="med" len="med"/>
                    </a:lnT>
                    <a:lnB w="12700" cap="flat" cmpd="sng" algn="ctr">
                      <a:solidFill>
                        <a:srgbClr val="C9D7E3"/>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17334B"/>
                          </a:solidFill>
                          <a:latin typeface="Calibri" pitchFamily="34" charset="0"/>
                          <a:ea typeface="Calibri" pitchFamily="34" charset="-122"/>
                          <a:cs typeface="Calibri" pitchFamily="34" charset="-120"/>
                        </a:rPr>
                        <a:t>tracert / traceroute</a:t>
                      </a:r>
                      <a:endParaRPr lang="en-US" sz="1300" dirty="0">
                        <a:latin typeface="Calibri" charset="0"/>
                        <a:ea typeface="Calibri" charset="0"/>
                        <a:cs typeface="Calibri" charset="0"/>
                      </a:endParaRPr>
                    </a:p>
                  </a:txBody>
                  <a:tcPr marL="54864" marR="54864" marT="54864" marB="54864">
                    <a:lnL w="12700" cap="flat" cmpd="sng" algn="ctr">
                      <a:solidFill>
                        <a:srgbClr val="C9D7E3"/>
                      </a:solidFill>
                      <a:prstDash val="solid"/>
                      <a:round/>
                      <a:headEnd type="none" w="med" len="med"/>
                      <a:tailEnd type="none" w="med" len="med"/>
                    </a:lnL>
                    <a:lnR w="12700" cap="flat" cmpd="sng" algn="ctr">
                      <a:solidFill>
                        <a:srgbClr val="C9D7E3"/>
                      </a:solidFill>
                      <a:prstDash val="solid"/>
                      <a:round/>
                      <a:headEnd type="none" w="med" len="med"/>
                      <a:tailEnd type="none" w="med" len="med"/>
                    </a:lnR>
                    <a:lnT w="12700" cap="flat" cmpd="sng" algn="ctr">
                      <a:solidFill>
                        <a:srgbClr val="C9D7E3"/>
                      </a:solidFill>
                      <a:prstDash val="solid"/>
                      <a:round/>
                      <a:headEnd type="none" w="med" len="med"/>
                      <a:tailEnd type="none" w="med" len="med"/>
                    </a:lnT>
                    <a:lnB w="12700" cap="flat" cmpd="sng" algn="ctr">
                      <a:solidFill>
                        <a:srgbClr val="C9D7E3"/>
                      </a:solidFill>
                      <a:prstDash val="solid"/>
                      <a:round/>
                      <a:headEnd type="none" w="med" len="med"/>
                      <a:tailEnd type="none" w="med" len="med"/>
                    </a:lnB>
                    <a:solidFill>
                      <a:srgbClr val="FFFFFF"/>
                    </a:solidFill>
                  </a:tcPr>
                </a:tc>
                <a:tc>
                  <a:txBody>
                    <a:bodyPr/>
                    <a:lstStyle/>
                    <a:p>
                      <a:pPr indent="0" marL="0">
                        <a:buNone/>
                      </a:pPr>
                      <a:r>
                        <a:rPr lang="en-US" sz="1300" dirty="0">
                          <a:solidFill>
                            <a:srgbClr val="17334B"/>
                          </a:solidFill>
                          <a:latin typeface="Calibri" pitchFamily="34" charset="0"/>
                          <a:ea typeface="Calibri" pitchFamily="34" charset="-122"/>
                          <a:cs typeface="Calibri" pitchFamily="34" charset="-120"/>
                        </a:rPr>
                        <a:t>the routers a packet passes through</a:t>
                      </a:r>
                      <a:endParaRPr lang="en-US" sz="1300" dirty="0">
                        <a:latin typeface="Calibri" charset="0"/>
                        <a:ea typeface="Calibri" charset="0"/>
                        <a:cs typeface="Calibri" charset="0"/>
                      </a:endParaRPr>
                    </a:p>
                  </a:txBody>
                  <a:tcPr marL="54864" marR="54864" marT="54864" marB="54864">
                    <a:lnL w="12700" cap="flat" cmpd="sng" algn="ctr">
                      <a:solidFill>
                        <a:srgbClr val="C9D7E3"/>
                      </a:solidFill>
                      <a:prstDash val="solid"/>
                      <a:round/>
                      <a:headEnd type="none" w="med" len="med"/>
                      <a:tailEnd type="none" w="med" len="med"/>
                    </a:lnL>
                    <a:lnR w="12700" cap="flat" cmpd="sng" algn="ctr">
                      <a:solidFill>
                        <a:srgbClr val="C9D7E3"/>
                      </a:solidFill>
                      <a:prstDash val="solid"/>
                      <a:round/>
                      <a:headEnd type="none" w="med" len="med"/>
                      <a:tailEnd type="none" w="med" len="med"/>
                    </a:lnR>
                    <a:lnT w="12700" cap="flat" cmpd="sng" algn="ctr">
                      <a:solidFill>
                        <a:srgbClr val="C9D7E3"/>
                      </a:solidFill>
                      <a:prstDash val="solid"/>
                      <a:round/>
                      <a:headEnd type="none" w="med" len="med"/>
                      <a:tailEnd type="none" w="med" len="med"/>
                    </a:lnT>
                    <a:lnB w="12700" cap="flat" cmpd="sng" algn="ctr">
                      <a:solidFill>
                        <a:srgbClr val="C9D7E3"/>
                      </a:solidFill>
                      <a:prstDash val="solid"/>
                      <a:round/>
                      <a:headEnd type="none" w="med" len="med"/>
                      <a:tailEnd type="none" w="med" len="med"/>
                    </a:lnB>
                    <a:solidFill>
                      <a:srgbClr val="FFFFFF"/>
                    </a:solidFill>
                  </a:tcPr>
                </a:tc>
                <a:tc>
                  <a:txBody>
                    <a:bodyPr/>
                    <a:lstStyle/>
                    <a:p>
                      <a:pPr indent="0" marL="0">
                        <a:buNone/>
                      </a:pPr>
                      <a:r>
                        <a:rPr lang="en-US" sz="1300" dirty="0">
                          <a:solidFill>
                            <a:srgbClr val="17334B"/>
                          </a:solidFill>
                          <a:latin typeface="Calibri" pitchFamily="34" charset="0"/>
                          <a:ea typeface="Calibri" pitchFamily="34" charset="-122"/>
                          <a:cs typeface="Calibri" pitchFamily="34" charset="-120"/>
                        </a:rPr>
                        <a:t>find where a route breaks</a:t>
                      </a:r>
                      <a:endParaRPr lang="en-US" sz="1300" dirty="0">
                        <a:latin typeface="Calibri" charset="0"/>
                        <a:ea typeface="Calibri" charset="0"/>
                        <a:cs typeface="Calibri" charset="0"/>
                      </a:endParaRPr>
                    </a:p>
                  </a:txBody>
                  <a:tcPr marL="54864" marR="54864" marT="54864" marB="54864">
                    <a:lnL w="12700" cap="flat" cmpd="sng" algn="ctr">
                      <a:solidFill>
                        <a:srgbClr val="C9D7E3"/>
                      </a:solidFill>
                      <a:prstDash val="solid"/>
                      <a:round/>
                      <a:headEnd type="none" w="med" len="med"/>
                      <a:tailEnd type="none" w="med" len="med"/>
                    </a:lnL>
                    <a:lnR w="12700" cap="flat" cmpd="sng" algn="ctr">
                      <a:solidFill>
                        <a:srgbClr val="C9D7E3"/>
                      </a:solidFill>
                      <a:prstDash val="solid"/>
                      <a:round/>
                      <a:headEnd type="none" w="med" len="med"/>
                      <a:tailEnd type="none" w="med" len="med"/>
                    </a:lnR>
                    <a:lnT w="12700" cap="flat" cmpd="sng" algn="ctr">
                      <a:solidFill>
                        <a:srgbClr val="C9D7E3"/>
                      </a:solidFill>
                      <a:prstDash val="solid"/>
                      <a:round/>
                      <a:headEnd type="none" w="med" len="med"/>
                      <a:tailEnd type="none" w="med" len="med"/>
                    </a:lnT>
                    <a:lnB w="12700" cap="flat" cmpd="sng" algn="ctr">
                      <a:solidFill>
                        <a:srgbClr val="C9D7E3"/>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17334B"/>
                          </a:solidFill>
                          <a:latin typeface="Calibri" pitchFamily="34" charset="0"/>
                          <a:ea typeface="Calibri" pitchFamily="34" charset="-122"/>
                          <a:cs typeface="Calibri" pitchFamily="34" charset="-120"/>
                        </a:rPr>
                        <a:t>ipconfig / ip a</a:t>
                      </a:r>
                      <a:endParaRPr lang="en-US" sz="1300" dirty="0">
                        <a:latin typeface="Calibri" charset="0"/>
                        <a:ea typeface="Calibri" charset="0"/>
                        <a:cs typeface="Calibri" charset="0"/>
                      </a:endParaRPr>
                    </a:p>
                  </a:txBody>
                  <a:tcPr marL="54864" marR="54864" marT="54864" marB="54864">
                    <a:lnL w="12700" cap="flat" cmpd="sng" algn="ctr">
                      <a:solidFill>
                        <a:srgbClr val="C9D7E3"/>
                      </a:solidFill>
                      <a:prstDash val="solid"/>
                      <a:round/>
                      <a:headEnd type="none" w="med" len="med"/>
                      <a:tailEnd type="none" w="med" len="med"/>
                    </a:lnL>
                    <a:lnR w="12700" cap="flat" cmpd="sng" algn="ctr">
                      <a:solidFill>
                        <a:srgbClr val="C9D7E3"/>
                      </a:solidFill>
                      <a:prstDash val="solid"/>
                      <a:round/>
                      <a:headEnd type="none" w="med" len="med"/>
                      <a:tailEnd type="none" w="med" len="med"/>
                    </a:lnR>
                    <a:lnT w="12700" cap="flat" cmpd="sng" algn="ctr">
                      <a:solidFill>
                        <a:srgbClr val="C9D7E3"/>
                      </a:solidFill>
                      <a:prstDash val="solid"/>
                      <a:round/>
                      <a:headEnd type="none" w="med" len="med"/>
                      <a:tailEnd type="none" w="med" len="med"/>
                    </a:lnT>
                    <a:lnB w="12700" cap="flat" cmpd="sng" algn="ctr">
                      <a:solidFill>
                        <a:srgbClr val="C9D7E3"/>
                      </a:solidFill>
                      <a:prstDash val="solid"/>
                      <a:round/>
                      <a:headEnd type="none" w="med" len="med"/>
                      <a:tailEnd type="none" w="med" len="med"/>
                    </a:lnB>
                    <a:solidFill>
                      <a:srgbClr val="FFFFFF"/>
                    </a:solidFill>
                  </a:tcPr>
                </a:tc>
                <a:tc>
                  <a:txBody>
                    <a:bodyPr/>
                    <a:lstStyle/>
                    <a:p>
                      <a:pPr indent="0" marL="0">
                        <a:buNone/>
                      </a:pPr>
                      <a:r>
                        <a:rPr lang="en-US" sz="1300" dirty="0">
                          <a:solidFill>
                            <a:srgbClr val="17334B"/>
                          </a:solidFill>
                          <a:latin typeface="Calibri" pitchFamily="34" charset="0"/>
                          <a:ea typeface="Calibri" pitchFamily="34" charset="-122"/>
                          <a:cs typeface="Calibri" pitchFamily="34" charset="-120"/>
                        </a:rPr>
                        <a:t>address, mask, gateway, DNS</a:t>
                      </a:r>
                      <a:endParaRPr lang="en-US" sz="1300" dirty="0">
                        <a:latin typeface="Calibri" charset="0"/>
                        <a:ea typeface="Calibri" charset="0"/>
                        <a:cs typeface="Calibri" charset="0"/>
                      </a:endParaRPr>
                    </a:p>
                  </a:txBody>
                  <a:tcPr marL="54864" marR="54864" marT="54864" marB="54864">
                    <a:lnL w="12700" cap="flat" cmpd="sng" algn="ctr">
                      <a:solidFill>
                        <a:srgbClr val="C9D7E3"/>
                      </a:solidFill>
                      <a:prstDash val="solid"/>
                      <a:round/>
                      <a:headEnd type="none" w="med" len="med"/>
                      <a:tailEnd type="none" w="med" len="med"/>
                    </a:lnL>
                    <a:lnR w="12700" cap="flat" cmpd="sng" algn="ctr">
                      <a:solidFill>
                        <a:srgbClr val="C9D7E3"/>
                      </a:solidFill>
                      <a:prstDash val="solid"/>
                      <a:round/>
                      <a:headEnd type="none" w="med" len="med"/>
                      <a:tailEnd type="none" w="med" len="med"/>
                    </a:lnR>
                    <a:lnT w="12700" cap="flat" cmpd="sng" algn="ctr">
                      <a:solidFill>
                        <a:srgbClr val="C9D7E3"/>
                      </a:solidFill>
                      <a:prstDash val="solid"/>
                      <a:round/>
                      <a:headEnd type="none" w="med" len="med"/>
                      <a:tailEnd type="none" w="med" len="med"/>
                    </a:lnT>
                    <a:lnB w="12700" cap="flat" cmpd="sng" algn="ctr">
                      <a:solidFill>
                        <a:srgbClr val="C9D7E3"/>
                      </a:solidFill>
                      <a:prstDash val="solid"/>
                      <a:round/>
                      <a:headEnd type="none" w="med" len="med"/>
                      <a:tailEnd type="none" w="med" len="med"/>
                    </a:lnB>
                    <a:solidFill>
                      <a:srgbClr val="FFFFFF"/>
                    </a:solidFill>
                  </a:tcPr>
                </a:tc>
                <a:tc>
                  <a:txBody>
                    <a:bodyPr/>
                    <a:lstStyle/>
                    <a:p>
                      <a:pPr indent="0" marL="0">
                        <a:buNone/>
                      </a:pPr>
                      <a:r>
                        <a:rPr lang="en-US" sz="1300" dirty="0">
                          <a:solidFill>
                            <a:srgbClr val="17334B"/>
                          </a:solidFill>
                          <a:latin typeface="Calibri" pitchFamily="34" charset="0"/>
                          <a:ea typeface="Calibri" pitchFamily="34" charset="-122"/>
                          <a:cs typeface="Calibri" pitchFamily="34" charset="-120"/>
                        </a:rPr>
                        <a:t>did DHCP work?</a:t>
                      </a:r>
                      <a:endParaRPr lang="en-US" sz="1300" dirty="0">
                        <a:latin typeface="Calibri" charset="0"/>
                        <a:ea typeface="Calibri" charset="0"/>
                        <a:cs typeface="Calibri" charset="0"/>
                      </a:endParaRPr>
                    </a:p>
                  </a:txBody>
                  <a:tcPr marL="54864" marR="54864" marT="54864" marB="54864">
                    <a:lnL w="12700" cap="flat" cmpd="sng" algn="ctr">
                      <a:solidFill>
                        <a:srgbClr val="C9D7E3"/>
                      </a:solidFill>
                      <a:prstDash val="solid"/>
                      <a:round/>
                      <a:headEnd type="none" w="med" len="med"/>
                      <a:tailEnd type="none" w="med" len="med"/>
                    </a:lnL>
                    <a:lnR w="12700" cap="flat" cmpd="sng" algn="ctr">
                      <a:solidFill>
                        <a:srgbClr val="C9D7E3"/>
                      </a:solidFill>
                      <a:prstDash val="solid"/>
                      <a:round/>
                      <a:headEnd type="none" w="med" len="med"/>
                      <a:tailEnd type="none" w="med" len="med"/>
                    </a:lnR>
                    <a:lnT w="12700" cap="flat" cmpd="sng" algn="ctr">
                      <a:solidFill>
                        <a:srgbClr val="C9D7E3"/>
                      </a:solidFill>
                      <a:prstDash val="solid"/>
                      <a:round/>
                      <a:headEnd type="none" w="med" len="med"/>
                      <a:tailEnd type="none" w="med" len="med"/>
                    </a:lnT>
                    <a:lnB w="12700" cap="flat" cmpd="sng" algn="ctr">
                      <a:solidFill>
                        <a:srgbClr val="C9D7E3"/>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17334B"/>
                          </a:solidFill>
                          <a:latin typeface="Calibri" pitchFamily="34" charset="0"/>
                          <a:ea typeface="Calibri" pitchFamily="34" charset="-122"/>
                          <a:cs typeface="Calibri" pitchFamily="34" charset="-120"/>
                        </a:rPr>
                        <a:t>nslookup</a:t>
                      </a:r>
                      <a:endParaRPr lang="en-US" sz="1300" dirty="0">
                        <a:latin typeface="Calibri" charset="0"/>
                        <a:ea typeface="Calibri" charset="0"/>
                        <a:cs typeface="Calibri" charset="0"/>
                      </a:endParaRPr>
                    </a:p>
                  </a:txBody>
                  <a:tcPr marL="54864" marR="54864" marT="54864" marB="54864">
                    <a:lnL w="12700" cap="flat" cmpd="sng" algn="ctr">
                      <a:solidFill>
                        <a:srgbClr val="C9D7E3"/>
                      </a:solidFill>
                      <a:prstDash val="solid"/>
                      <a:round/>
                      <a:headEnd type="none" w="med" len="med"/>
                      <a:tailEnd type="none" w="med" len="med"/>
                    </a:lnL>
                    <a:lnR w="12700" cap="flat" cmpd="sng" algn="ctr">
                      <a:solidFill>
                        <a:srgbClr val="C9D7E3"/>
                      </a:solidFill>
                      <a:prstDash val="solid"/>
                      <a:round/>
                      <a:headEnd type="none" w="med" len="med"/>
                      <a:tailEnd type="none" w="med" len="med"/>
                    </a:lnR>
                    <a:lnT w="12700" cap="flat" cmpd="sng" algn="ctr">
                      <a:solidFill>
                        <a:srgbClr val="C9D7E3"/>
                      </a:solidFill>
                      <a:prstDash val="solid"/>
                      <a:round/>
                      <a:headEnd type="none" w="med" len="med"/>
                      <a:tailEnd type="none" w="med" len="med"/>
                    </a:lnT>
                    <a:lnB w="12700" cap="flat" cmpd="sng" algn="ctr">
                      <a:solidFill>
                        <a:srgbClr val="C9D7E3"/>
                      </a:solidFill>
                      <a:prstDash val="solid"/>
                      <a:round/>
                      <a:headEnd type="none" w="med" len="med"/>
                      <a:tailEnd type="none" w="med" len="med"/>
                    </a:lnB>
                    <a:solidFill>
                      <a:srgbClr val="FFFFFF"/>
                    </a:solidFill>
                  </a:tcPr>
                </a:tc>
                <a:tc>
                  <a:txBody>
                    <a:bodyPr/>
                    <a:lstStyle/>
                    <a:p>
                      <a:pPr indent="0" marL="0">
                        <a:buNone/>
                      </a:pPr>
                      <a:r>
                        <a:rPr lang="en-US" sz="1300" dirty="0">
                          <a:solidFill>
                            <a:srgbClr val="17334B"/>
                          </a:solidFill>
                          <a:latin typeface="Calibri" pitchFamily="34" charset="0"/>
                          <a:ea typeface="Calibri" pitchFamily="34" charset="-122"/>
                          <a:cs typeface="Calibri" pitchFamily="34" charset="-120"/>
                        </a:rPr>
                        <a:t>name to IP resolution</a:t>
                      </a:r>
                      <a:endParaRPr lang="en-US" sz="1300" dirty="0">
                        <a:latin typeface="Calibri" charset="0"/>
                        <a:ea typeface="Calibri" charset="0"/>
                        <a:cs typeface="Calibri" charset="0"/>
                      </a:endParaRPr>
                    </a:p>
                  </a:txBody>
                  <a:tcPr marL="54864" marR="54864" marT="54864" marB="54864">
                    <a:lnL w="12700" cap="flat" cmpd="sng" algn="ctr">
                      <a:solidFill>
                        <a:srgbClr val="C9D7E3"/>
                      </a:solidFill>
                      <a:prstDash val="solid"/>
                      <a:round/>
                      <a:headEnd type="none" w="med" len="med"/>
                      <a:tailEnd type="none" w="med" len="med"/>
                    </a:lnL>
                    <a:lnR w="12700" cap="flat" cmpd="sng" algn="ctr">
                      <a:solidFill>
                        <a:srgbClr val="C9D7E3"/>
                      </a:solidFill>
                      <a:prstDash val="solid"/>
                      <a:round/>
                      <a:headEnd type="none" w="med" len="med"/>
                      <a:tailEnd type="none" w="med" len="med"/>
                    </a:lnR>
                    <a:lnT w="12700" cap="flat" cmpd="sng" algn="ctr">
                      <a:solidFill>
                        <a:srgbClr val="C9D7E3"/>
                      </a:solidFill>
                      <a:prstDash val="solid"/>
                      <a:round/>
                      <a:headEnd type="none" w="med" len="med"/>
                      <a:tailEnd type="none" w="med" len="med"/>
                    </a:lnT>
                    <a:lnB w="12700" cap="flat" cmpd="sng" algn="ctr">
                      <a:solidFill>
                        <a:srgbClr val="C9D7E3"/>
                      </a:solidFill>
                      <a:prstDash val="solid"/>
                      <a:round/>
                      <a:headEnd type="none" w="med" len="med"/>
                      <a:tailEnd type="none" w="med" len="med"/>
                    </a:lnB>
                    <a:solidFill>
                      <a:srgbClr val="FFFFFF"/>
                    </a:solidFill>
                  </a:tcPr>
                </a:tc>
                <a:tc>
                  <a:txBody>
                    <a:bodyPr/>
                    <a:lstStyle/>
                    <a:p>
                      <a:pPr indent="0" marL="0">
                        <a:buNone/>
                      </a:pPr>
                      <a:r>
                        <a:rPr lang="en-US" sz="1300" dirty="0">
                          <a:solidFill>
                            <a:srgbClr val="17334B"/>
                          </a:solidFill>
                          <a:latin typeface="Calibri" pitchFamily="34" charset="0"/>
                          <a:ea typeface="Calibri" pitchFamily="34" charset="-122"/>
                          <a:cs typeface="Calibri" pitchFamily="34" charset="-120"/>
                        </a:rPr>
                        <a:t>is DNS working?</a:t>
                      </a:r>
                      <a:endParaRPr lang="en-US" sz="1300" dirty="0">
                        <a:latin typeface="Calibri" charset="0"/>
                        <a:ea typeface="Calibri" charset="0"/>
                        <a:cs typeface="Calibri" charset="0"/>
                      </a:endParaRPr>
                    </a:p>
                  </a:txBody>
                  <a:tcPr marL="54864" marR="54864" marT="54864" marB="54864">
                    <a:lnL w="12700" cap="flat" cmpd="sng" algn="ctr">
                      <a:solidFill>
                        <a:srgbClr val="C9D7E3"/>
                      </a:solidFill>
                      <a:prstDash val="solid"/>
                      <a:round/>
                      <a:headEnd type="none" w="med" len="med"/>
                      <a:tailEnd type="none" w="med" len="med"/>
                    </a:lnL>
                    <a:lnR w="12700" cap="flat" cmpd="sng" algn="ctr">
                      <a:solidFill>
                        <a:srgbClr val="C9D7E3"/>
                      </a:solidFill>
                      <a:prstDash val="solid"/>
                      <a:round/>
                      <a:headEnd type="none" w="med" len="med"/>
                      <a:tailEnd type="none" w="med" len="med"/>
                    </a:lnR>
                    <a:lnT w="12700" cap="flat" cmpd="sng" algn="ctr">
                      <a:solidFill>
                        <a:srgbClr val="C9D7E3"/>
                      </a:solidFill>
                      <a:prstDash val="solid"/>
                      <a:round/>
                      <a:headEnd type="none" w="med" len="med"/>
                      <a:tailEnd type="none" w="med" len="med"/>
                    </a:lnT>
                    <a:lnB w="12700" cap="flat" cmpd="sng" algn="ctr">
                      <a:solidFill>
                        <a:srgbClr val="C9D7E3"/>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17334B"/>
                          </a:solidFill>
                          <a:latin typeface="Calibri" pitchFamily="34" charset="0"/>
                          <a:ea typeface="Calibri" pitchFamily="34" charset="-122"/>
                          <a:cs typeface="Calibri" pitchFamily="34" charset="-120"/>
                        </a:rPr>
                        <a:t>Wireshark</a:t>
                      </a:r>
                      <a:endParaRPr lang="en-US" sz="1300" dirty="0">
                        <a:latin typeface="Calibri" charset="0"/>
                        <a:ea typeface="Calibri" charset="0"/>
                        <a:cs typeface="Calibri" charset="0"/>
                      </a:endParaRPr>
                    </a:p>
                  </a:txBody>
                  <a:tcPr marL="54864" marR="54864" marT="54864" marB="54864">
                    <a:lnL w="12700" cap="flat" cmpd="sng" algn="ctr">
                      <a:solidFill>
                        <a:srgbClr val="C9D7E3"/>
                      </a:solidFill>
                      <a:prstDash val="solid"/>
                      <a:round/>
                      <a:headEnd type="none" w="med" len="med"/>
                      <a:tailEnd type="none" w="med" len="med"/>
                    </a:lnL>
                    <a:lnR w="12700" cap="flat" cmpd="sng" algn="ctr">
                      <a:solidFill>
                        <a:srgbClr val="C9D7E3"/>
                      </a:solidFill>
                      <a:prstDash val="solid"/>
                      <a:round/>
                      <a:headEnd type="none" w="med" len="med"/>
                      <a:tailEnd type="none" w="med" len="med"/>
                    </a:lnR>
                    <a:lnT w="12700" cap="flat" cmpd="sng" algn="ctr">
                      <a:solidFill>
                        <a:srgbClr val="C9D7E3"/>
                      </a:solidFill>
                      <a:prstDash val="solid"/>
                      <a:round/>
                      <a:headEnd type="none" w="med" len="med"/>
                      <a:tailEnd type="none" w="med" len="med"/>
                    </a:lnT>
                    <a:lnB w="12700" cap="flat" cmpd="sng" algn="ctr">
                      <a:solidFill>
                        <a:srgbClr val="C9D7E3"/>
                      </a:solidFill>
                      <a:prstDash val="solid"/>
                      <a:round/>
                      <a:headEnd type="none" w="med" len="med"/>
                      <a:tailEnd type="none" w="med" len="med"/>
                    </a:lnB>
                    <a:solidFill>
                      <a:srgbClr val="FFFFFF"/>
                    </a:solidFill>
                  </a:tcPr>
                </a:tc>
                <a:tc>
                  <a:txBody>
                    <a:bodyPr/>
                    <a:lstStyle/>
                    <a:p>
                      <a:pPr indent="0" marL="0">
                        <a:buNone/>
                      </a:pPr>
                      <a:r>
                        <a:rPr lang="en-US" sz="1300" dirty="0">
                          <a:solidFill>
                            <a:srgbClr val="17334B"/>
                          </a:solidFill>
                          <a:latin typeface="Calibri" pitchFamily="34" charset="0"/>
                          <a:ea typeface="Calibri" pitchFamily="34" charset="-122"/>
                          <a:cs typeface="Calibri" pitchFamily="34" charset="-120"/>
                        </a:rPr>
                        <a:t>captured and decoded packets</a:t>
                      </a:r>
                      <a:endParaRPr lang="en-US" sz="1300" dirty="0">
                        <a:latin typeface="Calibri" charset="0"/>
                        <a:ea typeface="Calibri" charset="0"/>
                        <a:cs typeface="Calibri" charset="0"/>
                      </a:endParaRPr>
                    </a:p>
                  </a:txBody>
                  <a:tcPr marL="54864" marR="54864" marT="54864" marB="54864">
                    <a:lnL w="12700" cap="flat" cmpd="sng" algn="ctr">
                      <a:solidFill>
                        <a:srgbClr val="C9D7E3"/>
                      </a:solidFill>
                      <a:prstDash val="solid"/>
                      <a:round/>
                      <a:headEnd type="none" w="med" len="med"/>
                      <a:tailEnd type="none" w="med" len="med"/>
                    </a:lnL>
                    <a:lnR w="12700" cap="flat" cmpd="sng" algn="ctr">
                      <a:solidFill>
                        <a:srgbClr val="C9D7E3"/>
                      </a:solidFill>
                      <a:prstDash val="solid"/>
                      <a:round/>
                      <a:headEnd type="none" w="med" len="med"/>
                      <a:tailEnd type="none" w="med" len="med"/>
                    </a:lnR>
                    <a:lnT w="12700" cap="flat" cmpd="sng" algn="ctr">
                      <a:solidFill>
                        <a:srgbClr val="C9D7E3"/>
                      </a:solidFill>
                      <a:prstDash val="solid"/>
                      <a:round/>
                      <a:headEnd type="none" w="med" len="med"/>
                      <a:tailEnd type="none" w="med" len="med"/>
                    </a:lnT>
                    <a:lnB w="12700" cap="flat" cmpd="sng" algn="ctr">
                      <a:solidFill>
                        <a:srgbClr val="C9D7E3"/>
                      </a:solidFill>
                      <a:prstDash val="solid"/>
                      <a:round/>
                      <a:headEnd type="none" w="med" len="med"/>
                      <a:tailEnd type="none" w="med" len="med"/>
                    </a:lnB>
                    <a:solidFill>
                      <a:srgbClr val="FFFFFF"/>
                    </a:solidFill>
                  </a:tcPr>
                </a:tc>
                <a:tc>
                  <a:txBody>
                    <a:bodyPr/>
                    <a:lstStyle/>
                    <a:p>
                      <a:pPr indent="0" marL="0">
                        <a:buNone/>
                      </a:pPr>
                      <a:r>
                        <a:rPr lang="en-US" sz="1300" dirty="0">
                          <a:solidFill>
                            <a:srgbClr val="17334B"/>
                          </a:solidFill>
                          <a:latin typeface="Calibri" pitchFamily="34" charset="0"/>
                          <a:ea typeface="Calibri" pitchFamily="34" charset="-122"/>
                          <a:cs typeface="Calibri" pitchFamily="34" charset="-120"/>
                        </a:rPr>
                        <a:t>watch DHCP, see unencrypted data</a:t>
                      </a:r>
                      <a:endParaRPr lang="en-US" sz="1300" dirty="0">
                        <a:latin typeface="Calibri" charset="0"/>
                        <a:ea typeface="Calibri" charset="0"/>
                        <a:cs typeface="Calibri" charset="0"/>
                      </a:endParaRPr>
                    </a:p>
                  </a:txBody>
                  <a:tcPr marL="54864" marR="54864" marT="54864" marB="54864">
                    <a:lnL w="12700" cap="flat" cmpd="sng" algn="ctr">
                      <a:solidFill>
                        <a:srgbClr val="C9D7E3"/>
                      </a:solidFill>
                      <a:prstDash val="solid"/>
                      <a:round/>
                      <a:headEnd type="none" w="med" len="med"/>
                      <a:tailEnd type="none" w="med" len="med"/>
                    </a:lnL>
                    <a:lnR w="12700" cap="flat" cmpd="sng" algn="ctr">
                      <a:solidFill>
                        <a:srgbClr val="C9D7E3"/>
                      </a:solidFill>
                      <a:prstDash val="solid"/>
                      <a:round/>
                      <a:headEnd type="none" w="med" len="med"/>
                      <a:tailEnd type="none" w="med" len="med"/>
                    </a:lnR>
                    <a:lnT w="12700" cap="flat" cmpd="sng" algn="ctr">
                      <a:solidFill>
                        <a:srgbClr val="C9D7E3"/>
                      </a:solidFill>
                      <a:prstDash val="solid"/>
                      <a:round/>
                      <a:headEnd type="none" w="med" len="med"/>
                      <a:tailEnd type="none" w="med" len="med"/>
                    </a:lnT>
                    <a:lnB w="12700" cap="flat" cmpd="sng" algn="ctr">
                      <a:solidFill>
                        <a:srgbClr val="C9D7E3"/>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17334B"/>
                          </a:solidFill>
                          <a:latin typeface="Calibri" pitchFamily="34" charset="0"/>
                          <a:ea typeface="Calibri" pitchFamily="34" charset="-122"/>
                          <a:cs typeface="Calibri" pitchFamily="34" charset="-120"/>
                        </a:rPr>
                        <a:t>Event Viewer / logs</a:t>
                      </a:r>
                      <a:endParaRPr lang="en-US" sz="1300" dirty="0">
                        <a:latin typeface="Calibri" charset="0"/>
                        <a:ea typeface="Calibri" charset="0"/>
                        <a:cs typeface="Calibri" charset="0"/>
                      </a:endParaRPr>
                    </a:p>
                  </a:txBody>
                  <a:tcPr marL="54864" marR="54864" marT="54864" marB="54864">
                    <a:lnL w="12700" cap="flat" cmpd="sng" algn="ctr">
                      <a:solidFill>
                        <a:srgbClr val="C9D7E3"/>
                      </a:solidFill>
                      <a:prstDash val="solid"/>
                      <a:round/>
                      <a:headEnd type="none" w="med" len="med"/>
                      <a:tailEnd type="none" w="med" len="med"/>
                    </a:lnL>
                    <a:lnR w="12700" cap="flat" cmpd="sng" algn="ctr">
                      <a:solidFill>
                        <a:srgbClr val="C9D7E3"/>
                      </a:solidFill>
                      <a:prstDash val="solid"/>
                      <a:round/>
                      <a:headEnd type="none" w="med" len="med"/>
                      <a:tailEnd type="none" w="med" len="med"/>
                    </a:lnR>
                    <a:lnT w="12700" cap="flat" cmpd="sng" algn="ctr">
                      <a:solidFill>
                        <a:srgbClr val="C9D7E3"/>
                      </a:solidFill>
                      <a:prstDash val="solid"/>
                      <a:round/>
                      <a:headEnd type="none" w="med" len="med"/>
                      <a:tailEnd type="none" w="med" len="med"/>
                    </a:lnT>
                    <a:lnB w="12700" cap="flat" cmpd="sng" algn="ctr">
                      <a:solidFill>
                        <a:srgbClr val="C9D7E3"/>
                      </a:solidFill>
                      <a:prstDash val="solid"/>
                      <a:round/>
                      <a:headEnd type="none" w="med" len="med"/>
                      <a:tailEnd type="none" w="med" len="med"/>
                    </a:lnB>
                    <a:solidFill>
                      <a:srgbClr val="FFFFFF"/>
                    </a:solidFill>
                  </a:tcPr>
                </a:tc>
                <a:tc>
                  <a:txBody>
                    <a:bodyPr/>
                    <a:lstStyle/>
                    <a:p>
                      <a:pPr indent="0" marL="0">
                        <a:buNone/>
                      </a:pPr>
                      <a:r>
                        <a:rPr lang="en-US" sz="1300" dirty="0">
                          <a:solidFill>
                            <a:srgbClr val="17334B"/>
                          </a:solidFill>
                          <a:latin typeface="Calibri" pitchFamily="34" charset="0"/>
                          <a:ea typeface="Calibri" pitchFamily="34" charset="-122"/>
                          <a:cs typeface="Calibri" pitchFamily="34" charset="-120"/>
                        </a:rPr>
                        <a:t>errors, logins, security events</a:t>
                      </a:r>
                      <a:endParaRPr lang="en-US" sz="1300" dirty="0">
                        <a:latin typeface="Calibri" charset="0"/>
                        <a:ea typeface="Calibri" charset="0"/>
                        <a:cs typeface="Calibri" charset="0"/>
                      </a:endParaRPr>
                    </a:p>
                  </a:txBody>
                  <a:tcPr marL="54864" marR="54864" marT="54864" marB="54864">
                    <a:lnL w="12700" cap="flat" cmpd="sng" algn="ctr">
                      <a:solidFill>
                        <a:srgbClr val="C9D7E3"/>
                      </a:solidFill>
                      <a:prstDash val="solid"/>
                      <a:round/>
                      <a:headEnd type="none" w="med" len="med"/>
                      <a:tailEnd type="none" w="med" len="med"/>
                    </a:lnL>
                    <a:lnR w="12700" cap="flat" cmpd="sng" algn="ctr">
                      <a:solidFill>
                        <a:srgbClr val="C9D7E3"/>
                      </a:solidFill>
                      <a:prstDash val="solid"/>
                      <a:round/>
                      <a:headEnd type="none" w="med" len="med"/>
                      <a:tailEnd type="none" w="med" len="med"/>
                    </a:lnR>
                    <a:lnT w="12700" cap="flat" cmpd="sng" algn="ctr">
                      <a:solidFill>
                        <a:srgbClr val="C9D7E3"/>
                      </a:solidFill>
                      <a:prstDash val="solid"/>
                      <a:round/>
                      <a:headEnd type="none" w="med" len="med"/>
                      <a:tailEnd type="none" w="med" len="med"/>
                    </a:lnT>
                    <a:lnB w="12700" cap="flat" cmpd="sng" algn="ctr">
                      <a:solidFill>
                        <a:srgbClr val="C9D7E3"/>
                      </a:solidFill>
                      <a:prstDash val="solid"/>
                      <a:round/>
                      <a:headEnd type="none" w="med" len="med"/>
                      <a:tailEnd type="none" w="med" len="med"/>
                    </a:lnB>
                    <a:solidFill>
                      <a:srgbClr val="FFFFFF"/>
                    </a:solidFill>
                  </a:tcPr>
                </a:tc>
                <a:tc>
                  <a:txBody>
                    <a:bodyPr/>
                    <a:lstStyle/>
                    <a:p>
                      <a:pPr indent="0" marL="0">
                        <a:buNone/>
                      </a:pPr>
                      <a:r>
                        <a:rPr lang="en-US" sz="1300" dirty="0">
                          <a:solidFill>
                            <a:srgbClr val="17334B"/>
                          </a:solidFill>
                          <a:latin typeface="Calibri" pitchFamily="34" charset="0"/>
                          <a:ea typeface="Calibri" pitchFamily="34" charset="-122"/>
                          <a:cs typeface="Calibri" pitchFamily="34" charset="-120"/>
                        </a:rPr>
                        <a:t>investigate failed logins</a:t>
                      </a:r>
                      <a:endParaRPr lang="en-US" sz="1300" dirty="0">
                        <a:latin typeface="Calibri" charset="0"/>
                        <a:ea typeface="Calibri" charset="0"/>
                        <a:cs typeface="Calibri" charset="0"/>
                      </a:endParaRPr>
                    </a:p>
                  </a:txBody>
                  <a:tcPr marL="54864" marR="54864" marT="54864" marB="54864">
                    <a:lnL w="12700" cap="flat" cmpd="sng" algn="ctr">
                      <a:solidFill>
                        <a:srgbClr val="C9D7E3"/>
                      </a:solidFill>
                      <a:prstDash val="solid"/>
                      <a:round/>
                      <a:headEnd type="none" w="med" len="med"/>
                      <a:tailEnd type="none" w="med" len="med"/>
                    </a:lnL>
                    <a:lnR w="12700" cap="flat" cmpd="sng" algn="ctr">
                      <a:solidFill>
                        <a:srgbClr val="C9D7E3"/>
                      </a:solidFill>
                      <a:prstDash val="solid"/>
                      <a:round/>
                      <a:headEnd type="none" w="med" len="med"/>
                      <a:tailEnd type="none" w="med" len="med"/>
                    </a:lnR>
                    <a:lnT w="12700" cap="flat" cmpd="sng" algn="ctr">
                      <a:solidFill>
                        <a:srgbClr val="C9D7E3"/>
                      </a:solidFill>
                      <a:prstDash val="solid"/>
                      <a:round/>
                      <a:headEnd type="none" w="med" len="med"/>
                      <a:tailEnd type="none" w="med" len="med"/>
                    </a:lnT>
                    <a:lnB w="12700" cap="flat" cmpd="sng" algn="ctr">
                      <a:solidFill>
                        <a:srgbClr val="C9D7E3"/>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17334B"/>
                          </a:solidFill>
                          <a:latin typeface="Calibri" pitchFamily="34" charset="0"/>
                          <a:ea typeface="Calibri" pitchFamily="34" charset="-122"/>
                          <a:cs typeface="Calibri" pitchFamily="34" charset="-120"/>
                        </a:rPr>
                        <a:t>Performance Monitor</a:t>
                      </a:r>
                      <a:endParaRPr lang="en-US" sz="1300" dirty="0">
                        <a:latin typeface="Calibri" charset="0"/>
                        <a:ea typeface="Calibri" charset="0"/>
                        <a:cs typeface="Calibri" charset="0"/>
                      </a:endParaRPr>
                    </a:p>
                  </a:txBody>
                  <a:tcPr marL="54864" marR="54864" marT="54864" marB="54864">
                    <a:lnL w="12700" cap="flat" cmpd="sng" algn="ctr">
                      <a:solidFill>
                        <a:srgbClr val="C9D7E3"/>
                      </a:solidFill>
                      <a:prstDash val="solid"/>
                      <a:round/>
                      <a:headEnd type="none" w="med" len="med"/>
                      <a:tailEnd type="none" w="med" len="med"/>
                    </a:lnL>
                    <a:lnR w="12700" cap="flat" cmpd="sng" algn="ctr">
                      <a:solidFill>
                        <a:srgbClr val="C9D7E3"/>
                      </a:solidFill>
                      <a:prstDash val="solid"/>
                      <a:round/>
                      <a:headEnd type="none" w="med" len="med"/>
                      <a:tailEnd type="none" w="med" len="med"/>
                    </a:lnR>
                    <a:lnT w="12700" cap="flat" cmpd="sng" algn="ctr">
                      <a:solidFill>
                        <a:srgbClr val="C9D7E3"/>
                      </a:solidFill>
                      <a:prstDash val="solid"/>
                      <a:round/>
                      <a:headEnd type="none" w="med" len="med"/>
                      <a:tailEnd type="none" w="med" len="med"/>
                    </a:lnT>
                    <a:lnB w="12700" cap="flat" cmpd="sng" algn="ctr">
                      <a:solidFill>
                        <a:srgbClr val="C9D7E3"/>
                      </a:solidFill>
                      <a:prstDash val="solid"/>
                      <a:round/>
                      <a:headEnd type="none" w="med" len="med"/>
                      <a:tailEnd type="none" w="med" len="med"/>
                    </a:lnB>
                    <a:solidFill>
                      <a:srgbClr val="FFFFFF"/>
                    </a:solidFill>
                  </a:tcPr>
                </a:tc>
                <a:tc>
                  <a:txBody>
                    <a:bodyPr/>
                    <a:lstStyle/>
                    <a:p>
                      <a:pPr indent="0" marL="0">
                        <a:buNone/>
                      </a:pPr>
                      <a:r>
                        <a:rPr lang="en-US" sz="1300" dirty="0">
                          <a:solidFill>
                            <a:srgbClr val="17334B"/>
                          </a:solidFill>
                          <a:latin typeface="Calibri" pitchFamily="34" charset="0"/>
                          <a:ea typeface="Calibri" pitchFamily="34" charset="-122"/>
                          <a:cs typeface="Calibri" pitchFamily="34" charset="-120"/>
                        </a:rPr>
                        <a:t>CPU, memory, disk, network over time</a:t>
                      </a:r>
                      <a:endParaRPr lang="en-US" sz="1300" dirty="0">
                        <a:latin typeface="Calibri" charset="0"/>
                        <a:ea typeface="Calibri" charset="0"/>
                        <a:cs typeface="Calibri" charset="0"/>
                      </a:endParaRPr>
                    </a:p>
                  </a:txBody>
                  <a:tcPr marL="54864" marR="54864" marT="54864" marB="54864">
                    <a:lnL w="12700" cap="flat" cmpd="sng" algn="ctr">
                      <a:solidFill>
                        <a:srgbClr val="C9D7E3"/>
                      </a:solidFill>
                      <a:prstDash val="solid"/>
                      <a:round/>
                      <a:headEnd type="none" w="med" len="med"/>
                      <a:tailEnd type="none" w="med" len="med"/>
                    </a:lnL>
                    <a:lnR w="12700" cap="flat" cmpd="sng" algn="ctr">
                      <a:solidFill>
                        <a:srgbClr val="C9D7E3"/>
                      </a:solidFill>
                      <a:prstDash val="solid"/>
                      <a:round/>
                      <a:headEnd type="none" w="med" len="med"/>
                      <a:tailEnd type="none" w="med" len="med"/>
                    </a:lnR>
                    <a:lnT w="12700" cap="flat" cmpd="sng" algn="ctr">
                      <a:solidFill>
                        <a:srgbClr val="C9D7E3"/>
                      </a:solidFill>
                      <a:prstDash val="solid"/>
                      <a:round/>
                      <a:headEnd type="none" w="med" len="med"/>
                      <a:tailEnd type="none" w="med" len="med"/>
                    </a:lnT>
                    <a:lnB w="12700" cap="flat" cmpd="sng" algn="ctr">
                      <a:solidFill>
                        <a:srgbClr val="C9D7E3"/>
                      </a:solidFill>
                      <a:prstDash val="solid"/>
                      <a:round/>
                      <a:headEnd type="none" w="med" len="med"/>
                      <a:tailEnd type="none" w="med" len="med"/>
                    </a:lnB>
                    <a:solidFill>
                      <a:srgbClr val="FFFFFF"/>
                    </a:solidFill>
                  </a:tcPr>
                </a:tc>
                <a:tc>
                  <a:txBody>
                    <a:bodyPr/>
                    <a:lstStyle/>
                    <a:p>
                      <a:pPr indent="0" marL="0">
                        <a:buNone/>
                      </a:pPr>
                      <a:r>
                        <a:rPr lang="en-US" sz="1300" dirty="0">
                          <a:solidFill>
                            <a:srgbClr val="17334B"/>
                          </a:solidFill>
                          <a:latin typeface="Calibri" pitchFamily="34" charset="0"/>
                          <a:ea typeface="Calibri" pitchFamily="34" charset="-122"/>
                          <a:cs typeface="Calibri" pitchFamily="34" charset="-120"/>
                        </a:rPr>
                        <a:t>build a baseline</a:t>
                      </a:r>
                      <a:endParaRPr lang="en-US" sz="1300" dirty="0">
                        <a:latin typeface="Calibri" charset="0"/>
                        <a:ea typeface="Calibri" charset="0"/>
                        <a:cs typeface="Calibri" charset="0"/>
                      </a:endParaRPr>
                    </a:p>
                  </a:txBody>
                  <a:tcPr marL="54864" marR="54864" marT="54864" marB="54864">
                    <a:lnL w="12700" cap="flat" cmpd="sng" algn="ctr">
                      <a:solidFill>
                        <a:srgbClr val="C9D7E3"/>
                      </a:solidFill>
                      <a:prstDash val="solid"/>
                      <a:round/>
                      <a:headEnd type="none" w="med" len="med"/>
                      <a:tailEnd type="none" w="med" len="med"/>
                    </a:lnL>
                    <a:lnR w="12700" cap="flat" cmpd="sng" algn="ctr">
                      <a:solidFill>
                        <a:srgbClr val="C9D7E3"/>
                      </a:solidFill>
                      <a:prstDash val="solid"/>
                      <a:round/>
                      <a:headEnd type="none" w="med" len="med"/>
                      <a:tailEnd type="none" w="med" len="med"/>
                    </a:lnR>
                    <a:lnT w="12700" cap="flat" cmpd="sng" algn="ctr">
                      <a:solidFill>
                        <a:srgbClr val="C9D7E3"/>
                      </a:solidFill>
                      <a:prstDash val="solid"/>
                      <a:round/>
                      <a:headEnd type="none" w="med" len="med"/>
                      <a:tailEnd type="none" w="med" len="med"/>
                    </a:lnT>
                    <a:lnB w="12700" cap="flat" cmpd="sng" algn="ctr">
                      <a:solidFill>
                        <a:srgbClr val="C9D7E3"/>
                      </a:solidFill>
                      <a:prstDash val="solid"/>
                      <a:round/>
                      <a:headEnd type="none" w="med" len="med"/>
                      <a:tailEnd type="none" w="med" len="med"/>
                    </a:lnB>
                    <a:solidFill>
                      <a:srgbClr val="FFFFFF"/>
                    </a:solidFill>
                  </a:tcPr>
                </a:tc>
              </a:tr>
            </a:tbl>
          </a:graphicData>
        </a:graphic>
      </p:graphicFrame>
      <p:sp>
        <p:nvSpPr>
          <p:cNvPr id="7" name="Shape 4"/>
          <p:cNvSpPr/>
          <p:nvPr/>
        </p:nvSpPr>
        <p:spPr>
          <a:xfrm>
            <a:off x="7818120" y="1691640"/>
            <a:ext cx="3822192" cy="2011680"/>
          </a:xfrm>
          <a:prstGeom prst="roundRect">
            <a:avLst>
              <a:gd name="adj" fmla="val 4545"/>
            </a:avLst>
          </a:prstGeom>
          <a:solidFill>
            <a:srgbClr val="EAF2F9"/>
          </a:solidFill>
          <a:ln w="12700">
            <a:solidFill>
              <a:srgbClr val="EAF2F9"/>
            </a:solidFill>
            <a:prstDash val="solid"/>
          </a:ln>
        </p:spPr>
      </p:sp>
      <p:sp>
        <p:nvSpPr>
          <p:cNvPr id="8" name="Text 5"/>
          <p:cNvSpPr txBox="1"/>
          <p:nvPr/>
        </p:nvSpPr>
        <p:spPr>
          <a:xfrm>
            <a:off x="7982712" y="1801368"/>
            <a:ext cx="3493008" cy="1792224"/>
          </a:xfrm>
          <a:prstGeom prst="rect">
            <a:avLst/>
          </a:prstGeom>
          <a:noFill/>
          <a:ln/>
        </p:spPr>
        <p:txBody>
          <a:bodyPr wrap="square" lIns="0" tIns="0" rIns="0" bIns="0" rtlCol="0" anchor="t"/>
          <a:lstStyle/>
          <a:p>
            <a:pPr indent="0" marL="0">
              <a:spcAft>
                <a:spcPts val="400"/>
              </a:spcAft>
              <a:buNone/>
            </a:pPr>
            <a:r>
              <a:rPr lang="en-US" sz="1500" b="1" dirty="0">
                <a:solidFill>
                  <a:srgbClr val="12324F"/>
                </a:solidFill>
                <a:latin typeface="Calibri" pitchFamily="34" charset="0"/>
                <a:ea typeface="Calibri" pitchFamily="34" charset="-122"/>
                <a:cs typeface="Calibri" pitchFamily="34" charset="-120"/>
              </a:rPr>
              <a:t>Systems software</a:t>
            </a:r>
            <a:endParaRPr lang="en-US" sz="1500" dirty="0"/>
          </a:p>
          <a:p>
            <a:pPr indent="0" marL="0">
              <a:spcAft>
                <a:spcPts val="400"/>
              </a:spcAft>
              <a:buNone/>
            </a:pPr>
            <a:r>
              <a:rPr lang="en-US" sz="1300" dirty="0">
                <a:solidFill>
                  <a:srgbClr val="17334B"/>
                </a:solidFill>
                <a:latin typeface="Calibri" pitchFamily="34" charset="0"/>
                <a:ea typeface="Calibri" pitchFamily="34" charset="-122"/>
                <a:cs typeface="Calibri" pitchFamily="34" charset="-120"/>
              </a:rPr>
              <a:t>Network operating systems (Windows Server, Linux), Cisco IOS, firewall and security software, virtualisation and cloud management.</a:t>
            </a:r>
            <a:endParaRPr lang="en-US" sz="1500" dirty="0"/>
          </a:p>
        </p:txBody>
      </p:sp>
      <p:sp>
        <p:nvSpPr>
          <p:cNvPr id="9" name="Shape 6"/>
          <p:cNvSpPr/>
          <p:nvPr/>
        </p:nvSpPr>
        <p:spPr>
          <a:xfrm>
            <a:off x="7818120" y="3886200"/>
            <a:ext cx="3822192" cy="2011680"/>
          </a:xfrm>
          <a:prstGeom prst="roundRect">
            <a:avLst>
              <a:gd name="adj" fmla="val 4545"/>
            </a:avLst>
          </a:prstGeom>
          <a:solidFill>
            <a:srgbClr val="E6F4F1"/>
          </a:solidFill>
          <a:ln w="12700">
            <a:solidFill>
              <a:srgbClr val="E6F4F1"/>
            </a:solidFill>
            <a:prstDash val="solid"/>
          </a:ln>
        </p:spPr>
      </p:sp>
      <p:sp>
        <p:nvSpPr>
          <p:cNvPr id="10" name="Text 7"/>
          <p:cNvSpPr txBox="1"/>
          <p:nvPr/>
        </p:nvSpPr>
        <p:spPr>
          <a:xfrm>
            <a:off x="7982712" y="3995928"/>
            <a:ext cx="3493008" cy="1792224"/>
          </a:xfrm>
          <a:prstGeom prst="rect">
            <a:avLst/>
          </a:prstGeom>
          <a:noFill/>
          <a:ln/>
        </p:spPr>
        <p:txBody>
          <a:bodyPr wrap="square" lIns="0" tIns="0" rIns="0" bIns="0" rtlCol="0" anchor="t"/>
          <a:lstStyle/>
          <a:p>
            <a:pPr indent="0" marL="0">
              <a:spcAft>
                <a:spcPts val="400"/>
              </a:spcAft>
              <a:buNone/>
            </a:pPr>
            <a:r>
              <a:rPr lang="en-US" sz="1500" b="1" dirty="0">
                <a:solidFill>
                  <a:srgbClr val="12324F"/>
                </a:solidFill>
                <a:latin typeface="Calibri" pitchFamily="34" charset="0"/>
                <a:ea typeface="Calibri" pitchFamily="34" charset="-122"/>
                <a:cs typeface="Calibri" pitchFamily="34" charset="-120"/>
              </a:rPr>
              <a:t>Network applications</a:t>
            </a:r>
            <a:endParaRPr lang="en-US" sz="1500" dirty="0"/>
          </a:p>
          <a:p>
            <a:pPr indent="0" marL="0">
              <a:spcAft>
                <a:spcPts val="400"/>
              </a:spcAft>
              <a:buNone/>
            </a:pPr>
            <a:r>
              <a:rPr lang="en-US" sz="1300" dirty="0">
                <a:solidFill>
                  <a:srgbClr val="17334B"/>
                </a:solidFill>
                <a:latin typeface="Calibri" pitchFamily="34" charset="0"/>
                <a:ea typeface="Calibri" pitchFamily="34" charset="-122"/>
                <a:cs typeface="Calibri" pitchFamily="34" charset="-120"/>
              </a:rPr>
              <a:t>Email, web, VoIP and video, shared databases, document management, remote access, cloud storage.</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548640" y="164592"/>
            <a:ext cx="914400" cy="310896"/>
          </a:xfrm>
          <a:prstGeom prst="roundRect">
            <a:avLst>
              <a:gd name="adj" fmla="val 23529"/>
            </a:avLst>
          </a:prstGeom>
          <a:solidFill>
            <a:srgbClr val="20857B"/>
          </a:solidFill>
          <a:ln w="12700">
            <a:solidFill>
              <a:srgbClr val="20857B"/>
            </a:solidFill>
            <a:prstDash val="solid"/>
          </a:ln>
        </p:spPr>
      </p:sp>
      <p:sp>
        <p:nvSpPr>
          <p:cNvPr id="3" name="Text 1"/>
          <p:cNvSpPr txBox="1"/>
          <p:nvPr/>
        </p:nvSpPr>
        <p:spPr>
          <a:xfrm>
            <a:off x="548640" y="164592"/>
            <a:ext cx="91440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A3</a:t>
            </a:r>
            <a:endParaRPr lang="en-US" sz="1200" dirty="0"/>
          </a:p>
        </p:txBody>
      </p:sp>
      <p:sp>
        <p:nvSpPr>
          <p:cNvPr id="4" name="Text 2"/>
          <p:cNvSpPr txBox="1"/>
          <p:nvPr/>
        </p:nvSpPr>
        <p:spPr>
          <a:xfrm>
            <a:off x="548640" y="502920"/>
            <a:ext cx="11094415" cy="731520"/>
          </a:xfrm>
          <a:prstGeom prst="rect">
            <a:avLst/>
          </a:prstGeom>
          <a:noFill/>
          <a:ln/>
        </p:spPr>
        <p:txBody>
          <a:bodyPr wrap="square" lIns="0" tIns="0" rIns="0" bIns="0" rtlCol="0" anchor="ctr"/>
          <a:lstStyle/>
          <a:p>
            <a:pPr indent="0" marL="0">
              <a:buNone/>
            </a:pPr>
            <a:r>
              <a:rPr lang="en-US" sz="2800" b="1" dirty="0">
                <a:solidFill>
                  <a:srgbClr val="17334B"/>
                </a:solidFill>
                <a:latin typeface="Cambria" pitchFamily="34" charset="0"/>
                <a:ea typeface="Cambria" pitchFamily="34" charset="-122"/>
                <a:cs typeface="Cambria" pitchFamily="34" charset="-120"/>
              </a:rPr>
              <a:t>OSI and TCP/IP models</a:t>
            </a:r>
            <a:endParaRPr lang="en-US" sz="2800" dirty="0"/>
          </a:p>
        </p:txBody>
      </p:sp>
      <p:sp>
        <p:nvSpPr>
          <p:cNvPr id="5" name="Text 3"/>
          <p:cNvSpPr txBox="1"/>
          <p:nvPr/>
        </p:nvSpPr>
        <p:spPr>
          <a:xfrm>
            <a:off x="548640" y="1188720"/>
            <a:ext cx="11094415" cy="365760"/>
          </a:xfrm>
          <a:prstGeom prst="rect">
            <a:avLst/>
          </a:prstGeom>
          <a:noFill/>
          <a:ln/>
        </p:spPr>
        <p:txBody>
          <a:bodyPr wrap="square" lIns="0" tIns="0" rIns="0" bIns="0" rtlCol="0" anchor="ctr"/>
          <a:lstStyle/>
          <a:p>
            <a:pPr indent="0" marL="0">
              <a:buNone/>
            </a:pPr>
            <a:r>
              <a:rPr lang="en-US" sz="1500" i="1" dirty="0">
                <a:solidFill>
                  <a:srgbClr val="4F6577"/>
                </a:solidFill>
                <a:latin typeface="Calibri" pitchFamily="34" charset="0"/>
                <a:ea typeface="Calibri" pitchFamily="34" charset="-122"/>
                <a:cs typeface="Calibri" pitchFamily="34" charset="-120"/>
              </a:rPr>
              <a:t>Aim: identify the OSI layers, the TCP/IP stack and the units of data</a:t>
            </a:r>
            <a:endParaRPr lang="en-US" sz="1500" dirty="0"/>
          </a:p>
        </p:txBody>
      </p:sp>
      <p:pic>
        <p:nvPicPr>
          <p:cNvPr id="6" name="Image 0" descr="/private/tmp/claude-501/-Users-johnaikeremiokha-code-Claude-Project/bf844d04-1b41-4e28-bbaa-8211504dbf91/scratchpad/deck/figs/osi_fig.png">    </p:cNvPr>
          <p:cNvPicPr>
            <a:picLocks noChangeAspect="1"/>
          </p:cNvPicPr>
          <p:nvPr/>
        </p:nvPicPr>
        <p:blipFill>
          <a:blip r:embed="rId1"/>
          <a:stretch>
            <a:fillRect/>
          </a:stretch>
        </p:blipFill>
        <p:spPr>
          <a:xfrm>
            <a:off x="3241613" y="1645920"/>
            <a:ext cx="5708469" cy="3154680"/>
          </a:xfrm>
          <a:prstGeom prst="rect">
            <a:avLst/>
          </a:prstGeom>
        </p:spPr>
      </p:pic>
      <p:sp>
        <p:nvSpPr>
          <p:cNvPr id="7" name="Shape 4"/>
          <p:cNvSpPr/>
          <p:nvPr/>
        </p:nvSpPr>
        <p:spPr>
          <a:xfrm>
            <a:off x="548640" y="4983480"/>
            <a:ext cx="3515258" cy="1234440"/>
          </a:xfrm>
          <a:prstGeom prst="roundRect">
            <a:avLst>
              <a:gd name="adj" fmla="val 7407"/>
            </a:avLst>
          </a:prstGeom>
          <a:solidFill>
            <a:srgbClr val="EAF2F9"/>
          </a:solidFill>
          <a:ln w="12700">
            <a:solidFill>
              <a:srgbClr val="EAF2F9"/>
            </a:solidFill>
            <a:prstDash val="solid"/>
          </a:ln>
        </p:spPr>
      </p:sp>
      <p:sp>
        <p:nvSpPr>
          <p:cNvPr id="8" name="Text 5"/>
          <p:cNvSpPr txBox="1"/>
          <p:nvPr/>
        </p:nvSpPr>
        <p:spPr>
          <a:xfrm>
            <a:off x="713232" y="5093208"/>
            <a:ext cx="3186074" cy="1014984"/>
          </a:xfrm>
          <a:prstGeom prst="rect">
            <a:avLst/>
          </a:prstGeom>
          <a:noFill/>
          <a:ln/>
        </p:spPr>
        <p:txBody>
          <a:bodyPr wrap="square" lIns="0" tIns="0" rIns="0" bIns="0" rtlCol="0" anchor="t"/>
          <a:lstStyle/>
          <a:p>
            <a:pPr indent="0" marL="0">
              <a:spcAft>
                <a:spcPts val="400"/>
              </a:spcAft>
              <a:buNone/>
            </a:pPr>
            <a:r>
              <a:rPr lang="en-US" sz="1400" b="1" dirty="0">
                <a:solidFill>
                  <a:srgbClr val="12324F"/>
                </a:solidFill>
                <a:latin typeface="Calibri" pitchFamily="34" charset="0"/>
                <a:ea typeface="Calibri" pitchFamily="34" charset="-122"/>
                <a:cs typeface="Calibri" pitchFamily="34" charset="-120"/>
              </a:rPr>
              <a:t>Starter</a:t>
            </a:r>
            <a:endParaRPr lang="en-US" sz="1400" dirty="0"/>
          </a:p>
          <a:p>
            <a:pPr indent="0" marL="0">
              <a:spcAft>
                <a:spcPts val="400"/>
              </a:spcAft>
              <a:buNone/>
            </a:pPr>
            <a:r>
              <a:rPr lang="en-US" sz="1200" dirty="0">
                <a:solidFill>
                  <a:srgbClr val="17334B"/>
                </a:solidFill>
                <a:latin typeface="Calibri" pitchFamily="34" charset="0"/>
                <a:ea typeface="Calibri" pitchFamily="34" charset="-122"/>
                <a:cs typeface="Calibri" pitchFamily="34" charset="-120"/>
              </a:rPr>
              <a:t>Mnemonic race: seven layers in order, top to bottom and bottom to top.</a:t>
            </a:r>
            <a:endParaRPr lang="en-US" sz="1400" dirty="0"/>
          </a:p>
        </p:txBody>
      </p:sp>
      <p:sp>
        <p:nvSpPr>
          <p:cNvPr id="9" name="Shape 6"/>
          <p:cNvSpPr/>
          <p:nvPr/>
        </p:nvSpPr>
        <p:spPr>
          <a:xfrm>
            <a:off x="4338218" y="4983480"/>
            <a:ext cx="3515258" cy="1234440"/>
          </a:xfrm>
          <a:prstGeom prst="roundRect">
            <a:avLst>
              <a:gd name="adj" fmla="val 7407"/>
            </a:avLst>
          </a:prstGeom>
          <a:solidFill>
            <a:srgbClr val="E6F4F1"/>
          </a:solidFill>
          <a:ln w="12700">
            <a:solidFill>
              <a:srgbClr val="E6F4F1"/>
            </a:solidFill>
            <a:prstDash val="solid"/>
          </a:ln>
        </p:spPr>
      </p:sp>
      <p:sp>
        <p:nvSpPr>
          <p:cNvPr id="10" name="Text 7"/>
          <p:cNvSpPr txBox="1"/>
          <p:nvPr/>
        </p:nvSpPr>
        <p:spPr>
          <a:xfrm>
            <a:off x="4502810" y="5093208"/>
            <a:ext cx="3186074" cy="1014984"/>
          </a:xfrm>
          <a:prstGeom prst="rect">
            <a:avLst/>
          </a:prstGeom>
          <a:noFill/>
          <a:ln/>
        </p:spPr>
        <p:txBody>
          <a:bodyPr wrap="square" lIns="0" tIns="0" rIns="0" bIns="0" rtlCol="0" anchor="t"/>
          <a:lstStyle/>
          <a:p>
            <a:pPr indent="0" marL="0">
              <a:spcAft>
                <a:spcPts val="400"/>
              </a:spcAft>
              <a:buNone/>
            </a:pPr>
            <a:r>
              <a:rPr lang="en-US" sz="1400" b="1" dirty="0">
                <a:solidFill>
                  <a:srgbClr val="12324F"/>
                </a:solidFill>
                <a:latin typeface="Calibri" pitchFamily="34" charset="0"/>
                <a:ea typeface="Calibri" pitchFamily="34" charset="-122"/>
                <a:cs typeface="Calibri" pitchFamily="34" charset="-120"/>
              </a:rPr>
              <a:t>Task</a:t>
            </a:r>
            <a:endParaRPr lang="en-US" sz="1400" dirty="0"/>
          </a:p>
          <a:p>
            <a:pPr indent="0" marL="0">
              <a:spcAft>
                <a:spcPts val="400"/>
              </a:spcAft>
              <a:buNone/>
            </a:pPr>
            <a:r>
              <a:rPr lang="en-US" sz="1200" dirty="0">
                <a:solidFill>
                  <a:srgbClr val="17334B"/>
                </a:solidFill>
                <a:latin typeface="Calibri" pitchFamily="34" charset="0"/>
                <a:ea typeface="Calibri" pitchFamily="34" charset="-122"/>
                <a:cs typeface="Calibri" pitchFamily="34" charset="-120"/>
              </a:rPr>
              <a:t>OSI table test: layer, function, protocol, device, PDU.</a:t>
            </a:r>
            <a:endParaRPr lang="en-US" sz="1400" dirty="0"/>
          </a:p>
        </p:txBody>
      </p:sp>
      <p:sp>
        <p:nvSpPr>
          <p:cNvPr id="11" name="Shape 8"/>
          <p:cNvSpPr/>
          <p:nvPr/>
        </p:nvSpPr>
        <p:spPr>
          <a:xfrm>
            <a:off x="8127797" y="4983480"/>
            <a:ext cx="3515258" cy="1234440"/>
          </a:xfrm>
          <a:prstGeom prst="roundRect">
            <a:avLst>
              <a:gd name="adj" fmla="val 7407"/>
            </a:avLst>
          </a:prstGeom>
          <a:solidFill>
            <a:srgbClr val="FDF1E7"/>
          </a:solidFill>
          <a:ln w="12700">
            <a:solidFill>
              <a:srgbClr val="FDF1E7"/>
            </a:solidFill>
            <a:prstDash val="solid"/>
          </a:ln>
        </p:spPr>
      </p:sp>
      <p:sp>
        <p:nvSpPr>
          <p:cNvPr id="12" name="Text 9"/>
          <p:cNvSpPr txBox="1"/>
          <p:nvPr/>
        </p:nvSpPr>
        <p:spPr>
          <a:xfrm>
            <a:off x="8292389" y="5093208"/>
            <a:ext cx="3186074" cy="1014984"/>
          </a:xfrm>
          <a:prstGeom prst="rect">
            <a:avLst/>
          </a:prstGeom>
          <a:noFill/>
          <a:ln/>
        </p:spPr>
        <p:txBody>
          <a:bodyPr wrap="square" lIns="0" tIns="0" rIns="0" bIns="0" rtlCol="0" anchor="t"/>
          <a:lstStyle/>
          <a:p>
            <a:pPr indent="0" marL="0">
              <a:spcAft>
                <a:spcPts val="400"/>
              </a:spcAft>
              <a:buNone/>
            </a:pPr>
            <a:r>
              <a:rPr lang="en-US" sz="1400" b="1" dirty="0">
                <a:solidFill>
                  <a:srgbClr val="12324F"/>
                </a:solidFill>
                <a:latin typeface="Calibri" pitchFamily="34" charset="0"/>
                <a:ea typeface="Calibri" pitchFamily="34" charset="-122"/>
                <a:cs typeface="Calibri" pitchFamily="34" charset="-120"/>
              </a:rPr>
              <a:t>Check</a:t>
            </a:r>
            <a:endParaRPr lang="en-US" sz="1400" dirty="0"/>
          </a:p>
          <a:p>
            <a:pPr indent="0" marL="0">
              <a:spcAft>
                <a:spcPts val="400"/>
              </a:spcAft>
              <a:buNone/>
            </a:pPr>
            <a:r>
              <a:rPr lang="en-US" sz="1200" dirty="0">
                <a:solidFill>
                  <a:srgbClr val="17334B"/>
                </a:solidFill>
                <a:latin typeface="Calibri" pitchFamily="34" charset="0"/>
                <a:ea typeface="Calibri" pitchFamily="34" charset="-122"/>
                <a:cs typeface="Calibri" pitchFamily="34" charset="-120"/>
              </a:rPr>
              <a:t>Quiz 2 on the site.</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548640" y="164592"/>
            <a:ext cx="914400" cy="310896"/>
          </a:xfrm>
          <a:prstGeom prst="roundRect">
            <a:avLst>
              <a:gd name="adj" fmla="val 23529"/>
            </a:avLst>
          </a:prstGeom>
          <a:solidFill>
            <a:srgbClr val="20857B"/>
          </a:solidFill>
          <a:ln w="12700">
            <a:solidFill>
              <a:srgbClr val="20857B"/>
            </a:solidFill>
            <a:prstDash val="solid"/>
          </a:ln>
        </p:spPr>
      </p:sp>
      <p:sp>
        <p:nvSpPr>
          <p:cNvPr id="3" name="Text 1"/>
          <p:cNvSpPr txBox="1"/>
          <p:nvPr/>
        </p:nvSpPr>
        <p:spPr>
          <a:xfrm>
            <a:off x="548640" y="164592"/>
            <a:ext cx="91440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A3</a:t>
            </a:r>
            <a:endParaRPr lang="en-US" sz="1200" dirty="0"/>
          </a:p>
        </p:txBody>
      </p:sp>
      <p:sp>
        <p:nvSpPr>
          <p:cNvPr id="4" name="Text 2"/>
          <p:cNvSpPr txBox="1"/>
          <p:nvPr/>
        </p:nvSpPr>
        <p:spPr>
          <a:xfrm>
            <a:off x="548640" y="502920"/>
            <a:ext cx="11094415" cy="731520"/>
          </a:xfrm>
          <a:prstGeom prst="rect">
            <a:avLst/>
          </a:prstGeom>
          <a:noFill/>
          <a:ln/>
        </p:spPr>
        <p:txBody>
          <a:bodyPr wrap="square" lIns="0" tIns="0" rIns="0" bIns="0" rtlCol="0" anchor="ctr"/>
          <a:lstStyle/>
          <a:p>
            <a:pPr indent="0" marL="0">
              <a:buNone/>
            </a:pPr>
            <a:r>
              <a:rPr lang="en-US" sz="2800" b="1" dirty="0">
                <a:solidFill>
                  <a:srgbClr val="17334B"/>
                </a:solidFill>
                <a:latin typeface="Cambria" pitchFamily="34" charset="0"/>
                <a:ea typeface="Cambria" pitchFamily="34" charset="-122"/>
                <a:cs typeface="Cambria" pitchFamily="34" charset="-120"/>
              </a:rPr>
              <a:t>Encapsulation, ports and sockets</a:t>
            </a:r>
            <a:endParaRPr lang="en-US" sz="2800" dirty="0"/>
          </a:p>
        </p:txBody>
      </p:sp>
      <p:sp>
        <p:nvSpPr>
          <p:cNvPr id="5" name="Text 3"/>
          <p:cNvSpPr txBox="1"/>
          <p:nvPr/>
        </p:nvSpPr>
        <p:spPr>
          <a:xfrm>
            <a:off x="548640" y="1188720"/>
            <a:ext cx="4937760" cy="548640"/>
          </a:xfrm>
          <a:prstGeom prst="rect">
            <a:avLst/>
          </a:prstGeom>
          <a:noFill/>
          <a:ln/>
        </p:spPr>
        <p:txBody>
          <a:bodyPr wrap="square" lIns="0" tIns="0" rIns="0" bIns="0" rtlCol="0" anchor="t"/>
          <a:lstStyle/>
          <a:p>
            <a:pPr indent="0" marL="0">
              <a:buNone/>
            </a:pPr>
            <a:r>
              <a:rPr lang="en-US" sz="1400" i="1" dirty="0">
                <a:solidFill>
                  <a:srgbClr val="4F6577"/>
                </a:solidFill>
                <a:latin typeface="Calibri" pitchFamily="34" charset="0"/>
                <a:ea typeface="Calibri" pitchFamily="34" charset="-122"/>
                <a:cs typeface="Calibri" pitchFamily="34" charset="-120"/>
              </a:rPr>
              <a:t>Aim: explain encapsulation, ports and sockets</a:t>
            </a:r>
            <a:endParaRPr lang="en-US" sz="1400" dirty="0"/>
          </a:p>
        </p:txBody>
      </p:sp>
      <p:sp>
        <p:nvSpPr>
          <p:cNvPr id="6" name="Text 4"/>
          <p:cNvSpPr txBox="1"/>
          <p:nvPr/>
        </p:nvSpPr>
        <p:spPr>
          <a:xfrm>
            <a:off x="548640" y="1783080"/>
            <a:ext cx="4846320" cy="3108960"/>
          </a:xfrm>
          <a:prstGeom prst="rect">
            <a:avLst/>
          </a:prstGeom>
          <a:noFill/>
          <a:ln/>
        </p:spPr>
        <p:txBody>
          <a:bodyPr wrap="square" lIns="635" tIns="635" rIns="635" bIns="635" rtlCol="0" anchor="t"/>
          <a:lstStyle/>
          <a:p>
            <a:pPr marL="342900" indent="-342900">
              <a:spcAft>
                <a:spcPts val="600"/>
              </a:spcAft>
              <a:buSzPct val="100000"/>
              <a:buChar char="•"/>
            </a:pPr>
            <a:r>
              <a:rPr lang="en-US" sz="1600" dirty="0">
                <a:solidFill>
                  <a:srgbClr val="17334B"/>
                </a:solidFill>
                <a:latin typeface="Calibri" pitchFamily="34" charset="0"/>
                <a:ea typeface="Calibri" pitchFamily="34" charset="-122"/>
                <a:cs typeface="Calibri" pitchFamily="34" charset="-120"/>
              </a:rPr>
              <a:t>Each layer adds a header going down; removes it going up</a:t>
            </a:r>
            <a:endParaRPr lang="en-US" sz="1600" dirty="0"/>
          </a:p>
          <a:p>
            <a:pPr marL="342900" indent="-342900">
              <a:spcAft>
                <a:spcPts val="600"/>
              </a:spcAft>
              <a:buSzPct val="100000"/>
              <a:buChar char="•"/>
            </a:pPr>
            <a:r>
              <a:rPr lang="en-US" sz="1600" dirty="0">
                <a:solidFill>
                  <a:srgbClr val="17334B"/>
                </a:solidFill>
                <a:latin typeface="Calibri" pitchFamily="34" charset="0"/>
                <a:ea typeface="Calibri" pitchFamily="34" charset="-122"/>
                <a:cs typeface="Calibri" pitchFamily="34" charset="-120"/>
              </a:rPr>
              <a:t>Port numbers deliver data to the right service</a:t>
            </a:r>
            <a:endParaRPr lang="en-US" sz="1600" dirty="0"/>
          </a:p>
          <a:p>
            <a:pPr marL="342900" indent="-342900">
              <a:spcAft>
                <a:spcPts val="600"/>
              </a:spcAft>
              <a:buSzPct val="100000"/>
              <a:buChar char="•"/>
            </a:pPr>
            <a:r>
              <a:rPr lang="en-US" sz="1600" dirty="0">
                <a:solidFill>
                  <a:srgbClr val="17334B"/>
                </a:solidFill>
                <a:latin typeface="Calibri" pitchFamily="34" charset="0"/>
                <a:ea typeface="Calibri" pitchFamily="34" charset="-122"/>
                <a:cs typeface="Calibri" pitchFamily="34" charset="-120"/>
              </a:rPr>
              <a:t>IP address + port = socket (e.g. 192.168.1.10:443)</a:t>
            </a:r>
            <a:endParaRPr lang="en-US" sz="1600" dirty="0"/>
          </a:p>
          <a:p>
            <a:pPr marL="342900" indent="-342900">
              <a:spcAft>
                <a:spcPts val="600"/>
              </a:spcAft>
              <a:buSzPct val="100000"/>
              <a:buChar char="•"/>
            </a:pPr>
            <a:r>
              <a:rPr lang="en-US" sz="1600" dirty="0">
                <a:solidFill>
                  <a:srgbClr val="17334B"/>
                </a:solidFill>
                <a:latin typeface="Calibri" pitchFamily="34" charset="0"/>
                <a:ea typeface="Calibri" pitchFamily="34" charset="-122"/>
                <a:cs typeface="Calibri" pitchFamily="34" charset="-120"/>
              </a:rPr>
              <a:t>Key ports: 80, 443, 53, 67/68, 25, 110, 143, 20-21, 22, 23, 3389</a:t>
            </a:r>
            <a:endParaRPr lang="en-US" sz="1600" dirty="0"/>
          </a:p>
        </p:txBody>
      </p:sp>
      <p:pic>
        <p:nvPicPr>
          <p:cNvPr id="7" name="Image 0" descr="/private/tmp/claude-501/-Users-johnaikeremiokha-code-Claude-Project/bf844d04-1b41-4e28-bbaa-8211504dbf91/scratchpad/deck/figs/encap_fig.png">    </p:cNvPr>
          <p:cNvPicPr>
            <a:picLocks noChangeAspect="1"/>
          </p:cNvPicPr>
          <p:nvPr/>
        </p:nvPicPr>
        <p:blipFill>
          <a:blip r:embed="rId1"/>
          <a:stretch>
            <a:fillRect/>
          </a:stretch>
        </p:blipFill>
        <p:spPr>
          <a:xfrm>
            <a:off x="5715000" y="1188720"/>
            <a:ext cx="5925312" cy="1949116"/>
          </a:xfrm>
          <a:prstGeom prst="rect">
            <a:avLst/>
          </a:prstGeom>
        </p:spPr>
      </p:pic>
      <p:sp>
        <p:nvSpPr>
          <p:cNvPr id="8" name="Shape 5"/>
          <p:cNvSpPr/>
          <p:nvPr/>
        </p:nvSpPr>
        <p:spPr>
          <a:xfrm>
            <a:off x="548640" y="5074920"/>
            <a:ext cx="3515258" cy="1234440"/>
          </a:xfrm>
          <a:prstGeom prst="roundRect">
            <a:avLst>
              <a:gd name="adj" fmla="val 7407"/>
            </a:avLst>
          </a:prstGeom>
          <a:solidFill>
            <a:srgbClr val="EAF2F9"/>
          </a:solidFill>
          <a:ln w="12700">
            <a:solidFill>
              <a:srgbClr val="EAF2F9"/>
            </a:solidFill>
            <a:prstDash val="solid"/>
          </a:ln>
        </p:spPr>
      </p:sp>
      <p:sp>
        <p:nvSpPr>
          <p:cNvPr id="9" name="Text 6"/>
          <p:cNvSpPr txBox="1"/>
          <p:nvPr/>
        </p:nvSpPr>
        <p:spPr>
          <a:xfrm>
            <a:off x="713232" y="5184648"/>
            <a:ext cx="3186074" cy="1014984"/>
          </a:xfrm>
          <a:prstGeom prst="rect">
            <a:avLst/>
          </a:prstGeom>
          <a:noFill/>
          <a:ln/>
        </p:spPr>
        <p:txBody>
          <a:bodyPr wrap="square" lIns="0" tIns="0" rIns="0" bIns="0" rtlCol="0" anchor="t"/>
          <a:lstStyle/>
          <a:p>
            <a:pPr indent="0" marL="0">
              <a:spcAft>
                <a:spcPts val="400"/>
              </a:spcAft>
              <a:buNone/>
            </a:pPr>
            <a:r>
              <a:rPr lang="en-US" sz="1400" b="1" dirty="0">
                <a:solidFill>
                  <a:srgbClr val="12324F"/>
                </a:solidFill>
                <a:latin typeface="Calibri" pitchFamily="34" charset="0"/>
                <a:ea typeface="Calibri" pitchFamily="34" charset="-122"/>
                <a:cs typeface="Calibri" pitchFamily="34" charset="-120"/>
              </a:rPr>
              <a:t>Practical</a:t>
            </a:r>
            <a:endParaRPr lang="en-US" sz="1400" dirty="0"/>
          </a:p>
          <a:p>
            <a:pPr indent="0" marL="0">
              <a:spcAft>
                <a:spcPts val="400"/>
              </a:spcAft>
              <a:buNone/>
            </a:pPr>
            <a:r>
              <a:rPr lang="en-US" sz="1200" dirty="0">
                <a:solidFill>
                  <a:srgbClr val="17334B"/>
                </a:solidFill>
                <a:latin typeface="Calibri" pitchFamily="34" charset="0"/>
                <a:ea typeface="Calibri" pitchFamily="34" charset="-122"/>
                <a:cs typeface="Calibri" pitchFamily="34" charset="-120"/>
              </a:rPr>
              <a:t>Packet Tracer simulation: open each PDU and inspect the headers.</a:t>
            </a:r>
            <a:endParaRPr lang="en-US" sz="1400" dirty="0"/>
          </a:p>
        </p:txBody>
      </p:sp>
      <p:sp>
        <p:nvSpPr>
          <p:cNvPr id="10" name="Shape 7"/>
          <p:cNvSpPr/>
          <p:nvPr/>
        </p:nvSpPr>
        <p:spPr>
          <a:xfrm>
            <a:off x="4338218" y="5074920"/>
            <a:ext cx="3515258" cy="1234440"/>
          </a:xfrm>
          <a:prstGeom prst="roundRect">
            <a:avLst>
              <a:gd name="adj" fmla="val 7407"/>
            </a:avLst>
          </a:prstGeom>
          <a:solidFill>
            <a:srgbClr val="E6F4F1"/>
          </a:solidFill>
          <a:ln w="12700">
            <a:solidFill>
              <a:srgbClr val="E6F4F1"/>
            </a:solidFill>
            <a:prstDash val="solid"/>
          </a:ln>
        </p:spPr>
      </p:sp>
      <p:sp>
        <p:nvSpPr>
          <p:cNvPr id="11" name="Text 8"/>
          <p:cNvSpPr txBox="1"/>
          <p:nvPr/>
        </p:nvSpPr>
        <p:spPr>
          <a:xfrm>
            <a:off x="4502810" y="5184648"/>
            <a:ext cx="3186074" cy="1014984"/>
          </a:xfrm>
          <a:prstGeom prst="rect">
            <a:avLst/>
          </a:prstGeom>
          <a:noFill/>
          <a:ln/>
        </p:spPr>
        <p:txBody>
          <a:bodyPr wrap="square" lIns="0" tIns="0" rIns="0" bIns="0" rtlCol="0" anchor="t"/>
          <a:lstStyle/>
          <a:p>
            <a:pPr indent="0" marL="0">
              <a:spcAft>
                <a:spcPts val="400"/>
              </a:spcAft>
              <a:buNone/>
            </a:pPr>
            <a:r>
              <a:rPr lang="en-US" sz="1400" b="1" dirty="0">
                <a:solidFill>
                  <a:srgbClr val="12324F"/>
                </a:solidFill>
                <a:latin typeface="Calibri" pitchFamily="34" charset="0"/>
                <a:ea typeface="Calibri" pitchFamily="34" charset="-122"/>
                <a:cs typeface="Calibri" pitchFamily="34" charset="-120"/>
              </a:rPr>
              <a:t>Task</a:t>
            </a:r>
            <a:endParaRPr lang="en-US" sz="1400" dirty="0"/>
          </a:p>
          <a:p>
            <a:pPr indent="0" marL="0">
              <a:spcAft>
                <a:spcPts val="400"/>
              </a:spcAft>
              <a:buNone/>
            </a:pPr>
            <a:r>
              <a:rPr lang="en-US" sz="1200" dirty="0">
                <a:solidFill>
                  <a:srgbClr val="17334B"/>
                </a:solidFill>
                <a:latin typeface="Calibri" pitchFamily="34" charset="0"/>
                <a:ea typeface="Calibri" pitchFamily="34" charset="-122"/>
                <a:cs typeface="Calibri" pitchFamily="34" charset="-120"/>
              </a:rPr>
              <a:t>Complete the protocol and port table (HTTP to NTP).</a:t>
            </a:r>
            <a:endParaRPr lang="en-US" sz="1400" dirty="0"/>
          </a:p>
        </p:txBody>
      </p:sp>
      <p:sp>
        <p:nvSpPr>
          <p:cNvPr id="12" name="Shape 9"/>
          <p:cNvSpPr/>
          <p:nvPr/>
        </p:nvSpPr>
        <p:spPr>
          <a:xfrm>
            <a:off x="8127797" y="5074920"/>
            <a:ext cx="3515258" cy="1234440"/>
          </a:xfrm>
          <a:prstGeom prst="roundRect">
            <a:avLst>
              <a:gd name="adj" fmla="val 7407"/>
            </a:avLst>
          </a:prstGeom>
          <a:solidFill>
            <a:srgbClr val="FDF1E7"/>
          </a:solidFill>
          <a:ln w="12700">
            <a:solidFill>
              <a:srgbClr val="FDF1E7"/>
            </a:solidFill>
            <a:prstDash val="solid"/>
          </a:ln>
        </p:spPr>
      </p:sp>
      <p:sp>
        <p:nvSpPr>
          <p:cNvPr id="13" name="Text 10"/>
          <p:cNvSpPr txBox="1"/>
          <p:nvPr/>
        </p:nvSpPr>
        <p:spPr>
          <a:xfrm>
            <a:off x="8292389" y="5184648"/>
            <a:ext cx="3186074" cy="1014984"/>
          </a:xfrm>
          <a:prstGeom prst="rect">
            <a:avLst/>
          </a:prstGeom>
          <a:noFill/>
          <a:ln/>
        </p:spPr>
        <p:txBody>
          <a:bodyPr wrap="square" lIns="0" tIns="0" rIns="0" bIns="0" rtlCol="0" anchor="t"/>
          <a:lstStyle/>
          <a:p>
            <a:pPr indent="0" marL="0">
              <a:spcAft>
                <a:spcPts val="400"/>
              </a:spcAft>
              <a:buNone/>
            </a:pPr>
            <a:r>
              <a:rPr lang="en-US" sz="1400" b="1" dirty="0">
                <a:solidFill>
                  <a:srgbClr val="12324F"/>
                </a:solidFill>
                <a:latin typeface="Calibri" pitchFamily="34" charset="0"/>
                <a:ea typeface="Calibri" pitchFamily="34" charset="-122"/>
                <a:cs typeface="Calibri" pitchFamily="34" charset="-120"/>
              </a:rPr>
              <a:t>Link</a:t>
            </a:r>
            <a:endParaRPr lang="en-US" sz="1400" dirty="0"/>
          </a:p>
          <a:p>
            <a:pPr indent="0" marL="0">
              <a:spcAft>
                <a:spcPts val="400"/>
              </a:spcAft>
              <a:buNone/>
            </a:pPr>
            <a:r>
              <a:rPr lang="en-US" sz="1200" dirty="0">
                <a:solidFill>
                  <a:srgbClr val="17334B"/>
                </a:solidFill>
                <a:latin typeface="Calibri" pitchFamily="34" charset="0"/>
                <a:ea typeface="Calibri" pitchFamily="34" charset="-122"/>
                <a:cs typeface="Calibri" pitchFamily="34" charset="-120"/>
              </a:rPr>
              <a:t>A.M1: how data transfers within and between networks.</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548640" y="164592"/>
            <a:ext cx="914400" cy="310896"/>
          </a:xfrm>
          <a:prstGeom prst="roundRect">
            <a:avLst>
              <a:gd name="adj" fmla="val 23529"/>
            </a:avLst>
          </a:prstGeom>
          <a:solidFill>
            <a:srgbClr val="20857B"/>
          </a:solidFill>
          <a:ln w="12700">
            <a:solidFill>
              <a:srgbClr val="20857B"/>
            </a:solidFill>
            <a:prstDash val="solid"/>
          </a:ln>
        </p:spPr>
      </p:sp>
      <p:sp>
        <p:nvSpPr>
          <p:cNvPr id="3" name="Text 1"/>
          <p:cNvSpPr txBox="1"/>
          <p:nvPr/>
        </p:nvSpPr>
        <p:spPr>
          <a:xfrm>
            <a:off x="548640" y="164592"/>
            <a:ext cx="91440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A4</a:t>
            </a:r>
            <a:endParaRPr lang="en-US" sz="1200" dirty="0"/>
          </a:p>
        </p:txBody>
      </p:sp>
      <p:sp>
        <p:nvSpPr>
          <p:cNvPr id="4" name="Text 2"/>
          <p:cNvSpPr txBox="1"/>
          <p:nvPr/>
        </p:nvSpPr>
        <p:spPr>
          <a:xfrm>
            <a:off x="548640" y="502920"/>
            <a:ext cx="11094415" cy="731520"/>
          </a:xfrm>
          <a:prstGeom prst="rect">
            <a:avLst/>
          </a:prstGeom>
          <a:noFill/>
          <a:ln/>
        </p:spPr>
        <p:txBody>
          <a:bodyPr wrap="square" lIns="0" tIns="0" rIns="0" bIns="0" rtlCol="0" anchor="ctr"/>
          <a:lstStyle/>
          <a:p>
            <a:pPr indent="0" marL="0">
              <a:buNone/>
            </a:pPr>
            <a:r>
              <a:rPr lang="en-US" sz="2800" b="1" dirty="0">
                <a:solidFill>
                  <a:srgbClr val="17334B"/>
                </a:solidFill>
                <a:latin typeface="Cambria" pitchFamily="34" charset="0"/>
                <a:ea typeface="Cambria" pitchFamily="34" charset="-122"/>
                <a:cs typeface="Cambria" pitchFamily="34" charset="-120"/>
              </a:rPr>
              <a:t>Infrastructure services: DNS and DHCP</a:t>
            </a:r>
            <a:endParaRPr lang="en-US" sz="2800" dirty="0"/>
          </a:p>
        </p:txBody>
      </p:sp>
      <p:sp>
        <p:nvSpPr>
          <p:cNvPr id="5" name="Text 3"/>
          <p:cNvSpPr txBox="1"/>
          <p:nvPr/>
        </p:nvSpPr>
        <p:spPr>
          <a:xfrm>
            <a:off x="548640" y="1188720"/>
            <a:ext cx="4937760" cy="548640"/>
          </a:xfrm>
          <a:prstGeom prst="rect">
            <a:avLst/>
          </a:prstGeom>
          <a:noFill/>
          <a:ln/>
        </p:spPr>
        <p:txBody>
          <a:bodyPr wrap="square" lIns="0" tIns="0" rIns="0" bIns="0" rtlCol="0" anchor="t"/>
          <a:lstStyle/>
          <a:p>
            <a:pPr indent="0" marL="0">
              <a:buNone/>
            </a:pPr>
            <a:r>
              <a:rPr lang="en-US" sz="1400" i="1" dirty="0">
                <a:solidFill>
                  <a:srgbClr val="4F6577"/>
                </a:solidFill>
                <a:latin typeface="Calibri" pitchFamily="34" charset="0"/>
                <a:ea typeface="Calibri" pitchFamily="34" charset="-122"/>
                <a:cs typeface="Calibri" pitchFamily="34" charset="-120"/>
              </a:rPr>
              <a:t>Aim: explain infrastructure services and their operation</a:t>
            </a:r>
            <a:endParaRPr lang="en-US" sz="1400" dirty="0"/>
          </a:p>
        </p:txBody>
      </p:sp>
      <p:sp>
        <p:nvSpPr>
          <p:cNvPr id="6" name="Text 4"/>
          <p:cNvSpPr txBox="1"/>
          <p:nvPr/>
        </p:nvSpPr>
        <p:spPr>
          <a:xfrm>
            <a:off x="548640" y="1783080"/>
            <a:ext cx="4846320" cy="3108960"/>
          </a:xfrm>
          <a:prstGeom prst="rect">
            <a:avLst/>
          </a:prstGeom>
          <a:noFill/>
          <a:ln/>
        </p:spPr>
        <p:txBody>
          <a:bodyPr wrap="square" lIns="635" tIns="635" rIns="635" bIns="635" rtlCol="0" anchor="t"/>
          <a:lstStyle/>
          <a:p>
            <a:pPr marL="342900" indent="-342900">
              <a:spcAft>
                <a:spcPts val="600"/>
              </a:spcAft>
              <a:buSzPct val="100000"/>
              <a:buChar char="•"/>
            </a:pPr>
            <a:r>
              <a:rPr lang="en-US" sz="1600" dirty="0">
                <a:solidFill>
                  <a:srgbClr val="17334B"/>
                </a:solidFill>
                <a:latin typeface="Calibri" pitchFamily="34" charset="0"/>
                <a:ea typeface="Calibri" pitchFamily="34" charset="-122"/>
                <a:cs typeface="Calibri" pitchFamily="34" charset="-120"/>
              </a:rPr>
              <a:t>DNS: names to IP addresses, hierarchy and caching</a:t>
            </a:r>
            <a:endParaRPr lang="en-US" sz="1600" dirty="0"/>
          </a:p>
          <a:p>
            <a:pPr marL="342900" indent="-342900">
              <a:spcAft>
                <a:spcPts val="600"/>
              </a:spcAft>
              <a:buSzPct val="100000"/>
              <a:buChar char="•"/>
            </a:pPr>
            <a:r>
              <a:rPr lang="en-US" sz="1600" dirty="0">
                <a:solidFill>
                  <a:srgbClr val="17334B"/>
                </a:solidFill>
                <a:latin typeface="Calibri" pitchFamily="34" charset="0"/>
                <a:ea typeface="Calibri" pitchFamily="34" charset="-122"/>
                <a:cs typeface="Calibri" pitchFamily="34" charset="-120"/>
              </a:rPr>
              <a:t>DHCP: Discover, Offer, Request, Acknowledge; scope and lease</a:t>
            </a:r>
            <a:endParaRPr lang="en-US" sz="1600" dirty="0"/>
          </a:p>
          <a:p>
            <a:pPr marL="342900" indent="-342900">
              <a:spcAft>
                <a:spcPts val="600"/>
              </a:spcAft>
              <a:buSzPct val="100000"/>
              <a:buChar char="•"/>
            </a:pPr>
            <a:r>
              <a:rPr lang="en-US" sz="1600" dirty="0">
                <a:solidFill>
                  <a:srgbClr val="17334B"/>
                </a:solidFill>
                <a:latin typeface="Calibri" pitchFamily="34" charset="0"/>
                <a:ea typeface="Calibri" pitchFamily="34" charset="-122"/>
                <a:cs typeface="Calibri" pitchFamily="34" charset="-120"/>
              </a:rPr>
              <a:t>Directory services and authentication (AAA, RADIUS)</a:t>
            </a:r>
            <a:endParaRPr lang="en-US" sz="1600" dirty="0"/>
          </a:p>
          <a:p>
            <a:pPr marL="342900" indent="-342900">
              <a:spcAft>
                <a:spcPts val="600"/>
              </a:spcAft>
              <a:buSzPct val="100000"/>
              <a:buChar char="•"/>
            </a:pPr>
            <a:r>
              <a:rPr lang="en-US" sz="1600" dirty="0">
                <a:solidFill>
                  <a:srgbClr val="17334B"/>
                </a:solidFill>
                <a:latin typeface="Calibri" pitchFamily="34" charset="0"/>
                <a:ea typeface="Calibri" pitchFamily="34" charset="-122"/>
                <a:cs typeface="Calibri" pitchFamily="34" charset="-120"/>
              </a:rPr>
              <a:t>Routing and remote access, NAT, VPN</a:t>
            </a:r>
            <a:endParaRPr lang="en-US" sz="1600" dirty="0"/>
          </a:p>
          <a:p>
            <a:pPr marL="342900" indent="-342900">
              <a:spcAft>
                <a:spcPts val="600"/>
              </a:spcAft>
              <a:buSzPct val="100000"/>
              <a:buChar char="•"/>
            </a:pPr>
            <a:r>
              <a:rPr lang="en-US" sz="1600" dirty="0">
                <a:solidFill>
                  <a:srgbClr val="17334B"/>
                </a:solidFill>
                <a:latin typeface="Calibri" pitchFamily="34" charset="0"/>
                <a:ea typeface="Calibri" pitchFamily="34" charset="-122"/>
                <a:cs typeface="Calibri" pitchFamily="34" charset="-120"/>
              </a:rPr>
              <a:t>File, print, web, mail (SMTP, IMAP/POP3) and VoIP</a:t>
            </a:r>
            <a:endParaRPr lang="en-US" sz="1600" dirty="0"/>
          </a:p>
        </p:txBody>
      </p:sp>
      <p:pic>
        <p:nvPicPr>
          <p:cNvPr id="7" name="Image 0" descr="/private/tmp/claude-501/-Users-johnaikeremiokha-code-Claude-Project/bf844d04-1b41-4e28-bbaa-8211504dbf91/scratchpad/deck/figs/dns_fig.png">    </p:cNvPr>
          <p:cNvPicPr>
            <a:picLocks noChangeAspect="1"/>
          </p:cNvPicPr>
          <p:nvPr/>
        </p:nvPicPr>
        <p:blipFill>
          <a:blip r:embed="rId1"/>
          <a:stretch>
            <a:fillRect/>
          </a:stretch>
        </p:blipFill>
        <p:spPr>
          <a:xfrm>
            <a:off x="5715000" y="1188720"/>
            <a:ext cx="5925312" cy="1949116"/>
          </a:xfrm>
          <a:prstGeom prst="rect">
            <a:avLst/>
          </a:prstGeom>
        </p:spPr>
      </p:pic>
      <p:pic>
        <p:nvPicPr>
          <p:cNvPr id="8" name="Image 1" descr="/private/tmp/claude-501/-Users-johnaikeremiokha-code-Claude-Project/bf844d04-1b41-4e28-bbaa-8211504dbf91/scratchpad/deck/figs/dhcp_fig.png">    </p:cNvPr>
          <p:cNvPicPr>
            <a:picLocks noChangeAspect="1"/>
          </p:cNvPicPr>
          <p:nvPr/>
        </p:nvPicPr>
        <p:blipFill>
          <a:blip r:embed="rId2"/>
          <a:stretch>
            <a:fillRect/>
          </a:stretch>
        </p:blipFill>
        <p:spPr>
          <a:xfrm>
            <a:off x="5715000" y="3247564"/>
            <a:ext cx="5925312" cy="1559293"/>
          </a:xfrm>
          <a:prstGeom prst="rect">
            <a:avLst/>
          </a:prstGeom>
        </p:spPr>
      </p:pic>
      <p:sp>
        <p:nvSpPr>
          <p:cNvPr id="9" name="Shape 5"/>
          <p:cNvSpPr/>
          <p:nvPr/>
        </p:nvSpPr>
        <p:spPr>
          <a:xfrm>
            <a:off x="548640" y="5074920"/>
            <a:ext cx="3515258" cy="1234440"/>
          </a:xfrm>
          <a:prstGeom prst="roundRect">
            <a:avLst>
              <a:gd name="adj" fmla="val 7407"/>
            </a:avLst>
          </a:prstGeom>
          <a:solidFill>
            <a:srgbClr val="EAF2F9"/>
          </a:solidFill>
          <a:ln w="12700">
            <a:solidFill>
              <a:srgbClr val="EAF2F9"/>
            </a:solidFill>
            <a:prstDash val="solid"/>
          </a:ln>
        </p:spPr>
      </p:sp>
      <p:sp>
        <p:nvSpPr>
          <p:cNvPr id="10" name="Text 6"/>
          <p:cNvSpPr txBox="1"/>
          <p:nvPr/>
        </p:nvSpPr>
        <p:spPr>
          <a:xfrm>
            <a:off x="713232" y="5184648"/>
            <a:ext cx="3186074" cy="1014984"/>
          </a:xfrm>
          <a:prstGeom prst="rect">
            <a:avLst/>
          </a:prstGeom>
          <a:noFill/>
          <a:ln/>
        </p:spPr>
        <p:txBody>
          <a:bodyPr wrap="square" lIns="0" tIns="0" rIns="0" bIns="0" rtlCol="0" anchor="t"/>
          <a:lstStyle/>
          <a:p>
            <a:pPr indent="0" marL="0">
              <a:spcAft>
                <a:spcPts val="400"/>
              </a:spcAft>
              <a:buNone/>
            </a:pPr>
            <a:r>
              <a:rPr lang="en-US" sz="1400" b="1" dirty="0">
                <a:solidFill>
                  <a:srgbClr val="12324F"/>
                </a:solidFill>
                <a:latin typeface="Calibri" pitchFamily="34" charset="0"/>
                <a:ea typeface="Calibri" pitchFamily="34" charset="-122"/>
                <a:cs typeface="Calibri" pitchFamily="34" charset="-120"/>
              </a:rPr>
              <a:t>Practical</a:t>
            </a:r>
            <a:endParaRPr lang="en-US" sz="1400" dirty="0"/>
          </a:p>
          <a:p>
            <a:pPr indent="0" marL="0">
              <a:spcAft>
                <a:spcPts val="400"/>
              </a:spcAft>
              <a:buNone/>
            </a:pPr>
            <a:r>
              <a:rPr lang="en-US" sz="1200" dirty="0">
                <a:solidFill>
                  <a:srgbClr val="17334B"/>
                </a:solidFill>
                <a:latin typeface="Calibri" pitchFamily="34" charset="0"/>
                <a:ea typeface="Calibri" pitchFamily="34" charset="-122"/>
                <a:cs typeface="Calibri" pitchFamily="34" charset="-120"/>
              </a:rPr>
              <a:t>Lab 4: DHCP, DNS, web and email servers in Packet Tracer.</a:t>
            </a:r>
            <a:endParaRPr lang="en-US" sz="1400" dirty="0"/>
          </a:p>
        </p:txBody>
      </p:sp>
      <p:sp>
        <p:nvSpPr>
          <p:cNvPr id="11" name="Shape 7"/>
          <p:cNvSpPr/>
          <p:nvPr/>
        </p:nvSpPr>
        <p:spPr>
          <a:xfrm>
            <a:off x="4338218" y="5074920"/>
            <a:ext cx="3515258" cy="1234440"/>
          </a:xfrm>
          <a:prstGeom prst="roundRect">
            <a:avLst>
              <a:gd name="adj" fmla="val 7407"/>
            </a:avLst>
          </a:prstGeom>
          <a:solidFill>
            <a:srgbClr val="E6F4F1"/>
          </a:solidFill>
          <a:ln w="12700">
            <a:solidFill>
              <a:srgbClr val="E6F4F1"/>
            </a:solidFill>
            <a:prstDash val="solid"/>
          </a:ln>
        </p:spPr>
      </p:sp>
      <p:sp>
        <p:nvSpPr>
          <p:cNvPr id="12" name="Text 8"/>
          <p:cNvSpPr txBox="1"/>
          <p:nvPr/>
        </p:nvSpPr>
        <p:spPr>
          <a:xfrm>
            <a:off x="4502810" y="5184648"/>
            <a:ext cx="3186074" cy="1014984"/>
          </a:xfrm>
          <a:prstGeom prst="rect">
            <a:avLst/>
          </a:prstGeom>
          <a:noFill/>
          <a:ln/>
        </p:spPr>
        <p:txBody>
          <a:bodyPr wrap="square" lIns="0" tIns="0" rIns="0" bIns="0" rtlCol="0" anchor="t"/>
          <a:lstStyle/>
          <a:p>
            <a:pPr indent="0" marL="0">
              <a:spcAft>
                <a:spcPts val="400"/>
              </a:spcAft>
              <a:buNone/>
            </a:pPr>
            <a:r>
              <a:rPr lang="en-US" sz="1400" b="1" dirty="0">
                <a:solidFill>
                  <a:srgbClr val="12324F"/>
                </a:solidFill>
                <a:latin typeface="Calibri" pitchFamily="34" charset="0"/>
                <a:ea typeface="Calibri" pitchFamily="34" charset="-122"/>
                <a:cs typeface="Calibri" pitchFamily="34" charset="-120"/>
              </a:rPr>
              <a:t>Task</a:t>
            </a:r>
            <a:endParaRPr lang="en-US" sz="1400" dirty="0"/>
          </a:p>
          <a:p>
            <a:pPr indent="0" marL="0">
              <a:spcAft>
                <a:spcPts val="400"/>
              </a:spcAft>
              <a:buNone/>
            </a:pPr>
            <a:r>
              <a:rPr lang="en-US" sz="1200" dirty="0">
                <a:solidFill>
                  <a:srgbClr val="17334B"/>
                </a:solidFill>
                <a:latin typeface="Calibri" pitchFamily="34" charset="0"/>
                <a:ea typeface="Calibri" pitchFamily="34" charset="-122"/>
                <a:cs typeface="Calibri" pitchFamily="34" charset="-120"/>
              </a:rPr>
              <a:t>Workbook A4: services for a web-design office.</a:t>
            </a:r>
            <a:endParaRPr lang="en-US" sz="1400" dirty="0"/>
          </a:p>
        </p:txBody>
      </p:sp>
      <p:sp>
        <p:nvSpPr>
          <p:cNvPr id="13" name="Shape 9"/>
          <p:cNvSpPr/>
          <p:nvPr/>
        </p:nvSpPr>
        <p:spPr>
          <a:xfrm>
            <a:off x="8127797" y="5074920"/>
            <a:ext cx="3515258" cy="1234440"/>
          </a:xfrm>
          <a:prstGeom prst="roundRect">
            <a:avLst>
              <a:gd name="adj" fmla="val 7407"/>
            </a:avLst>
          </a:prstGeom>
          <a:solidFill>
            <a:srgbClr val="FDF1E7"/>
          </a:solidFill>
          <a:ln w="12700">
            <a:solidFill>
              <a:srgbClr val="FDF1E7"/>
            </a:solidFill>
            <a:prstDash val="solid"/>
          </a:ln>
        </p:spPr>
      </p:sp>
      <p:sp>
        <p:nvSpPr>
          <p:cNvPr id="14" name="Text 10"/>
          <p:cNvSpPr txBox="1"/>
          <p:nvPr/>
        </p:nvSpPr>
        <p:spPr>
          <a:xfrm>
            <a:off x="8292389" y="5184648"/>
            <a:ext cx="3186074" cy="1014984"/>
          </a:xfrm>
          <a:prstGeom prst="rect">
            <a:avLst/>
          </a:prstGeom>
          <a:noFill/>
          <a:ln/>
        </p:spPr>
        <p:txBody>
          <a:bodyPr wrap="square" lIns="0" tIns="0" rIns="0" bIns="0" rtlCol="0" anchor="t"/>
          <a:lstStyle/>
          <a:p>
            <a:pPr indent="0" marL="0">
              <a:spcAft>
                <a:spcPts val="400"/>
              </a:spcAft>
              <a:buNone/>
            </a:pPr>
            <a:r>
              <a:rPr lang="en-US" sz="1400" b="1" dirty="0">
                <a:solidFill>
                  <a:srgbClr val="12324F"/>
                </a:solidFill>
                <a:latin typeface="Calibri" pitchFamily="34" charset="0"/>
                <a:ea typeface="Calibri" pitchFamily="34" charset="-122"/>
                <a:cs typeface="Calibri" pitchFamily="34" charset="-120"/>
              </a:rPr>
              <a:t>Check</a:t>
            </a:r>
            <a:endParaRPr lang="en-US" sz="1400" dirty="0"/>
          </a:p>
          <a:p>
            <a:pPr indent="0" marL="0">
              <a:spcAft>
                <a:spcPts val="400"/>
              </a:spcAft>
              <a:buNone/>
            </a:pPr>
            <a:r>
              <a:rPr lang="en-US" sz="1200" dirty="0">
                <a:solidFill>
                  <a:srgbClr val="17334B"/>
                </a:solidFill>
                <a:latin typeface="Calibri" pitchFamily="34" charset="0"/>
                <a:ea typeface="Calibri" pitchFamily="34" charset="-122"/>
                <a:cs typeface="Calibri" pitchFamily="34" charset="-120"/>
              </a:rPr>
              <a:t>Why do printers get static addresses?</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548640" y="164592"/>
            <a:ext cx="914400" cy="310896"/>
          </a:xfrm>
          <a:prstGeom prst="roundRect">
            <a:avLst>
              <a:gd name="adj" fmla="val 23529"/>
            </a:avLst>
          </a:prstGeom>
          <a:solidFill>
            <a:srgbClr val="20857B"/>
          </a:solidFill>
          <a:ln w="12700">
            <a:solidFill>
              <a:srgbClr val="20857B"/>
            </a:solidFill>
            <a:prstDash val="solid"/>
          </a:ln>
        </p:spPr>
      </p:sp>
      <p:sp>
        <p:nvSpPr>
          <p:cNvPr id="3" name="Text 1"/>
          <p:cNvSpPr txBox="1"/>
          <p:nvPr/>
        </p:nvSpPr>
        <p:spPr>
          <a:xfrm>
            <a:off x="548640" y="164592"/>
            <a:ext cx="91440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ASG 1</a:t>
            </a:r>
            <a:endParaRPr lang="en-US" sz="1200" dirty="0"/>
          </a:p>
        </p:txBody>
      </p:sp>
      <p:sp>
        <p:nvSpPr>
          <p:cNvPr id="4" name="Text 2"/>
          <p:cNvSpPr txBox="1"/>
          <p:nvPr/>
        </p:nvSpPr>
        <p:spPr>
          <a:xfrm>
            <a:off x="548640" y="502920"/>
            <a:ext cx="11094415" cy="731520"/>
          </a:xfrm>
          <a:prstGeom prst="rect">
            <a:avLst/>
          </a:prstGeom>
          <a:noFill/>
          <a:ln/>
        </p:spPr>
        <p:txBody>
          <a:bodyPr wrap="square" lIns="0" tIns="0" rIns="0" bIns="0" rtlCol="0" anchor="ctr"/>
          <a:lstStyle/>
          <a:p>
            <a:pPr indent="0" marL="0">
              <a:buNone/>
            </a:pPr>
            <a:r>
              <a:rPr lang="en-US" sz="2800" b="1" dirty="0">
                <a:solidFill>
                  <a:srgbClr val="17334B"/>
                </a:solidFill>
                <a:latin typeface="Cambria" pitchFamily="34" charset="0"/>
                <a:ea typeface="Cambria" pitchFamily="34" charset="-122"/>
                <a:cs typeface="Cambria" pitchFamily="34" charset="-120"/>
              </a:rPr>
              <a:t>Assignment 1: Investigating computer networks</a:t>
            </a:r>
            <a:endParaRPr lang="en-US" sz="2800" dirty="0"/>
          </a:p>
        </p:txBody>
      </p:sp>
      <p:sp>
        <p:nvSpPr>
          <p:cNvPr id="5" name="Text 3"/>
          <p:cNvSpPr txBox="1"/>
          <p:nvPr/>
        </p:nvSpPr>
        <p:spPr>
          <a:xfrm>
            <a:off x="548640" y="1188720"/>
            <a:ext cx="11094415" cy="411480"/>
          </a:xfrm>
          <a:prstGeom prst="rect">
            <a:avLst/>
          </a:prstGeom>
          <a:noFill/>
          <a:ln/>
        </p:spPr>
        <p:txBody>
          <a:bodyPr wrap="square" lIns="0" tIns="0" rIns="0" bIns="0" rtlCol="0" anchor="ctr"/>
          <a:lstStyle/>
          <a:p>
            <a:pPr indent="0" marL="0">
              <a:buNone/>
            </a:pPr>
            <a:r>
              <a:rPr lang="en-US" sz="1500" i="1" dirty="0">
                <a:solidFill>
                  <a:srgbClr val="4F6577"/>
                </a:solidFill>
                <a:latin typeface="Calibri" pitchFamily="34" charset="0"/>
                <a:ea typeface="Calibri" pitchFamily="34" charset="-122"/>
                <a:cs typeface="Calibri" pitchFamily="34" charset="-120"/>
              </a:rPr>
              <a:t>Scenario: junior network technician writing technical pages for the company website. Evidence: a report.</a:t>
            </a:r>
            <a:endParaRPr lang="en-US" sz="1500" dirty="0"/>
          </a:p>
        </p:txBody>
      </p:sp>
      <p:sp>
        <p:nvSpPr>
          <p:cNvPr id="6" name="Shape 4"/>
          <p:cNvSpPr/>
          <p:nvPr/>
        </p:nvSpPr>
        <p:spPr>
          <a:xfrm>
            <a:off x="548640" y="1783080"/>
            <a:ext cx="5440680" cy="1645920"/>
          </a:xfrm>
          <a:prstGeom prst="roundRect">
            <a:avLst>
              <a:gd name="adj" fmla="val 5556"/>
            </a:avLst>
          </a:prstGeom>
          <a:solidFill>
            <a:srgbClr val="EAF2F9"/>
          </a:solidFill>
          <a:ln w="12700">
            <a:solidFill>
              <a:srgbClr val="EAF2F9"/>
            </a:solidFill>
            <a:prstDash val="solid"/>
          </a:ln>
        </p:spPr>
      </p:sp>
      <p:sp>
        <p:nvSpPr>
          <p:cNvPr id="7" name="Text 5"/>
          <p:cNvSpPr txBox="1"/>
          <p:nvPr/>
        </p:nvSpPr>
        <p:spPr>
          <a:xfrm>
            <a:off x="713232" y="1892808"/>
            <a:ext cx="5111496" cy="1426464"/>
          </a:xfrm>
          <a:prstGeom prst="rect">
            <a:avLst/>
          </a:prstGeom>
          <a:noFill/>
          <a:ln/>
        </p:spPr>
        <p:txBody>
          <a:bodyPr wrap="square" lIns="0" tIns="0" rIns="0" bIns="0" rtlCol="0" anchor="t"/>
          <a:lstStyle/>
          <a:p>
            <a:pPr indent="0" marL="0">
              <a:spcAft>
                <a:spcPts val="400"/>
              </a:spcAft>
              <a:buNone/>
            </a:pPr>
            <a:r>
              <a:rPr lang="en-US" sz="1600" b="1" dirty="0">
                <a:solidFill>
                  <a:srgbClr val="12324F"/>
                </a:solidFill>
                <a:latin typeface="Calibri" pitchFamily="34" charset="0"/>
                <a:ea typeface="Calibri" pitchFamily="34" charset="-122"/>
                <a:cs typeface="Calibri" pitchFamily="34" charset="-120"/>
              </a:rPr>
              <a:t>A.P1 · Pass</a:t>
            </a:r>
            <a:endParaRPr lang="en-US" sz="1600" dirty="0"/>
          </a:p>
          <a:p>
            <a:pPr indent="0" marL="0">
              <a:spcAft>
                <a:spcPts val="400"/>
              </a:spcAft>
              <a:buNone/>
            </a:pPr>
            <a:r>
              <a:rPr lang="en-US" sz="1400" dirty="0">
                <a:solidFill>
                  <a:srgbClr val="17334B"/>
                </a:solidFill>
                <a:latin typeface="Calibri" pitchFamily="34" charset="0"/>
                <a:ea typeface="Calibri" pitchFamily="34" charset="-122"/>
                <a:cs typeface="Calibri" pitchFamily="34" charset="-120"/>
              </a:rPr>
              <a:t>Website pages: need and choice of network types and models, topologies, standards, trends (BYOD, cloud).</a:t>
            </a:r>
            <a:endParaRPr lang="en-US" sz="1600" dirty="0"/>
          </a:p>
        </p:txBody>
      </p:sp>
      <p:sp>
        <p:nvSpPr>
          <p:cNvPr id="8" name="Shape 6"/>
          <p:cNvSpPr/>
          <p:nvPr/>
        </p:nvSpPr>
        <p:spPr>
          <a:xfrm>
            <a:off x="6126480" y="1783080"/>
            <a:ext cx="5440680" cy="1645920"/>
          </a:xfrm>
          <a:prstGeom prst="roundRect">
            <a:avLst>
              <a:gd name="adj" fmla="val 5556"/>
            </a:avLst>
          </a:prstGeom>
          <a:solidFill>
            <a:srgbClr val="EAF2F9"/>
          </a:solidFill>
          <a:ln w="12700">
            <a:solidFill>
              <a:srgbClr val="EAF2F9"/>
            </a:solidFill>
            <a:prstDash val="solid"/>
          </a:ln>
        </p:spPr>
      </p:sp>
      <p:sp>
        <p:nvSpPr>
          <p:cNvPr id="9" name="Text 7"/>
          <p:cNvSpPr txBox="1"/>
          <p:nvPr/>
        </p:nvSpPr>
        <p:spPr>
          <a:xfrm>
            <a:off x="6291072" y="1892808"/>
            <a:ext cx="5111496" cy="1426464"/>
          </a:xfrm>
          <a:prstGeom prst="rect">
            <a:avLst/>
          </a:prstGeom>
          <a:noFill/>
          <a:ln/>
        </p:spPr>
        <p:txBody>
          <a:bodyPr wrap="square" lIns="0" tIns="0" rIns="0" bIns="0" rtlCol="0" anchor="t"/>
          <a:lstStyle/>
          <a:p>
            <a:pPr indent="0" marL="0">
              <a:spcAft>
                <a:spcPts val="400"/>
              </a:spcAft>
              <a:buNone/>
            </a:pPr>
            <a:r>
              <a:rPr lang="en-US" sz="1600" b="1" dirty="0">
                <a:solidFill>
                  <a:srgbClr val="12324F"/>
                </a:solidFill>
                <a:latin typeface="Calibri" pitchFamily="34" charset="0"/>
                <a:ea typeface="Calibri" pitchFamily="34" charset="-122"/>
                <a:cs typeface="Calibri" pitchFamily="34" charset="-120"/>
              </a:rPr>
              <a:t>A.P2 · Pass</a:t>
            </a:r>
            <a:endParaRPr lang="en-US" sz="1600" dirty="0"/>
          </a:p>
          <a:p>
            <a:pPr indent="0" marL="0">
              <a:spcAft>
                <a:spcPts val="400"/>
              </a:spcAft>
              <a:buNone/>
            </a:pPr>
            <a:r>
              <a:rPr lang="en-US" sz="1400" dirty="0">
                <a:solidFill>
                  <a:srgbClr val="17334B"/>
                </a:solidFill>
                <a:latin typeface="Calibri" pitchFamily="34" charset="0"/>
                <a:ea typeface="Calibri" pitchFamily="34" charset="-122"/>
                <a:cs typeface="Calibri" pitchFamily="34" charset="-120"/>
              </a:rPr>
              <a:t>Table: functions and characteristics of hardware, media and software components.</a:t>
            </a:r>
            <a:endParaRPr lang="en-US" sz="1600" dirty="0"/>
          </a:p>
        </p:txBody>
      </p:sp>
      <p:sp>
        <p:nvSpPr>
          <p:cNvPr id="10" name="Shape 8"/>
          <p:cNvSpPr/>
          <p:nvPr/>
        </p:nvSpPr>
        <p:spPr>
          <a:xfrm>
            <a:off x="548640" y="3611880"/>
            <a:ext cx="5440680" cy="1645920"/>
          </a:xfrm>
          <a:prstGeom prst="roundRect">
            <a:avLst>
              <a:gd name="adj" fmla="val 5556"/>
            </a:avLst>
          </a:prstGeom>
          <a:solidFill>
            <a:srgbClr val="E6F4F1"/>
          </a:solidFill>
          <a:ln w="12700">
            <a:solidFill>
              <a:srgbClr val="E6F4F1"/>
            </a:solidFill>
            <a:prstDash val="solid"/>
          </a:ln>
        </p:spPr>
      </p:sp>
      <p:sp>
        <p:nvSpPr>
          <p:cNvPr id="11" name="Text 9"/>
          <p:cNvSpPr txBox="1"/>
          <p:nvPr/>
        </p:nvSpPr>
        <p:spPr>
          <a:xfrm>
            <a:off x="713232" y="3721608"/>
            <a:ext cx="5111496" cy="1426464"/>
          </a:xfrm>
          <a:prstGeom prst="rect">
            <a:avLst/>
          </a:prstGeom>
          <a:noFill/>
          <a:ln/>
        </p:spPr>
        <p:txBody>
          <a:bodyPr wrap="square" lIns="0" tIns="0" rIns="0" bIns="0" rtlCol="0" anchor="t"/>
          <a:lstStyle/>
          <a:p>
            <a:pPr indent="0" marL="0">
              <a:spcAft>
                <a:spcPts val="400"/>
              </a:spcAft>
              <a:buNone/>
            </a:pPr>
            <a:r>
              <a:rPr lang="en-US" sz="1600" b="1" dirty="0">
                <a:solidFill>
                  <a:srgbClr val="12324F"/>
                </a:solidFill>
                <a:latin typeface="Calibri" pitchFamily="34" charset="0"/>
                <a:ea typeface="Calibri" pitchFamily="34" charset="-122"/>
                <a:cs typeface="Calibri" pitchFamily="34" charset="-120"/>
              </a:rPr>
              <a:t>A.M1 · Merit</a:t>
            </a:r>
            <a:endParaRPr lang="en-US" sz="1600" dirty="0"/>
          </a:p>
          <a:p>
            <a:pPr indent="0" marL="0">
              <a:spcAft>
                <a:spcPts val="400"/>
              </a:spcAft>
              <a:buNone/>
            </a:pPr>
            <a:r>
              <a:rPr lang="en-US" sz="1400" dirty="0">
                <a:solidFill>
                  <a:srgbClr val="17334B"/>
                </a:solidFill>
                <a:latin typeface="Calibri" pitchFamily="34" charset="0"/>
                <a:ea typeface="Calibri" pitchFamily="34" charset="-122"/>
                <a:cs typeface="Calibri" pitchFamily="34" charset="-120"/>
              </a:rPr>
              <a:t>Report analysing how components work together in LAN, WAN and wireless; protocols and data transfer with illustrations.</a:t>
            </a:r>
            <a:endParaRPr lang="en-US" sz="1600" dirty="0"/>
          </a:p>
        </p:txBody>
      </p:sp>
      <p:sp>
        <p:nvSpPr>
          <p:cNvPr id="12" name="Shape 10"/>
          <p:cNvSpPr/>
          <p:nvPr/>
        </p:nvSpPr>
        <p:spPr>
          <a:xfrm>
            <a:off x="6126480" y="3611880"/>
            <a:ext cx="5440680" cy="1645920"/>
          </a:xfrm>
          <a:prstGeom prst="roundRect">
            <a:avLst>
              <a:gd name="adj" fmla="val 5556"/>
            </a:avLst>
          </a:prstGeom>
          <a:solidFill>
            <a:srgbClr val="FDF1E7"/>
          </a:solidFill>
          <a:ln w="12700">
            <a:solidFill>
              <a:srgbClr val="FDF1E7"/>
            </a:solidFill>
            <a:prstDash val="solid"/>
          </a:ln>
        </p:spPr>
      </p:sp>
      <p:sp>
        <p:nvSpPr>
          <p:cNvPr id="13" name="Text 11"/>
          <p:cNvSpPr txBox="1"/>
          <p:nvPr/>
        </p:nvSpPr>
        <p:spPr>
          <a:xfrm>
            <a:off x="6291072" y="3721608"/>
            <a:ext cx="5111496" cy="1426464"/>
          </a:xfrm>
          <a:prstGeom prst="rect">
            <a:avLst/>
          </a:prstGeom>
          <a:noFill/>
          <a:ln/>
        </p:spPr>
        <p:txBody>
          <a:bodyPr wrap="square" lIns="0" tIns="0" rIns="0" bIns="0" rtlCol="0" anchor="t"/>
          <a:lstStyle/>
          <a:p>
            <a:pPr indent="0" marL="0">
              <a:spcAft>
                <a:spcPts val="400"/>
              </a:spcAft>
              <a:buNone/>
            </a:pPr>
            <a:r>
              <a:rPr lang="en-US" sz="1600" b="1" dirty="0">
                <a:solidFill>
                  <a:srgbClr val="12324F"/>
                </a:solidFill>
                <a:latin typeface="Calibri" pitchFamily="34" charset="0"/>
                <a:ea typeface="Calibri" pitchFamily="34" charset="-122"/>
                <a:cs typeface="Calibri" pitchFamily="34" charset="-120"/>
              </a:rPr>
              <a:t>A.D1 · Distinction</a:t>
            </a:r>
            <a:endParaRPr lang="en-US" sz="1600" dirty="0"/>
          </a:p>
          <a:p>
            <a:pPr indent="0" marL="0">
              <a:spcAft>
                <a:spcPts val="400"/>
              </a:spcAft>
              <a:buNone/>
            </a:pPr>
            <a:r>
              <a:rPr lang="en-US" sz="1400" dirty="0">
                <a:solidFill>
                  <a:srgbClr val="17334B"/>
                </a:solidFill>
                <a:latin typeface="Calibri" pitchFamily="34" charset="0"/>
                <a:ea typeface="Calibri" pitchFamily="34" charset="-122"/>
                <a:cs typeface="Calibri" pitchFamily="34" charset="-120"/>
              </a:rPr>
              <a:t>Balanced evaluation of peer-to-peer, client/server and thin client for different clients, with a justified conclusion.</a:t>
            </a:r>
            <a:endParaRPr lang="en-US" sz="1600" dirty="0"/>
          </a:p>
        </p:txBody>
      </p:sp>
      <p:sp>
        <p:nvSpPr>
          <p:cNvPr id="14" name="Shape 12"/>
          <p:cNvSpPr/>
          <p:nvPr/>
        </p:nvSpPr>
        <p:spPr>
          <a:xfrm>
            <a:off x="548640" y="5486400"/>
            <a:ext cx="11094415" cy="822960"/>
          </a:xfrm>
          <a:prstGeom prst="roundRect">
            <a:avLst>
              <a:gd name="adj" fmla="val 11111"/>
            </a:avLst>
          </a:prstGeom>
          <a:solidFill>
            <a:srgbClr val="FFFFFF"/>
          </a:solidFill>
          <a:ln w="12700">
            <a:solidFill>
              <a:srgbClr val="FFFFFF"/>
            </a:solidFill>
            <a:prstDash val="solid"/>
          </a:ln>
        </p:spPr>
      </p:sp>
      <p:sp>
        <p:nvSpPr>
          <p:cNvPr id="15" name="Text 13"/>
          <p:cNvSpPr txBox="1"/>
          <p:nvPr/>
        </p:nvSpPr>
        <p:spPr>
          <a:xfrm>
            <a:off x="713232" y="5596128"/>
            <a:ext cx="10765231" cy="603504"/>
          </a:xfrm>
          <a:prstGeom prst="rect">
            <a:avLst/>
          </a:prstGeom>
          <a:noFill/>
          <a:ln/>
        </p:spPr>
        <p:txBody>
          <a:bodyPr wrap="square" lIns="0" tIns="0" rIns="0" bIns="0" rtlCol="0" anchor="t"/>
          <a:lstStyle/>
          <a:p>
            <a:pPr indent="0" marL="0">
              <a:spcAft>
                <a:spcPts val="400"/>
              </a:spcAft>
              <a:buNone/>
            </a:pPr>
            <a:r>
              <a:rPr lang="en-US" sz="1500" b="1" dirty="0">
                <a:solidFill>
                  <a:srgbClr val="20857B"/>
                </a:solidFill>
                <a:latin typeface="Calibri" pitchFamily="34" charset="0"/>
                <a:ea typeface="Calibri" pitchFamily="34" charset="-122"/>
                <a:cs typeface="Calibri" pitchFamily="34" charset="-120"/>
              </a:rPr>
              <a:t>Tools for students</a:t>
            </a:r>
            <a:endParaRPr lang="en-US" sz="1500" dirty="0"/>
          </a:p>
          <a:p>
            <a:pPr indent="0" marL="0">
              <a:spcAft>
                <a:spcPts val="400"/>
              </a:spcAft>
              <a:buNone/>
            </a:pPr>
            <a:r>
              <a:rPr lang="en-US" sz="1300" dirty="0">
                <a:solidFill>
                  <a:srgbClr val="17334B"/>
                </a:solidFill>
                <a:latin typeface="Calibri" pitchFamily="34" charset="0"/>
                <a:ea typeface="Calibri" pitchFamily="34" charset="-122"/>
                <a:cs typeface="Calibri" pitchFamily="34" charset="-120"/>
              </a:rPr>
              <a:t>Assignment guide checklists · Assignment builder component table · AI coach (explain, plan, review, accuracy) · AI-use log to submit</a:t>
            </a:r>
            <a:endParaRPr lang="en-US" sz="1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2324F"/>
        </a:solidFill>
      </p:bgPr>
    </p:bg>
    <p:spTree>
      <p:nvGrpSpPr>
        <p:cNvPr id="1" name=""/>
        <p:cNvGrpSpPr/>
        <p:nvPr/>
      </p:nvGrpSpPr>
      <p:grpSpPr>
        <a:xfrm>
          <a:off x="0" y="0"/>
          <a:ext cx="0" cy="0"/>
          <a:chOff x="0" y="0"/>
          <a:chExt cx="0" cy="0"/>
        </a:xfrm>
      </p:grpSpPr>
      <p:sp>
        <p:nvSpPr>
          <p:cNvPr id="2" name="Text 0"/>
          <p:cNvSpPr txBox="1"/>
          <p:nvPr/>
        </p:nvSpPr>
        <p:spPr>
          <a:xfrm>
            <a:off x="548640" y="2103120"/>
            <a:ext cx="11094415" cy="109728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Learning aims B and C</a:t>
            </a:r>
            <a:endParaRPr lang="en-US" sz="4400" dirty="0"/>
          </a:p>
        </p:txBody>
      </p:sp>
      <p:sp>
        <p:nvSpPr>
          <p:cNvPr id="3" name="Text 1"/>
          <p:cNvSpPr txBox="1"/>
          <p:nvPr/>
        </p:nvSpPr>
        <p:spPr>
          <a:xfrm>
            <a:off x="548640" y="3291840"/>
            <a:ext cx="11094415" cy="914400"/>
          </a:xfrm>
          <a:prstGeom prst="rect">
            <a:avLst/>
          </a:prstGeom>
          <a:noFill/>
          <a:ln/>
        </p:spPr>
        <p:txBody>
          <a:bodyPr wrap="square" lIns="0" tIns="0" rIns="0" bIns="0" rtlCol="0" anchor="ctr"/>
          <a:lstStyle/>
          <a:p>
            <a:pPr indent="0" marL="0">
              <a:buNone/>
            </a:pPr>
            <a:r>
              <a:rPr lang="en-US" sz="2000" dirty="0">
                <a:solidFill>
                  <a:srgbClr val="CADCFC"/>
                </a:solidFill>
                <a:latin typeface="Calibri" pitchFamily="34" charset="0"/>
                <a:ea typeface="Calibri" pitchFamily="34" charset="-122"/>
                <a:cs typeface="Calibri" pitchFamily="34" charset="-120"/>
              </a:rPr>
              <a:t>Design, build, test and evaluate a network for a client · Assignment 2</a:t>
            </a:r>
            <a:endParaRPr lang="en-US" sz="2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548640" y="164592"/>
            <a:ext cx="914400" cy="310896"/>
          </a:xfrm>
          <a:prstGeom prst="roundRect">
            <a:avLst>
              <a:gd name="adj" fmla="val 23529"/>
            </a:avLst>
          </a:prstGeom>
          <a:solidFill>
            <a:srgbClr val="20857B"/>
          </a:solidFill>
          <a:ln w="12700">
            <a:solidFill>
              <a:srgbClr val="20857B"/>
            </a:solidFill>
            <a:prstDash val="solid"/>
          </a:ln>
        </p:spPr>
      </p:sp>
      <p:sp>
        <p:nvSpPr>
          <p:cNvPr id="3" name="Text 1"/>
          <p:cNvSpPr txBox="1"/>
          <p:nvPr/>
        </p:nvSpPr>
        <p:spPr>
          <a:xfrm>
            <a:off x="548640" y="164592"/>
            <a:ext cx="91440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B1</a:t>
            </a:r>
            <a:endParaRPr lang="en-US" sz="1200" dirty="0"/>
          </a:p>
        </p:txBody>
      </p:sp>
      <p:sp>
        <p:nvSpPr>
          <p:cNvPr id="4" name="Text 2"/>
          <p:cNvSpPr txBox="1"/>
          <p:nvPr/>
        </p:nvSpPr>
        <p:spPr>
          <a:xfrm>
            <a:off x="548640" y="502920"/>
            <a:ext cx="11094415" cy="731520"/>
          </a:xfrm>
          <a:prstGeom prst="rect">
            <a:avLst/>
          </a:prstGeom>
          <a:noFill/>
          <a:ln/>
        </p:spPr>
        <p:txBody>
          <a:bodyPr wrap="square" lIns="0" tIns="0" rIns="0" bIns="0" rtlCol="0" anchor="ctr"/>
          <a:lstStyle/>
          <a:p>
            <a:pPr indent="0" marL="0">
              <a:buNone/>
            </a:pPr>
            <a:r>
              <a:rPr lang="en-US" sz="2800" b="1" dirty="0">
                <a:solidFill>
                  <a:srgbClr val="17334B"/>
                </a:solidFill>
                <a:latin typeface="Cambria" pitchFamily="34" charset="0"/>
                <a:ea typeface="Cambria" pitchFamily="34" charset="-122"/>
                <a:cs typeface="Cambria" pitchFamily="34" charset="-120"/>
              </a:rPr>
              <a:t>Design strategies</a:t>
            </a:r>
            <a:endParaRPr lang="en-US" sz="2800" dirty="0"/>
          </a:p>
        </p:txBody>
      </p:sp>
      <p:sp>
        <p:nvSpPr>
          <p:cNvPr id="5" name="Text 3"/>
          <p:cNvSpPr txBox="1"/>
          <p:nvPr/>
        </p:nvSpPr>
        <p:spPr>
          <a:xfrm>
            <a:off x="548640" y="1188720"/>
            <a:ext cx="4937760" cy="548640"/>
          </a:xfrm>
          <a:prstGeom prst="rect">
            <a:avLst/>
          </a:prstGeom>
          <a:noFill/>
          <a:ln/>
        </p:spPr>
        <p:txBody>
          <a:bodyPr wrap="square" lIns="0" tIns="0" rIns="0" bIns="0" rtlCol="0" anchor="t"/>
          <a:lstStyle/>
          <a:p>
            <a:pPr indent="0" marL="0">
              <a:buNone/>
            </a:pPr>
            <a:r>
              <a:rPr lang="en-US" sz="1400" i="1" dirty="0">
                <a:solidFill>
                  <a:srgbClr val="4F6577"/>
                </a:solidFill>
                <a:latin typeface="Calibri" pitchFamily="34" charset="0"/>
                <a:ea typeface="Calibri" pitchFamily="34" charset="-122"/>
                <a:cs typeface="Calibri" pitchFamily="34" charset="-120"/>
              </a:rPr>
              <a:t>Aim: explain why networks need design and planning strategies</a:t>
            </a:r>
            <a:endParaRPr lang="en-US" sz="1400" dirty="0"/>
          </a:p>
        </p:txBody>
      </p:sp>
      <p:sp>
        <p:nvSpPr>
          <p:cNvPr id="6" name="Text 4"/>
          <p:cNvSpPr txBox="1"/>
          <p:nvPr/>
        </p:nvSpPr>
        <p:spPr>
          <a:xfrm>
            <a:off x="548640" y="1783080"/>
            <a:ext cx="4846320" cy="3108960"/>
          </a:xfrm>
          <a:prstGeom prst="rect">
            <a:avLst/>
          </a:prstGeom>
          <a:noFill/>
          <a:ln/>
        </p:spPr>
        <p:txBody>
          <a:bodyPr wrap="square" lIns="635" tIns="635" rIns="635" bIns="635" rtlCol="0" anchor="t"/>
          <a:lstStyle/>
          <a:p>
            <a:pPr marL="342900" indent="-342900">
              <a:spcAft>
                <a:spcPts val="600"/>
              </a:spcAft>
              <a:buSzPct val="100000"/>
              <a:buChar char="•"/>
            </a:pPr>
            <a:r>
              <a:rPr lang="en-US" sz="1600" dirty="0">
                <a:solidFill>
                  <a:srgbClr val="17334B"/>
                </a:solidFill>
                <a:latin typeface="Calibri" pitchFamily="34" charset="0"/>
                <a:ea typeface="Calibri" pitchFamily="34" charset="-122"/>
                <a:cs typeface="Calibri" pitchFamily="34" charset="-120"/>
              </a:rPr>
              <a:t>Business goals become technical requirements</a:t>
            </a:r>
            <a:endParaRPr lang="en-US" sz="1600" dirty="0"/>
          </a:p>
          <a:p>
            <a:pPr marL="342900" indent="-342900">
              <a:spcAft>
                <a:spcPts val="600"/>
              </a:spcAft>
              <a:buSzPct val="100000"/>
              <a:buChar char="•"/>
            </a:pPr>
            <a:r>
              <a:rPr lang="en-US" sz="1600" dirty="0">
                <a:solidFill>
                  <a:srgbClr val="17334B"/>
                </a:solidFill>
                <a:latin typeface="Calibri" pitchFamily="34" charset="0"/>
                <a:ea typeface="Calibri" pitchFamily="34" charset="-122"/>
                <a:cs typeface="Calibri" pitchFamily="34" charset="-120"/>
              </a:rPr>
              <a:t>SOHO, SMB and enterprise designs differ</a:t>
            </a:r>
            <a:endParaRPr lang="en-US" sz="1600" dirty="0"/>
          </a:p>
          <a:p>
            <a:pPr marL="342900" indent="-342900">
              <a:spcAft>
                <a:spcPts val="600"/>
              </a:spcAft>
              <a:buSzPct val="100000"/>
              <a:buChar char="•"/>
            </a:pPr>
            <a:r>
              <a:rPr lang="en-US" sz="1600" dirty="0">
                <a:solidFill>
                  <a:srgbClr val="17334B"/>
                </a:solidFill>
                <a:latin typeface="Calibri" pitchFamily="34" charset="0"/>
                <a:ea typeface="Calibri" pitchFamily="34" charset="-122"/>
                <a:cs typeface="Calibri" pitchFamily="34" charset="-120"/>
              </a:rPr>
              <a:t>Aims: scalability, availability, redundancy, performance, security, manageability, adaptability, affordability</a:t>
            </a:r>
            <a:endParaRPr lang="en-US" sz="1600" dirty="0"/>
          </a:p>
          <a:p>
            <a:pPr marL="342900" indent="-342900">
              <a:spcAft>
                <a:spcPts val="600"/>
              </a:spcAft>
              <a:buSzPct val="100000"/>
              <a:buChar char="•"/>
            </a:pPr>
            <a:r>
              <a:rPr lang="en-US" sz="1600" dirty="0">
                <a:solidFill>
                  <a:srgbClr val="17334B"/>
                </a:solidFill>
                <a:latin typeface="Calibri" pitchFamily="34" charset="0"/>
                <a:ea typeface="Calibri" pitchFamily="34" charset="-122"/>
                <a:cs typeface="Calibri" pitchFamily="34" charset="-120"/>
              </a:rPr>
              <a:t>Constraints and trade-offs: budget, time, environment</a:t>
            </a:r>
            <a:endParaRPr lang="en-US" sz="1600" dirty="0"/>
          </a:p>
          <a:p>
            <a:pPr marL="342900" indent="-342900">
              <a:spcAft>
                <a:spcPts val="600"/>
              </a:spcAft>
              <a:buSzPct val="100000"/>
              <a:buChar char="•"/>
            </a:pPr>
            <a:r>
              <a:rPr lang="en-US" sz="1600" dirty="0">
                <a:solidFill>
                  <a:srgbClr val="17334B"/>
                </a:solidFill>
                <a:latin typeface="Calibri" pitchFamily="34" charset="0"/>
                <a:ea typeface="Calibri" pitchFamily="34" charset="-122"/>
                <a:cs typeface="Calibri" pitchFamily="34" charset="-120"/>
              </a:rPr>
              <a:t>Flat vs hierarchical (core, distribution, access)</a:t>
            </a:r>
            <a:endParaRPr lang="en-US" sz="1600" dirty="0"/>
          </a:p>
        </p:txBody>
      </p:sp>
      <p:pic>
        <p:nvPicPr>
          <p:cNvPr id="7" name="Image 0" descr="/private/tmp/claude-501/-Users-johnaikeremiokha-code-Claude-Project/bf844d04-1b41-4e28-bbaa-8211504dbf91/scratchpad/deck/figs/lifecycle_fig.png">    </p:cNvPr>
          <p:cNvPicPr>
            <a:picLocks noChangeAspect="1"/>
          </p:cNvPicPr>
          <p:nvPr/>
        </p:nvPicPr>
        <p:blipFill>
          <a:blip r:embed="rId1"/>
          <a:stretch>
            <a:fillRect/>
          </a:stretch>
        </p:blipFill>
        <p:spPr>
          <a:xfrm>
            <a:off x="5715000" y="1188720"/>
            <a:ext cx="5925312" cy="1325399"/>
          </a:xfrm>
          <a:prstGeom prst="rect">
            <a:avLst/>
          </a:prstGeom>
        </p:spPr>
      </p:pic>
      <p:pic>
        <p:nvPicPr>
          <p:cNvPr id="8" name="Image 1" descr="/private/tmp/claude-501/-Users-johnaikeremiokha-code-Claude-Project/bf844d04-1b41-4e28-bbaa-8211504dbf91/scratchpad/deck/figs/hier_fig.png">    </p:cNvPr>
          <p:cNvPicPr>
            <a:picLocks noChangeAspect="1"/>
          </p:cNvPicPr>
          <p:nvPr/>
        </p:nvPicPr>
        <p:blipFill>
          <a:blip r:embed="rId2"/>
          <a:stretch>
            <a:fillRect/>
          </a:stretch>
        </p:blipFill>
        <p:spPr>
          <a:xfrm>
            <a:off x="6118444" y="2623847"/>
            <a:ext cx="5118423" cy="2222473"/>
          </a:xfrm>
          <a:prstGeom prst="rect">
            <a:avLst/>
          </a:prstGeom>
        </p:spPr>
      </p:pic>
      <p:sp>
        <p:nvSpPr>
          <p:cNvPr id="9" name="Shape 5"/>
          <p:cNvSpPr/>
          <p:nvPr/>
        </p:nvSpPr>
        <p:spPr>
          <a:xfrm>
            <a:off x="548640" y="5074920"/>
            <a:ext cx="3515258" cy="1234440"/>
          </a:xfrm>
          <a:prstGeom prst="roundRect">
            <a:avLst>
              <a:gd name="adj" fmla="val 7407"/>
            </a:avLst>
          </a:prstGeom>
          <a:solidFill>
            <a:srgbClr val="EAF2F9"/>
          </a:solidFill>
          <a:ln w="12700">
            <a:solidFill>
              <a:srgbClr val="EAF2F9"/>
            </a:solidFill>
            <a:prstDash val="solid"/>
          </a:ln>
        </p:spPr>
      </p:sp>
      <p:sp>
        <p:nvSpPr>
          <p:cNvPr id="10" name="Text 6"/>
          <p:cNvSpPr txBox="1"/>
          <p:nvPr/>
        </p:nvSpPr>
        <p:spPr>
          <a:xfrm>
            <a:off x="713232" y="5184648"/>
            <a:ext cx="3186074" cy="1014984"/>
          </a:xfrm>
          <a:prstGeom prst="rect">
            <a:avLst/>
          </a:prstGeom>
          <a:noFill/>
          <a:ln/>
        </p:spPr>
        <p:txBody>
          <a:bodyPr wrap="square" lIns="0" tIns="0" rIns="0" bIns="0" rtlCol="0" anchor="t"/>
          <a:lstStyle/>
          <a:p>
            <a:pPr indent="0" marL="0">
              <a:spcAft>
                <a:spcPts val="400"/>
              </a:spcAft>
              <a:buNone/>
            </a:pPr>
            <a:r>
              <a:rPr lang="en-US" sz="1400" b="1" dirty="0">
                <a:solidFill>
                  <a:srgbClr val="12324F"/>
                </a:solidFill>
                <a:latin typeface="Calibri" pitchFamily="34" charset="0"/>
                <a:ea typeface="Calibri" pitchFamily="34" charset="-122"/>
                <a:cs typeface="Calibri" pitchFamily="34" charset="-120"/>
              </a:rPr>
              <a:t>Starter</a:t>
            </a:r>
            <a:endParaRPr lang="en-US" sz="1400" dirty="0"/>
          </a:p>
          <a:p>
            <a:pPr indent="0" marL="0">
              <a:spcAft>
                <a:spcPts val="400"/>
              </a:spcAft>
              <a:buNone/>
            </a:pPr>
            <a:r>
              <a:rPr lang="en-US" sz="1200" dirty="0">
                <a:solidFill>
                  <a:srgbClr val="17334B"/>
                </a:solidFill>
                <a:latin typeface="Calibri" pitchFamily="34" charset="0"/>
                <a:ea typeface="Calibri" pitchFamily="34" charset="-122"/>
                <a:cs typeface="Calibri" pitchFamily="34" charset="-120"/>
              </a:rPr>
              <a:t>Why do we need a network design and planning strategies? Think-pair-share.</a:t>
            </a:r>
            <a:endParaRPr lang="en-US" sz="1400" dirty="0"/>
          </a:p>
        </p:txBody>
      </p:sp>
      <p:sp>
        <p:nvSpPr>
          <p:cNvPr id="11" name="Shape 7"/>
          <p:cNvSpPr/>
          <p:nvPr/>
        </p:nvSpPr>
        <p:spPr>
          <a:xfrm>
            <a:off x="4338218" y="5074920"/>
            <a:ext cx="3515258" cy="1234440"/>
          </a:xfrm>
          <a:prstGeom prst="roundRect">
            <a:avLst>
              <a:gd name="adj" fmla="val 7407"/>
            </a:avLst>
          </a:prstGeom>
          <a:solidFill>
            <a:srgbClr val="E6F4F1"/>
          </a:solidFill>
          <a:ln w="12700">
            <a:solidFill>
              <a:srgbClr val="E6F4F1"/>
            </a:solidFill>
            <a:prstDash val="solid"/>
          </a:ln>
        </p:spPr>
      </p:sp>
      <p:sp>
        <p:nvSpPr>
          <p:cNvPr id="12" name="Text 8"/>
          <p:cNvSpPr txBox="1"/>
          <p:nvPr/>
        </p:nvSpPr>
        <p:spPr>
          <a:xfrm>
            <a:off x="4502810" y="5184648"/>
            <a:ext cx="3186074" cy="1014984"/>
          </a:xfrm>
          <a:prstGeom prst="rect">
            <a:avLst/>
          </a:prstGeom>
          <a:noFill/>
          <a:ln/>
        </p:spPr>
        <p:txBody>
          <a:bodyPr wrap="square" lIns="0" tIns="0" rIns="0" bIns="0" rtlCol="0" anchor="t"/>
          <a:lstStyle/>
          <a:p>
            <a:pPr indent="0" marL="0">
              <a:spcAft>
                <a:spcPts val="400"/>
              </a:spcAft>
              <a:buNone/>
            </a:pPr>
            <a:r>
              <a:rPr lang="en-US" sz="1400" b="1" dirty="0">
                <a:solidFill>
                  <a:srgbClr val="12324F"/>
                </a:solidFill>
                <a:latin typeface="Calibri" pitchFamily="34" charset="0"/>
                <a:ea typeface="Calibri" pitchFamily="34" charset="-122"/>
                <a:cs typeface="Calibri" pitchFamily="34" charset="-120"/>
              </a:rPr>
              <a:t>Task</a:t>
            </a:r>
            <a:endParaRPr lang="en-US" sz="1400" dirty="0"/>
          </a:p>
          <a:p>
            <a:pPr indent="0" marL="0">
              <a:spcAft>
                <a:spcPts val="400"/>
              </a:spcAft>
              <a:buNone/>
            </a:pPr>
            <a:r>
              <a:rPr lang="en-US" sz="1200" dirty="0">
                <a:solidFill>
                  <a:srgbClr val="17334B"/>
                </a:solidFill>
                <a:latin typeface="Calibri" pitchFamily="34" charset="0"/>
                <a:ea typeface="Calibri" pitchFamily="34" charset="-122"/>
                <a:cs typeface="Calibri" pitchFamily="34" charset="-120"/>
              </a:rPr>
              <a:t>Workbook B1a: goals, requirements and constraints for a gym.</a:t>
            </a:r>
            <a:endParaRPr lang="en-US" sz="1400" dirty="0"/>
          </a:p>
        </p:txBody>
      </p:sp>
      <p:sp>
        <p:nvSpPr>
          <p:cNvPr id="13" name="Shape 9"/>
          <p:cNvSpPr/>
          <p:nvPr/>
        </p:nvSpPr>
        <p:spPr>
          <a:xfrm>
            <a:off x="8127797" y="5074920"/>
            <a:ext cx="3515258" cy="1234440"/>
          </a:xfrm>
          <a:prstGeom prst="roundRect">
            <a:avLst>
              <a:gd name="adj" fmla="val 7407"/>
            </a:avLst>
          </a:prstGeom>
          <a:solidFill>
            <a:srgbClr val="FDF1E7"/>
          </a:solidFill>
          <a:ln w="12700">
            <a:solidFill>
              <a:srgbClr val="FDF1E7"/>
            </a:solidFill>
            <a:prstDash val="solid"/>
          </a:ln>
        </p:spPr>
      </p:sp>
      <p:sp>
        <p:nvSpPr>
          <p:cNvPr id="14" name="Text 10"/>
          <p:cNvSpPr txBox="1"/>
          <p:nvPr/>
        </p:nvSpPr>
        <p:spPr>
          <a:xfrm>
            <a:off x="8292389" y="5184648"/>
            <a:ext cx="3186074" cy="1014984"/>
          </a:xfrm>
          <a:prstGeom prst="rect">
            <a:avLst/>
          </a:prstGeom>
          <a:noFill/>
          <a:ln/>
        </p:spPr>
        <p:txBody>
          <a:bodyPr wrap="square" lIns="0" tIns="0" rIns="0" bIns="0" rtlCol="0" anchor="t"/>
          <a:lstStyle/>
          <a:p>
            <a:pPr indent="0" marL="0">
              <a:spcAft>
                <a:spcPts val="400"/>
              </a:spcAft>
              <a:buNone/>
            </a:pPr>
            <a:r>
              <a:rPr lang="en-US" sz="1400" b="1" dirty="0">
                <a:solidFill>
                  <a:srgbClr val="12324F"/>
                </a:solidFill>
                <a:latin typeface="Calibri" pitchFamily="34" charset="0"/>
                <a:ea typeface="Calibri" pitchFamily="34" charset="-122"/>
                <a:cs typeface="Calibri" pitchFamily="34" charset="-120"/>
              </a:rPr>
              <a:t>Link</a:t>
            </a:r>
            <a:endParaRPr lang="en-US" sz="1400" dirty="0"/>
          </a:p>
          <a:p>
            <a:pPr indent="0" marL="0">
              <a:spcAft>
                <a:spcPts val="400"/>
              </a:spcAft>
              <a:buNone/>
            </a:pPr>
            <a:r>
              <a:rPr lang="en-US" sz="1200" dirty="0">
                <a:solidFill>
                  <a:srgbClr val="17334B"/>
                </a:solidFill>
                <a:latin typeface="Calibri" pitchFamily="34" charset="0"/>
                <a:ea typeface="Calibri" pitchFamily="34" charset="-122"/>
                <a:cs typeface="Calibri" pitchFamily="34" charset="-120"/>
              </a:rPr>
              <a:t>B.P3 customer email and B.M2 justification.</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548640" y="164592"/>
            <a:ext cx="914400" cy="310896"/>
          </a:xfrm>
          <a:prstGeom prst="roundRect">
            <a:avLst>
              <a:gd name="adj" fmla="val 23529"/>
            </a:avLst>
          </a:prstGeom>
          <a:solidFill>
            <a:srgbClr val="20857B"/>
          </a:solidFill>
          <a:ln w="12700">
            <a:solidFill>
              <a:srgbClr val="20857B"/>
            </a:solidFill>
            <a:prstDash val="solid"/>
          </a:ln>
        </p:spPr>
      </p:sp>
      <p:sp>
        <p:nvSpPr>
          <p:cNvPr id="3" name="Text 1"/>
          <p:cNvSpPr txBox="1"/>
          <p:nvPr/>
        </p:nvSpPr>
        <p:spPr>
          <a:xfrm>
            <a:off x="548640" y="164592"/>
            <a:ext cx="91440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B1</a:t>
            </a:r>
            <a:endParaRPr lang="en-US" sz="1200" dirty="0"/>
          </a:p>
        </p:txBody>
      </p:sp>
      <p:sp>
        <p:nvSpPr>
          <p:cNvPr id="4" name="Text 2"/>
          <p:cNvSpPr txBox="1"/>
          <p:nvPr/>
        </p:nvSpPr>
        <p:spPr>
          <a:xfrm>
            <a:off x="548640" y="502920"/>
            <a:ext cx="11094415" cy="731520"/>
          </a:xfrm>
          <a:prstGeom prst="rect">
            <a:avLst/>
          </a:prstGeom>
          <a:noFill/>
          <a:ln/>
        </p:spPr>
        <p:txBody>
          <a:bodyPr wrap="square" lIns="0" tIns="0" rIns="0" bIns="0" rtlCol="0" anchor="ctr"/>
          <a:lstStyle/>
          <a:p>
            <a:pPr indent="0" marL="0">
              <a:buNone/>
            </a:pPr>
            <a:r>
              <a:rPr lang="en-US" sz="2800" b="1" dirty="0">
                <a:solidFill>
                  <a:srgbClr val="17334B"/>
                </a:solidFill>
                <a:latin typeface="Cambria" pitchFamily="34" charset="0"/>
                <a:ea typeface="Cambria" pitchFamily="34" charset="-122"/>
                <a:cs typeface="Cambria" pitchFamily="34" charset="-120"/>
              </a:rPr>
              <a:t>Logical design: IP addressing</a:t>
            </a:r>
            <a:endParaRPr lang="en-US" sz="2800" dirty="0"/>
          </a:p>
        </p:txBody>
      </p:sp>
      <p:sp>
        <p:nvSpPr>
          <p:cNvPr id="5" name="Text 3"/>
          <p:cNvSpPr txBox="1"/>
          <p:nvPr/>
        </p:nvSpPr>
        <p:spPr>
          <a:xfrm>
            <a:off x="548640" y="1188720"/>
            <a:ext cx="4937760" cy="548640"/>
          </a:xfrm>
          <a:prstGeom prst="rect">
            <a:avLst/>
          </a:prstGeom>
          <a:noFill/>
          <a:ln/>
        </p:spPr>
        <p:txBody>
          <a:bodyPr wrap="square" lIns="0" tIns="0" rIns="0" bIns="0" rtlCol="0" anchor="t"/>
          <a:lstStyle/>
          <a:p>
            <a:pPr indent="0" marL="0">
              <a:buNone/>
            </a:pPr>
            <a:r>
              <a:rPr lang="en-US" sz="1400" i="1" dirty="0">
                <a:solidFill>
                  <a:srgbClr val="4F6577"/>
                </a:solidFill>
                <a:latin typeface="Calibri" pitchFamily="34" charset="0"/>
                <a:ea typeface="Calibri" pitchFamily="34" charset="-122"/>
                <a:cs typeface="Calibri" pitchFamily="34" charset="-120"/>
              </a:rPr>
              <a:t>Aim: plan IP addressing, subnets, private and public addresses, and IPv6</a:t>
            </a:r>
            <a:endParaRPr lang="en-US" sz="1400" dirty="0"/>
          </a:p>
        </p:txBody>
      </p:sp>
      <p:sp>
        <p:nvSpPr>
          <p:cNvPr id="6" name="Text 4"/>
          <p:cNvSpPr txBox="1"/>
          <p:nvPr/>
        </p:nvSpPr>
        <p:spPr>
          <a:xfrm>
            <a:off x="548640" y="1783080"/>
            <a:ext cx="4846320" cy="3108960"/>
          </a:xfrm>
          <a:prstGeom prst="rect">
            <a:avLst/>
          </a:prstGeom>
          <a:noFill/>
          <a:ln/>
        </p:spPr>
        <p:txBody>
          <a:bodyPr wrap="square" lIns="635" tIns="635" rIns="635" bIns="635" rtlCol="0" anchor="t"/>
          <a:lstStyle/>
          <a:p>
            <a:pPr marL="342900" indent="-342900">
              <a:spcAft>
                <a:spcPts val="600"/>
              </a:spcAft>
              <a:buSzPct val="100000"/>
              <a:buChar char="•"/>
            </a:pPr>
            <a:r>
              <a:rPr lang="en-US" sz="1600" dirty="0">
                <a:solidFill>
                  <a:srgbClr val="17334B"/>
                </a:solidFill>
                <a:latin typeface="Calibri" pitchFamily="34" charset="0"/>
                <a:ea typeface="Calibri" pitchFamily="34" charset="-122"/>
                <a:cs typeface="Calibri" pitchFamily="34" charset="-120"/>
              </a:rPr>
              <a:t>Network and host portions; the subnet mask and prefix</a:t>
            </a:r>
            <a:endParaRPr lang="en-US" sz="1600" dirty="0"/>
          </a:p>
          <a:p>
            <a:pPr marL="342900" indent="-342900">
              <a:spcAft>
                <a:spcPts val="600"/>
              </a:spcAft>
              <a:buSzPct val="100000"/>
              <a:buChar char="•"/>
            </a:pPr>
            <a:r>
              <a:rPr lang="en-US" sz="1600" dirty="0">
                <a:solidFill>
                  <a:srgbClr val="17334B"/>
                </a:solidFill>
                <a:latin typeface="Calibri" pitchFamily="34" charset="0"/>
                <a:ea typeface="Calibri" pitchFamily="34" charset="-122"/>
                <a:cs typeface="Calibri" pitchFamily="34" charset="-120"/>
              </a:rPr>
              <a:t>ANDing finds the network address</a:t>
            </a:r>
            <a:endParaRPr lang="en-US" sz="1600" dirty="0"/>
          </a:p>
          <a:p>
            <a:pPr marL="342900" indent="-342900">
              <a:spcAft>
                <a:spcPts val="600"/>
              </a:spcAft>
              <a:buSzPct val="100000"/>
              <a:buChar char="•"/>
            </a:pPr>
            <a:r>
              <a:rPr lang="en-US" sz="1600" dirty="0">
                <a:solidFill>
                  <a:srgbClr val="17334B"/>
                </a:solidFill>
                <a:latin typeface="Calibri" pitchFamily="34" charset="0"/>
                <a:ea typeface="Calibri" pitchFamily="34" charset="-122"/>
                <a:cs typeface="Calibri" pitchFamily="34" charset="-120"/>
              </a:rPr>
              <a:t>Usable hosts = 2^host bits − 2</a:t>
            </a:r>
            <a:endParaRPr lang="en-US" sz="1600" dirty="0"/>
          </a:p>
          <a:p>
            <a:pPr marL="342900" indent="-342900">
              <a:spcAft>
                <a:spcPts val="600"/>
              </a:spcAft>
              <a:buSzPct val="100000"/>
              <a:buChar char="•"/>
            </a:pPr>
            <a:r>
              <a:rPr lang="en-US" sz="1600" dirty="0">
                <a:solidFill>
                  <a:srgbClr val="17334B"/>
                </a:solidFill>
                <a:latin typeface="Calibri" pitchFamily="34" charset="0"/>
                <a:ea typeface="Calibri" pitchFamily="34" charset="-122"/>
                <a:cs typeface="Calibri" pitchFamily="34" charset="-120"/>
              </a:rPr>
              <a:t>Private ranges, loopback, APIPA; NAT at the edge</a:t>
            </a:r>
            <a:endParaRPr lang="en-US" sz="1600" dirty="0"/>
          </a:p>
          <a:p>
            <a:pPr marL="342900" indent="-342900">
              <a:spcAft>
                <a:spcPts val="600"/>
              </a:spcAft>
              <a:buSzPct val="100000"/>
              <a:buChar char="•"/>
            </a:pPr>
            <a:r>
              <a:rPr lang="en-US" sz="1600" dirty="0">
                <a:solidFill>
                  <a:srgbClr val="17334B"/>
                </a:solidFill>
                <a:latin typeface="Calibri" pitchFamily="34" charset="0"/>
                <a:ea typeface="Calibri" pitchFamily="34" charset="-122"/>
                <a:cs typeface="Calibri" pitchFamily="34" charset="-120"/>
              </a:rPr>
              <a:t>IPv6: 128-bit hex; drop leading zeros; :: once</a:t>
            </a:r>
            <a:endParaRPr lang="en-US" sz="1600" dirty="0"/>
          </a:p>
        </p:txBody>
      </p:sp>
      <p:pic>
        <p:nvPicPr>
          <p:cNvPr id="7" name="Image 0" descr="/private/tmp/claude-501/-Users-johnaikeremiokha-code-Claude-Project/bf844d04-1b41-4e28-bbaa-8211504dbf91/scratchpad/deck/figs/and_fig.png">    </p:cNvPr>
          <p:cNvPicPr>
            <a:picLocks noChangeAspect="1"/>
          </p:cNvPicPr>
          <p:nvPr/>
        </p:nvPicPr>
        <p:blipFill>
          <a:blip r:embed="rId1"/>
          <a:stretch>
            <a:fillRect/>
          </a:stretch>
        </p:blipFill>
        <p:spPr>
          <a:xfrm>
            <a:off x="5715000" y="1188720"/>
            <a:ext cx="5925312" cy="1793187"/>
          </a:xfrm>
          <a:prstGeom prst="rect">
            <a:avLst/>
          </a:prstGeom>
        </p:spPr>
      </p:pic>
      <p:sp>
        <p:nvSpPr>
          <p:cNvPr id="8" name="Shape 5"/>
          <p:cNvSpPr/>
          <p:nvPr/>
        </p:nvSpPr>
        <p:spPr>
          <a:xfrm>
            <a:off x="548640" y="5074920"/>
            <a:ext cx="3515258" cy="1234440"/>
          </a:xfrm>
          <a:prstGeom prst="roundRect">
            <a:avLst>
              <a:gd name="adj" fmla="val 7407"/>
            </a:avLst>
          </a:prstGeom>
          <a:solidFill>
            <a:srgbClr val="EAF2F9"/>
          </a:solidFill>
          <a:ln w="12700">
            <a:solidFill>
              <a:srgbClr val="EAF2F9"/>
            </a:solidFill>
            <a:prstDash val="solid"/>
          </a:ln>
        </p:spPr>
      </p:sp>
      <p:sp>
        <p:nvSpPr>
          <p:cNvPr id="9" name="Text 6"/>
          <p:cNvSpPr txBox="1"/>
          <p:nvPr/>
        </p:nvSpPr>
        <p:spPr>
          <a:xfrm>
            <a:off x="713232" y="5184648"/>
            <a:ext cx="3186074" cy="1014984"/>
          </a:xfrm>
          <a:prstGeom prst="rect">
            <a:avLst/>
          </a:prstGeom>
          <a:noFill/>
          <a:ln/>
        </p:spPr>
        <p:txBody>
          <a:bodyPr wrap="square" lIns="0" tIns="0" rIns="0" bIns="0" rtlCol="0" anchor="t"/>
          <a:lstStyle/>
          <a:p>
            <a:pPr indent="0" marL="0">
              <a:spcAft>
                <a:spcPts val="400"/>
              </a:spcAft>
              <a:buNone/>
            </a:pPr>
            <a:r>
              <a:rPr lang="en-US" sz="1400" b="1" dirty="0">
                <a:solidFill>
                  <a:srgbClr val="12324F"/>
                </a:solidFill>
                <a:latin typeface="Calibri" pitchFamily="34" charset="0"/>
                <a:ea typeface="Calibri" pitchFamily="34" charset="-122"/>
                <a:cs typeface="Calibri" pitchFamily="34" charset="-120"/>
              </a:rPr>
              <a:t>Starter</a:t>
            </a:r>
            <a:endParaRPr lang="en-US" sz="1400" dirty="0"/>
          </a:p>
          <a:p>
            <a:pPr indent="0" marL="0">
              <a:spcAft>
                <a:spcPts val="400"/>
              </a:spcAft>
              <a:buNone/>
            </a:pPr>
            <a:r>
              <a:rPr lang="en-US" sz="1200" dirty="0">
                <a:solidFill>
                  <a:srgbClr val="17334B"/>
                </a:solidFill>
                <a:latin typeface="Calibri" pitchFamily="34" charset="0"/>
                <a:ea typeface="Calibri" pitchFamily="34" charset="-122"/>
                <a:cs typeface="Calibri" pitchFamily="34" charset="-120"/>
              </a:rPr>
              <a:t>Binary to decimal warm-up (maths link).</a:t>
            </a:r>
            <a:endParaRPr lang="en-US" sz="1400" dirty="0"/>
          </a:p>
        </p:txBody>
      </p:sp>
      <p:sp>
        <p:nvSpPr>
          <p:cNvPr id="10" name="Shape 7"/>
          <p:cNvSpPr/>
          <p:nvPr/>
        </p:nvSpPr>
        <p:spPr>
          <a:xfrm>
            <a:off x="4338218" y="5074920"/>
            <a:ext cx="3515258" cy="1234440"/>
          </a:xfrm>
          <a:prstGeom prst="roundRect">
            <a:avLst>
              <a:gd name="adj" fmla="val 7407"/>
            </a:avLst>
          </a:prstGeom>
          <a:solidFill>
            <a:srgbClr val="E6F4F1"/>
          </a:solidFill>
          <a:ln w="12700">
            <a:solidFill>
              <a:srgbClr val="E6F4F1"/>
            </a:solidFill>
            <a:prstDash val="solid"/>
          </a:ln>
        </p:spPr>
      </p:sp>
      <p:sp>
        <p:nvSpPr>
          <p:cNvPr id="11" name="Text 8"/>
          <p:cNvSpPr txBox="1"/>
          <p:nvPr/>
        </p:nvSpPr>
        <p:spPr>
          <a:xfrm>
            <a:off x="4502810" y="5184648"/>
            <a:ext cx="3186074" cy="1014984"/>
          </a:xfrm>
          <a:prstGeom prst="rect">
            <a:avLst/>
          </a:prstGeom>
          <a:noFill/>
          <a:ln/>
        </p:spPr>
        <p:txBody>
          <a:bodyPr wrap="square" lIns="0" tIns="0" rIns="0" bIns="0" rtlCol="0" anchor="t"/>
          <a:lstStyle/>
          <a:p>
            <a:pPr indent="0" marL="0">
              <a:spcAft>
                <a:spcPts val="400"/>
              </a:spcAft>
              <a:buNone/>
            </a:pPr>
            <a:r>
              <a:rPr lang="en-US" sz="1400" b="1" dirty="0">
                <a:solidFill>
                  <a:srgbClr val="12324F"/>
                </a:solidFill>
                <a:latin typeface="Calibri" pitchFamily="34" charset="0"/>
                <a:ea typeface="Calibri" pitchFamily="34" charset="-122"/>
                <a:cs typeface="Calibri" pitchFamily="34" charset="-120"/>
              </a:rPr>
              <a:t>Practical</a:t>
            </a:r>
            <a:endParaRPr lang="en-US" sz="1400" dirty="0"/>
          </a:p>
          <a:p>
            <a:pPr indent="0" marL="0">
              <a:spcAft>
                <a:spcPts val="400"/>
              </a:spcAft>
              <a:buNone/>
            </a:pPr>
            <a:r>
              <a:rPr lang="en-US" sz="1200" dirty="0">
                <a:solidFill>
                  <a:srgbClr val="17334B"/>
                </a:solidFill>
                <a:latin typeface="Calibri" pitchFamily="34" charset="0"/>
                <a:ea typeface="Calibri" pitchFamily="34" charset="-122"/>
                <a:cs typeface="Calibri" pitchFamily="34" charset="-120"/>
              </a:rPr>
              <a:t>Lab 6: two LANs and a router; test gateways.</a:t>
            </a:r>
            <a:endParaRPr lang="en-US" sz="1400" dirty="0"/>
          </a:p>
        </p:txBody>
      </p:sp>
      <p:sp>
        <p:nvSpPr>
          <p:cNvPr id="12" name="Shape 9"/>
          <p:cNvSpPr/>
          <p:nvPr/>
        </p:nvSpPr>
        <p:spPr>
          <a:xfrm>
            <a:off x="8127797" y="5074920"/>
            <a:ext cx="3515258" cy="1234440"/>
          </a:xfrm>
          <a:prstGeom prst="roundRect">
            <a:avLst>
              <a:gd name="adj" fmla="val 7407"/>
            </a:avLst>
          </a:prstGeom>
          <a:solidFill>
            <a:srgbClr val="FDF1E7"/>
          </a:solidFill>
          <a:ln w="12700">
            <a:solidFill>
              <a:srgbClr val="FDF1E7"/>
            </a:solidFill>
            <a:prstDash val="solid"/>
          </a:ln>
        </p:spPr>
      </p:sp>
      <p:sp>
        <p:nvSpPr>
          <p:cNvPr id="13" name="Text 10"/>
          <p:cNvSpPr txBox="1"/>
          <p:nvPr/>
        </p:nvSpPr>
        <p:spPr>
          <a:xfrm>
            <a:off x="8292389" y="5184648"/>
            <a:ext cx="3186074" cy="1014984"/>
          </a:xfrm>
          <a:prstGeom prst="rect">
            <a:avLst/>
          </a:prstGeom>
          <a:noFill/>
          <a:ln/>
        </p:spPr>
        <p:txBody>
          <a:bodyPr wrap="square" lIns="0" tIns="0" rIns="0" bIns="0" rtlCol="0" anchor="t"/>
          <a:lstStyle/>
          <a:p>
            <a:pPr indent="0" marL="0">
              <a:spcAft>
                <a:spcPts val="400"/>
              </a:spcAft>
              <a:buNone/>
            </a:pPr>
            <a:r>
              <a:rPr lang="en-US" sz="1400" b="1" dirty="0">
                <a:solidFill>
                  <a:srgbClr val="12324F"/>
                </a:solidFill>
                <a:latin typeface="Calibri" pitchFamily="34" charset="0"/>
                <a:ea typeface="Calibri" pitchFamily="34" charset="-122"/>
                <a:cs typeface="Calibri" pitchFamily="34" charset="-120"/>
              </a:rPr>
              <a:t>Check</a:t>
            </a:r>
            <a:endParaRPr lang="en-US" sz="1400" dirty="0"/>
          </a:p>
          <a:p>
            <a:pPr indent="0" marL="0">
              <a:spcAft>
                <a:spcPts val="400"/>
              </a:spcAft>
              <a:buNone/>
            </a:pPr>
            <a:r>
              <a:rPr lang="en-US" sz="1200" dirty="0">
                <a:solidFill>
                  <a:srgbClr val="17334B"/>
                </a:solidFill>
                <a:latin typeface="Calibri" pitchFamily="34" charset="0"/>
                <a:ea typeface="Calibri" pitchFamily="34" charset="-122"/>
                <a:cs typeface="Calibri" pitchFamily="34" charset="-120"/>
              </a:rPr>
              <a:t>Quiz 3: subnet 192.168.5.130/26.</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548640" y="164592"/>
            <a:ext cx="914400" cy="310896"/>
          </a:xfrm>
          <a:prstGeom prst="roundRect">
            <a:avLst>
              <a:gd name="adj" fmla="val 23529"/>
            </a:avLst>
          </a:prstGeom>
          <a:solidFill>
            <a:srgbClr val="20857B"/>
          </a:solidFill>
          <a:ln w="12700">
            <a:solidFill>
              <a:srgbClr val="20857B"/>
            </a:solidFill>
            <a:prstDash val="solid"/>
          </a:ln>
        </p:spPr>
      </p:sp>
      <p:sp>
        <p:nvSpPr>
          <p:cNvPr id="3" name="Text 1"/>
          <p:cNvSpPr txBox="1"/>
          <p:nvPr/>
        </p:nvSpPr>
        <p:spPr>
          <a:xfrm>
            <a:off x="548640" y="164592"/>
            <a:ext cx="91440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B1</a:t>
            </a:r>
            <a:endParaRPr lang="en-US" sz="1200" dirty="0"/>
          </a:p>
        </p:txBody>
      </p:sp>
      <p:sp>
        <p:nvSpPr>
          <p:cNvPr id="4" name="Text 2"/>
          <p:cNvSpPr txBox="1"/>
          <p:nvPr/>
        </p:nvSpPr>
        <p:spPr>
          <a:xfrm>
            <a:off x="548640" y="502920"/>
            <a:ext cx="11094415" cy="731520"/>
          </a:xfrm>
          <a:prstGeom prst="rect">
            <a:avLst/>
          </a:prstGeom>
          <a:noFill/>
          <a:ln/>
        </p:spPr>
        <p:txBody>
          <a:bodyPr wrap="square" lIns="0" tIns="0" rIns="0" bIns="0" rtlCol="0" anchor="ctr"/>
          <a:lstStyle/>
          <a:p>
            <a:pPr indent="0" marL="0">
              <a:buNone/>
            </a:pPr>
            <a:r>
              <a:rPr lang="en-US" sz="2800" b="1" dirty="0">
                <a:solidFill>
                  <a:srgbClr val="17334B"/>
                </a:solidFill>
                <a:latin typeface="Cambria" pitchFamily="34" charset="0"/>
                <a:ea typeface="Cambria" pitchFamily="34" charset="-122"/>
                <a:cs typeface="Cambria" pitchFamily="34" charset="-120"/>
              </a:rPr>
              <a:t>NAT, naming and VLANs</a:t>
            </a:r>
            <a:endParaRPr lang="en-US" sz="2800" dirty="0"/>
          </a:p>
        </p:txBody>
      </p:sp>
      <p:sp>
        <p:nvSpPr>
          <p:cNvPr id="5" name="Text 3"/>
          <p:cNvSpPr txBox="1"/>
          <p:nvPr/>
        </p:nvSpPr>
        <p:spPr>
          <a:xfrm>
            <a:off x="548640" y="1188720"/>
            <a:ext cx="4937760" cy="548640"/>
          </a:xfrm>
          <a:prstGeom prst="rect">
            <a:avLst/>
          </a:prstGeom>
          <a:noFill/>
          <a:ln/>
        </p:spPr>
        <p:txBody>
          <a:bodyPr wrap="square" lIns="0" tIns="0" rIns="0" bIns="0" rtlCol="0" anchor="t"/>
          <a:lstStyle/>
          <a:p>
            <a:pPr indent="0" marL="0">
              <a:buNone/>
            </a:pPr>
            <a:r>
              <a:rPr lang="en-US" sz="1400" i="1" dirty="0">
                <a:solidFill>
                  <a:srgbClr val="4F6577"/>
                </a:solidFill>
                <a:latin typeface="Calibri" pitchFamily="34" charset="0"/>
                <a:ea typeface="Calibri" pitchFamily="34" charset="-122"/>
                <a:cs typeface="Calibri" pitchFamily="34" charset="-120"/>
              </a:rPr>
              <a:t>Aim: use naming schemes and VLANs in a logical design</a:t>
            </a:r>
            <a:endParaRPr lang="en-US" sz="1400" dirty="0"/>
          </a:p>
        </p:txBody>
      </p:sp>
      <p:sp>
        <p:nvSpPr>
          <p:cNvPr id="6" name="Text 4"/>
          <p:cNvSpPr txBox="1"/>
          <p:nvPr/>
        </p:nvSpPr>
        <p:spPr>
          <a:xfrm>
            <a:off x="548640" y="1783080"/>
            <a:ext cx="4846320" cy="3108960"/>
          </a:xfrm>
          <a:prstGeom prst="rect">
            <a:avLst/>
          </a:prstGeom>
          <a:noFill/>
          <a:ln/>
        </p:spPr>
        <p:txBody>
          <a:bodyPr wrap="square" lIns="635" tIns="635" rIns="635" bIns="635" rtlCol="0" anchor="t"/>
          <a:lstStyle/>
          <a:p>
            <a:pPr marL="342900" indent="-342900">
              <a:spcAft>
                <a:spcPts val="600"/>
              </a:spcAft>
              <a:buSzPct val="100000"/>
              <a:buChar char="•"/>
            </a:pPr>
            <a:r>
              <a:rPr lang="en-US" sz="1600" dirty="0">
                <a:solidFill>
                  <a:srgbClr val="17334B"/>
                </a:solidFill>
                <a:latin typeface="Calibri" pitchFamily="34" charset="0"/>
                <a:ea typeface="Calibri" pitchFamily="34" charset="-122"/>
                <a:cs typeface="Calibri" pitchFamily="34" charset="-120"/>
              </a:rPr>
              <a:t>Naming scheme: site-floor-type-number (e.g. LDN-FL2-SW01)</a:t>
            </a:r>
            <a:endParaRPr lang="en-US" sz="1600" dirty="0"/>
          </a:p>
          <a:p>
            <a:pPr marL="342900" indent="-342900">
              <a:spcAft>
                <a:spcPts val="600"/>
              </a:spcAft>
              <a:buSzPct val="100000"/>
              <a:buChar char="•"/>
            </a:pPr>
            <a:r>
              <a:rPr lang="en-US" sz="1600" dirty="0">
                <a:solidFill>
                  <a:srgbClr val="17334B"/>
                </a:solidFill>
                <a:latin typeface="Calibri" pitchFamily="34" charset="0"/>
                <a:ea typeface="Calibri" pitchFamily="34" charset="-122"/>
                <a:cs typeface="Calibri" pitchFamily="34" charset="-120"/>
              </a:rPr>
              <a:t>VLANs: separate logical networks on one switch</a:t>
            </a:r>
            <a:endParaRPr lang="en-US" sz="1600" dirty="0"/>
          </a:p>
          <a:p>
            <a:pPr marL="342900" indent="-342900">
              <a:spcAft>
                <a:spcPts val="600"/>
              </a:spcAft>
              <a:buSzPct val="100000"/>
              <a:buChar char="•"/>
            </a:pPr>
            <a:r>
              <a:rPr lang="en-US" sz="1600" dirty="0">
                <a:solidFill>
                  <a:srgbClr val="17334B"/>
                </a:solidFill>
                <a:latin typeface="Calibri" pitchFamily="34" charset="0"/>
                <a:ea typeface="Calibri" pitchFamily="34" charset="-122"/>
                <a:cs typeface="Calibri" pitchFamily="34" charset="-120"/>
              </a:rPr>
              <a:t>Benefits: security, smaller broadcast domains, easier management</a:t>
            </a:r>
            <a:endParaRPr lang="en-US" sz="1600" dirty="0"/>
          </a:p>
          <a:p>
            <a:pPr marL="342900" indent="-342900">
              <a:spcAft>
                <a:spcPts val="600"/>
              </a:spcAft>
              <a:buSzPct val="100000"/>
              <a:buChar char="•"/>
            </a:pPr>
            <a:r>
              <a:rPr lang="en-US" sz="1600" dirty="0">
                <a:solidFill>
                  <a:srgbClr val="17334B"/>
                </a:solidFill>
                <a:latin typeface="Calibri" pitchFamily="34" charset="0"/>
                <a:ea typeface="Calibri" pitchFamily="34" charset="-122"/>
                <a:cs typeface="Calibri" pitchFamily="34" charset="-120"/>
              </a:rPr>
              <a:t>Issues: complexity, managed switches, inter-VLAN routing, misconfiguration risk</a:t>
            </a:r>
            <a:endParaRPr lang="en-US" sz="1600" dirty="0"/>
          </a:p>
          <a:p>
            <a:pPr marL="342900" indent="-342900">
              <a:spcAft>
                <a:spcPts val="600"/>
              </a:spcAft>
              <a:buSzPct val="100000"/>
              <a:buChar char="•"/>
            </a:pPr>
            <a:r>
              <a:rPr lang="en-US" sz="1600" dirty="0">
                <a:solidFill>
                  <a:srgbClr val="17334B"/>
                </a:solidFill>
                <a:latin typeface="Calibri" pitchFamily="34" charset="0"/>
                <a:ea typeface="Calibri" pitchFamily="34" charset="-122"/>
                <a:cs typeface="Calibri" pitchFamily="34" charset="-120"/>
              </a:rPr>
              <a:t>Voice VLAN with QoS for VoIP</a:t>
            </a:r>
            <a:endParaRPr lang="en-US" sz="1600" dirty="0"/>
          </a:p>
        </p:txBody>
      </p:sp>
      <p:pic>
        <p:nvPicPr>
          <p:cNvPr id="7" name="Image 0" descr="/private/tmp/claude-501/-Users-johnaikeremiokha-code-Claude-Project/bf844d04-1b41-4e28-bbaa-8211504dbf91/scratchpad/deck/figs/vlan_fig.png">    </p:cNvPr>
          <p:cNvPicPr>
            <a:picLocks noChangeAspect="1"/>
          </p:cNvPicPr>
          <p:nvPr/>
        </p:nvPicPr>
        <p:blipFill>
          <a:blip r:embed="rId1"/>
          <a:stretch>
            <a:fillRect/>
          </a:stretch>
        </p:blipFill>
        <p:spPr>
          <a:xfrm>
            <a:off x="5715000" y="1188720"/>
            <a:ext cx="5925312" cy="1715222"/>
          </a:xfrm>
          <a:prstGeom prst="rect">
            <a:avLst/>
          </a:prstGeom>
        </p:spPr>
      </p:pic>
      <p:pic>
        <p:nvPicPr>
          <p:cNvPr id="8" name="Image 1" descr="/private/tmp/claude-501/-Users-johnaikeremiokha-code-Claude-Project/bf844d04-1b41-4e28-bbaa-8211504dbf91/scratchpad/deck/figs/nat_fig.png">    </p:cNvPr>
          <p:cNvPicPr>
            <a:picLocks noChangeAspect="1"/>
          </p:cNvPicPr>
          <p:nvPr/>
        </p:nvPicPr>
        <p:blipFill>
          <a:blip r:embed="rId2"/>
          <a:stretch>
            <a:fillRect/>
          </a:stretch>
        </p:blipFill>
        <p:spPr>
          <a:xfrm>
            <a:off x="5715000" y="3013670"/>
            <a:ext cx="5925312" cy="1559293"/>
          </a:xfrm>
          <a:prstGeom prst="rect">
            <a:avLst/>
          </a:prstGeom>
        </p:spPr>
      </p:pic>
      <p:sp>
        <p:nvSpPr>
          <p:cNvPr id="9" name="Shape 5"/>
          <p:cNvSpPr/>
          <p:nvPr/>
        </p:nvSpPr>
        <p:spPr>
          <a:xfrm>
            <a:off x="548640" y="5074920"/>
            <a:ext cx="3515258" cy="1234440"/>
          </a:xfrm>
          <a:prstGeom prst="roundRect">
            <a:avLst>
              <a:gd name="adj" fmla="val 7407"/>
            </a:avLst>
          </a:prstGeom>
          <a:solidFill>
            <a:srgbClr val="EAF2F9"/>
          </a:solidFill>
          <a:ln w="12700">
            <a:solidFill>
              <a:srgbClr val="EAF2F9"/>
            </a:solidFill>
            <a:prstDash val="solid"/>
          </a:ln>
        </p:spPr>
      </p:sp>
      <p:sp>
        <p:nvSpPr>
          <p:cNvPr id="10" name="Text 6"/>
          <p:cNvSpPr txBox="1"/>
          <p:nvPr/>
        </p:nvSpPr>
        <p:spPr>
          <a:xfrm>
            <a:off x="713232" y="5184648"/>
            <a:ext cx="3186074" cy="1014984"/>
          </a:xfrm>
          <a:prstGeom prst="rect">
            <a:avLst/>
          </a:prstGeom>
          <a:noFill/>
          <a:ln/>
        </p:spPr>
        <p:txBody>
          <a:bodyPr wrap="square" lIns="0" tIns="0" rIns="0" bIns="0" rtlCol="0" anchor="t"/>
          <a:lstStyle/>
          <a:p>
            <a:pPr indent="0" marL="0">
              <a:spcAft>
                <a:spcPts val="400"/>
              </a:spcAft>
              <a:buNone/>
            </a:pPr>
            <a:r>
              <a:rPr lang="en-US" sz="1400" b="1" dirty="0">
                <a:solidFill>
                  <a:srgbClr val="12324F"/>
                </a:solidFill>
                <a:latin typeface="Calibri" pitchFamily="34" charset="0"/>
                <a:ea typeface="Calibri" pitchFamily="34" charset="-122"/>
                <a:cs typeface="Calibri" pitchFamily="34" charset="-120"/>
              </a:rPr>
              <a:t>Practical</a:t>
            </a:r>
            <a:endParaRPr lang="en-US" sz="1400" dirty="0"/>
          </a:p>
          <a:p>
            <a:pPr indent="0" marL="0">
              <a:spcAft>
                <a:spcPts val="400"/>
              </a:spcAft>
              <a:buNone/>
            </a:pPr>
            <a:r>
              <a:rPr lang="en-US" sz="1200" dirty="0">
                <a:solidFill>
                  <a:srgbClr val="17334B"/>
                </a:solidFill>
                <a:latin typeface="Calibri" pitchFamily="34" charset="0"/>
                <a:ea typeface="Calibri" pitchFamily="34" charset="-122"/>
                <a:cs typeface="Calibri" pitchFamily="34" charset="-120"/>
              </a:rPr>
              <a:t>Lab 8: VLANs, show vlan brief, test pings.</a:t>
            </a:r>
            <a:endParaRPr lang="en-US" sz="1400" dirty="0"/>
          </a:p>
        </p:txBody>
      </p:sp>
      <p:sp>
        <p:nvSpPr>
          <p:cNvPr id="11" name="Shape 7"/>
          <p:cNvSpPr/>
          <p:nvPr/>
        </p:nvSpPr>
        <p:spPr>
          <a:xfrm>
            <a:off x="4338218" y="5074920"/>
            <a:ext cx="3515258" cy="1234440"/>
          </a:xfrm>
          <a:prstGeom prst="roundRect">
            <a:avLst>
              <a:gd name="adj" fmla="val 7407"/>
            </a:avLst>
          </a:prstGeom>
          <a:solidFill>
            <a:srgbClr val="E6F4F1"/>
          </a:solidFill>
          <a:ln w="12700">
            <a:solidFill>
              <a:srgbClr val="E6F4F1"/>
            </a:solidFill>
            <a:prstDash val="solid"/>
          </a:ln>
        </p:spPr>
      </p:sp>
      <p:sp>
        <p:nvSpPr>
          <p:cNvPr id="12" name="Text 8"/>
          <p:cNvSpPr txBox="1"/>
          <p:nvPr/>
        </p:nvSpPr>
        <p:spPr>
          <a:xfrm>
            <a:off x="4502810" y="5184648"/>
            <a:ext cx="3186074" cy="1014984"/>
          </a:xfrm>
          <a:prstGeom prst="rect">
            <a:avLst/>
          </a:prstGeom>
          <a:noFill/>
          <a:ln/>
        </p:spPr>
        <p:txBody>
          <a:bodyPr wrap="square" lIns="0" tIns="0" rIns="0" bIns="0" rtlCol="0" anchor="t"/>
          <a:lstStyle/>
          <a:p>
            <a:pPr indent="0" marL="0">
              <a:spcAft>
                <a:spcPts val="400"/>
              </a:spcAft>
              <a:buNone/>
            </a:pPr>
            <a:r>
              <a:rPr lang="en-US" sz="1400" b="1" dirty="0">
                <a:solidFill>
                  <a:srgbClr val="12324F"/>
                </a:solidFill>
                <a:latin typeface="Calibri" pitchFamily="34" charset="0"/>
                <a:ea typeface="Calibri" pitchFamily="34" charset="-122"/>
                <a:cs typeface="Calibri" pitchFamily="34" charset="-120"/>
              </a:rPr>
              <a:t>Task</a:t>
            </a:r>
            <a:endParaRPr lang="en-US" sz="1400" dirty="0"/>
          </a:p>
          <a:p>
            <a:pPr indent="0" marL="0">
              <a:spcAft>
                <a:spcPts val="400"/>
              </a:spcAft>
              <a:buNone/>
            </a:pPr>
            <a:r>
              <a:rPr lang="en-US" sz="1200" dirty="0">
                <a:solidFill>
                  <a:srgbClr val="17334B"/>
                </a:solidFill>
                <a:latin typeface="Calibri" pitchFamily="34" charset="0"/>
                <a:ea typeface="Calibri" pitchFamily="34" charset="-122"/>
                <a:cs typeface="Calibri" pitchFamily="34" charset="-120"/>
              </a:rPr>
              <a:t>Design a naming scheme for a two-site office.</a:t>
            </a:r>
            <a:endParaRPr lang="en-US" sz="1400" dirty="0"/>
          </a:p>
        </p:txBody>
      </p:sp>
      <p:sp>
        <p:nvSpPr>
          <p:cNvPr id="13" name="Shape 9"/>
          <p:cNvSpPr/>
          <p:nvPr/>
        </p:nvSpPr>
        <p:spPr>
          <a:xfrm>
            <a:off x="8127797" y="5074920"/>
            <a:ext cx="3515258" cy="1234440"/>
          </a:xfrm>
          <a:prstGeom prst="roundRect">
            <a:avLst>
              <a:gd name="adj" fmla="val 7407"/>
            </a:avLst>
          </a:prstGeom>
          <a:solidFill>
            <a:srgbClr val="FDF1E7"/>
          </a:solidFill>
          <a:ln w="12700">
            <a:solidFill>
              <a:srgbClr val="FDF1E7"/>
            </a:solidFill>
            <a:prstDash val="solid"/>
          </a:ln>
        </p:spPr>
      </p:sp>
      <p:sp>
        <p:nvSpPr>
          <p:cNvPr id="14" name="Text 10"/>
          <p:cNvSpPr txBox="1"/>
          <p:nvPr/>
        </p:nvSpPr>
        <p:spPr>
          <a:xfrm>
            <a:off x="8292389" y="5184648"/>
            <a:ext cx="3186074" cy="1014984"/>
          </a:xfrm>
          <a:prstGeom prst="rect">
            <a:avLst/>
          </a:prstGeom>
          <a:noFill/>
          <a:ln/>
        </p:spPr>
        <p:txBody>
          <a:bodyPr wrap="square" lIns="0" tIns="0" rIns="0" bIns="0" rtlCol="0" anchor="t"/>
          <a:lstStyle/>
          <a:p>
            <a:pPr indent="0" marL="0">
              <a:spcAft>
                <a:spcPts val="400"/>
              </a:spcAft>
              <a:buNone/>
            </a:pPr>
            <a:r>
              <a:rPr lang="en-US" sz="1400" b="1" dirty="0">
                <a:solidFill>
                  <a:srgbClr val="12324F"/>
                </a:solidFill>
                <a:latin typeface="Calibri" pitchFamily="34" charset="0"/>
                <a:ea typeface="Calibri" pitchFamily="34" charset="-122"/>
                <a:cs typeface="Calibri" pitchFamily="34" charset="-120"/>
              </a:rPr>
              <a:t>Link</a:t>
            </a:r>
            <a:endParaRPr lang="en-US" sz="1400" dirty="0"/>
          </a:p>
          <a:p>
            <a:pPr indent="0" marL="0">
              <a:spcAft>
                <a:spcPts val="400"/>
              </a:spcAft>
              <a:buNone/>
            </a:pPr>
            <a:r>
              <a:rPr lang="en-US" sz="1200" dirty="0">
                <a:solidFill>
                  <a:srgbClr val="17334B"/>
                </a:solidFill>
                <a:latin typeface="Calibri" pitchFamily="34" charset="0"/>
                <a:ea typeface="Calibri" pitchFamily="34" charset="-122"/>
                <a:cs typeface="Calibri" pitchFamily="34" charset="-120"/>
              </a:rPr>
              <a:t>B.P4 logical design: addressing table and naming.</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548640" y="164592"/>
            <a:ext cx="914400" cy="310896"/>
          </a:xfrm>
          <a:prstGeom prst="roundRect">
            <a:avLst>
              <a:gd name="adj" fmla="val 23529"/>
            </a:avLst>
          </a:prstGeom>
          <a:solidFill>
            <a:srgbClr val="20857B"/>
          </a:solidFill>
          <a:ln w="12700">
            <a:solidFill>
              <a:srgbClr val="20857B"/>
            </a:solidFill>
            <a:prstDash val="solid"/>
          </a:ln>
        </p:spPr>
      </p:sp>
      <p:sp>
        <p:nvSpPr>
          <p:cNvPr id="3" name="Text 1"/>
          <p:cNvSpPr txBox="1"/>
          <p:nvPr/>
        </p:nvSpPr>
        <p:spPr>
          <a:xfrm>
            <a:off x="548640" y="164592"/>
            <a:ext cx="91440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B2</a:t>
            </a:r>
            <a:endParaRPr lang="en-US" sz="1200" dirty="0"/>
          </a:p>
        </p:txBody>
      </p:sp>
      <p:sp>
        <p:nvSpPr>
          <p:cNvPr id="4" name="Text 2"/>
          <p:cNvSpPr txBox="1"/>
          <p:nvPr/>
        </p:nvSpPr>
        <p:spPr>
          <a:xfrm>
            <a:off x="548640" y="502920"/>
            <a:ext cx="11094415" cy="731520"/>
          </a:xfrm>
          <a:prstGeom prst="rect">
            <a:avLst/>
          </a:prstGeom>
          <a:noFill/>
          <a:ln/>
        </p:spPr>
        <p:txBody>
          <a:bodyPr wrap="square" lIns="0" tIns="0" rIns="0" bIns="0" rtlCol="0" anchor="ctr"/>
          <a:lstStyle/>
          <a:p>
            <a:pPr indent="0" marL="0">
              <a:buNone/>
            </a:pPr>
            <a:r>
              <a:rPr lang="en-US" sz="2800" b="1" dirty="0">
                <a:solidFill>
                  <a:srgbClr val="17334B"/>
                </a:solidFill>
                <a:latin typeface="Cambria" pitchFamily="34" charset="0"/>
                <a:ea typeface="Cambria" pitchFamily="34" charset="-122"/>
                <a:cs typeface="Cambria" pitchFamily="34" charset="-120"/>
              </a:rPr>
              <a:t>Planning: components, configuration and tests</a:t>
            </a:r>
            <a:endParaRPr lang="en-US" sz="2800" dirty="0"/>
          </a:p>
        </p:txBody>
      </p:sp>
      <p:sp>
        <p:nvSpPr>
          <p:cNvPr id="5" name="Text 3"/>
          <p:cNvSpPr txBox="1"/>
          <p:nvPr/>
        </p:nvSpPr>
        <p:spPr>
          <a:xfrm>
            <a:off x="548640" y="1188720"/>
            <a:ext cx="11094415" cy="365760"/>
          </a:xfrm>
          <a:prstGeom prst="rect">
            <a:avLst/>
          </a:prstGeom>
          <a:noFill/>
          <a:ln/>
        </p:spPr>
        <p:txBody>
          <a:bodyPr wrap="square" lIns="0" tIns="0" rIns="0" bIns="0" rtlCol="0" anchor="ctr"/>
          <a:lstStyle/>
          <a:p>
            <a:pPr indent="0" marL="0">
              <a:buNone/>
            </a:pPr>
            <a:r>
              <a:rPr lang="en-US" sz="1500" i="1" dirty="0">
                <a:solidFill>
                  <a:srgbClr val="4F6577"/>
                </a:solidFill>
                <a:latin typeface="Calibri" pitchFamily="34" charset="0"/>
                <a:ea typeface="Calibri" pitchFamily="34" charset="-122"/>
                <a:cs typeface="Calibri" pitchFamily="34" charset="-120"/>
              </a:rPr>
              <a:t>Aim: select components, plan device configuration and write a test plan before building</a:t>
            </a:r>
            <a:endParaRPr lang="en-US" sz="1500" dirty="0"/>
          </a:p>
        </p:txBody>
      </p:sp>
      <p:sp>
        <p:nvSpPr>
          <p:cNvPr id="6" name="Shape 4"/>
          <p:cNvSpPr/>
          <p:nvPr/>
        </p:nvSpPr>
        <p:spPr>
          <a:xfrm>
            <a:off x="548640" y="1737360"/>
            <a:ext cx="3657600" cy="2057400"/>
          </a:xfrm>
          <a:prstGeom prst="roundRect">
            <a:avLst>
              <a:gd name="adj" fmla="val 4444"/>
            </a:avLst>
          </a:prstGeom>
          <a:solidFill>
            <a:srgbClr val="EAF2F9"/>
          </a:solidFill>
          <a:ln w="12700">
            <a:solidFill>
              <a:srgbClr val="EAF2F9"/>
            </a:solidFill>
            <a:prstDash val="solid"/>
          </a:ln>
        </p:spPr>
      </p:sp>
      <p:sp>
        <p:nvSpPr>
          <p:cNvPr id="7" name="Text 5"/>
          <p:cNvSpPr txBox="1"/>
          <p:nvPr/>
        </p:nvSpPr>
        <p:spPr>
          <a:xfrm>
            <a:off x="713232" y="1847088"/>
            <a:ext cx="3328416" cy="1837944"/>
          </a:xfrm>
          <a:prstGeom prst="rect">
            <a:avLst/>
          </a:prstGeom>
          <a:noFill/>
          <a:ln/>
        </p:spPr>
        <p:txBody>
          <a:bodyPr wrap="square" lIns="0" tIns="0" rIns="0" bIns="0" rtlCol="0" anchor="t"/>
          <a:lstStyle/>
          <a:p>
            <a:pPr indent="0" marL="0">
              <a:spcAft>
                <a:spcPts val="400"/>
              </a:spcAft>
              <a:buNone/>
            </a:pPr>
            <a:r>
              <a:rPr lang="en-US" sz="1500" b="1" dirty="0">
                <a:solidFill>
                  <a:srgbClr val="12324F"/>
                </a:solidFill>
                <a:latin typeface="Calibri" pitchFamily="34" charset="0"/>
                <a:ea typeface="Calibri" pitchFamily="34" charset="-122"/>
                <a:cs typeface="Calibri" pitchFamily="34" charset="-120"/>
              </a:rPr>
              <a:t>Select</a:t>
            </a:r>
            <a:endParaRPr lang="en-US" sz="1500" dirty="0"/>
          </a:p>
          <a:p>
            <a:pPr indent="0" marL="0">
              <a:spcAft>
                <a:spcPts val="400"/>
              </a:spcAft>
              <a:buNone/>
            </a:pPr>
            <a:r>
              <a:rPr lang="en-US" sz="1300" dirty="0">
                <a:solidFill>
                  <a:srgbClr val="17334B"/>
                </a:solidFill>
                <a:latin typeface="Calibri" pitchFamily="34" charset="0"/>
                <a:ea typeface="Calibri" pitchFamily="34" charset="-122"/>
                <a:cs typeface="Calibri" pitchFamily="34" charset="-120"/>
              </a:rPr>
              <a:t>Servers, storage, switches, APs, router/WAN, OS and applications. Record a reason for every choice.</a:t>
            </a:r>
            <a:endParaRPr lang="en-US" sz="1500" dirty="0"/>
          </a:p>
        </p:txBody>
      </p:sp>
      <p:sp>
        <p:nvSpPr>
          <p:cNvPr id="8" name="Shape 6"/>
          <p:cNvSpPr/>
          <p:nvPr/>
        </p:nvSpPr>
        <p:spPr>
          <a:xfrm>
            <a:off x="548640" y="3931920"/>
            <a:ext cx="3657600" cy="2057400"/>
          </a:xfrm>
          <a:prstGeom prst="roundRect">
            <a:avLst>
              <a:gd name="adj" fmla="val 4444"/>
            </a:avLst>
          </a:prstGeom>
          <a:solidFill>
            <a:srgbClr val="E6F4F1"/>
          </a:solidFill>
          <a:ln w="12700">
            <a:solidFill>
              <a:srgbClr val="E6F4F1"/>
            </a:solidFill>
            <a:prstDash val="solid"/>
          </a:ln>
        </p:spPr>
      </p:sp>
      <p:sp>
        <p:nvSpPr>
          <p:cNvPr id="9" name="Text 7"/>
          <p:cNvSpPr txBox="1"/>
          <p:nvPr/>
        </p:nvSpPr>
        <p:spPr>
          <a:xfrm>
            <a:off x="713232" y="4041648"/>
            <a:ext cx="3328416" cy="1837944"/>
          </a:xfrm>
          <a:prstGeom prst="rect">
            <a:avLst/>
          </a:prstGeom>
          <a:noFill/>
          <a:ln/>
        </p:spPr>
        <p:txBody>
          <a:bodyPr wrap="square" lIns="0" tIns="0" rIns="0" bIns="0" rtlCol="0" anchor="t"/>
          <a:lstStyle/>
          <a:p>
            <a:pPr indent="0" marL="0">
              <a:spcAft>
                <a:spcPts val="400"/>
              </a:spcAft>
              <a:buNone/>
            </a:pPr>
            <a:r>
              <a:rPr lang="en-US" sz="1500" b="1" dirty="0">
                <a:solidFill>
                  <a:srgbClr val="12324F"/>
                </a:solidFill>
                <a:latin typeface="Calibri" pitchFamily="34" charset="0"/>
                <a:ea typeface="Calibri" pitchFamily="34" charset="-122"/>
                <a:cs typeface="Calibri" pitchFamily="34" charset="-120"/>
              </a:rPr>
              <a:t>Configure (plan first)</a:t>
            </a:r>
            <a:endParaRPr lang="en-US" sz="1500" dirty="0"/>
          </a:p>
          <a:p>
            <a:pPr indent="0" marL="0">
              <a:spcAft>
                <a:spcPts val="400"/>
              </a:spcAft>
              <a:buNone/>
            </a:pPr>
            <a:r>
              <a:rPr lang="en-US" sz="1300" dirty="0">
                <a:solidFill>
                  <a:srgbClr val="17334B"/>
                </a:solidFill>
                <a:latin typeface="Calibri" pitchFamily="34" charset="0"/>
                <a:ea typeface="Calibri" pitchFamily="34" charset="-122"/>
                <a:cs typeface="Calibri" pitchFamily="34" charset="-120"/>
              </a:rPr>
              <a:t>Names, passwords, addresses, VLANs, routes, SSIDs and security, DHCP scopes, DNS records. Prototype in Packet Tracer.</a:t>
            </a:r>
            <a:endParaRPr lang="en-US" sz="15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4434840" y="1737360"/>
          <a:ext cx="7205472" cy="914400"/>
        </p:xfrm>
        <a:graphic>
          <a:graphicData uri="http://schemas.openxmlformats.org/drawingml/2006/table">
            <a:tbl>
              <a:tblPr/>
              <a:tblGrid>
                <a:gridCol w="502920"/>
                <a:gridCol w="1600200"/>
                <a:gridCol w="1737360"/>
                <a:gridCol w="1280160"/>
                <a:gridCol w="1005840"/>
                <a:gridCol w="1078992"/>
              </a:tblGrid>
              <a:tr h="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54864" marR="54864" marT="54864" marB="54864">
                    <a:lnL w="12700" cap="flat" cmpd="sng" algn="ctr">
                      <a:solidFill>
                        <a:srgbClr val="C9D7E3"/>
                      </a:solidFill>
                      <a:prstDash val="solid"/>
                      <a:round/>
                      <a:headEnd type="none" w="med" len="med"/>
                      <a:tailEnd type="none" w="med" len="med"/>
                    </a:lnL>
                    <a:lnR w="12700" cap="flat" cmpd="sng" algn="ctr">
                      <a:solidFill>
                        <a:srgbClr val="C9D7E3"/>
                      </a:solidFill>
                      <a:prstDash val="solid"/>
                      <a:round/>
                      <a:headEnd type="none" w="med" len="med"/>
                      <a:tailEnd type="none" w="med" len="med"/>
                    </a:lnR>
                    <a:lnT w="12700" cap="flat" cmpd="sng" algn="ctr">
                      <a:solidFill>
                        <a:srgbClr val="C9D7E3"/>
                      </a:solidFill>
                      <a:prstDash val="solid"/>
                      <a:round/>
                      <a:headEnd type="none" w="med" len="med"/>
                      <a:tailEnd type="none" w="med" len="med"/>
                    </a:lnT>
                    <a:lnB w="12700" cap="flat" cmpd="sng" algn="ctr">
                      <a:solidFill>
                        <a:srgbClr val="C9D7E3"/>
                      </a:solidFill>
                      <a:prstDash val="solid"/>
                      <a:round/>
                      <a:headEnd type="none" w="med" len="med"/>
                      <a:tailEnd type="none" w="med" len="med"/>
                    </a:lnB>
                    <a:solidFill>
                      <a:srgbClr val="12324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is tested</a:t>
                      </a:r>
                      <a:endParaRPr lang="en-US" sz="1200" dirty="0">
                        <a:latin typeface="Calibri" charset="0"/>
                        <a:ea typeface="Calibri" charset="0"/>
                        <a:cs typeface="Calibri" charset="0"/>
                      </a:endParaRPr>
                    </a:p>
                  </a:txBody>
                  <a:tcPr marL="54864" marR="54864" marT="54864" marB="54864">
                    <a:lnL w="12700" cap="flat" cmpd="sng" algn="ctr">
                      <a:solidFill>
                        <a:srgbClr val="C9D7E3"/>
                      </a:solidFill>
                      <a:prstDash val="solid"/>
                      <a:round/>
                      <a:headEnd type="none" w="med" len="med"/>
                      <a:tailEnd type="none" w="med" len="med"/>
                    </a:lnL>
                    <a:lnR w="12700" cap="flat" cmpd="sng" algn="ctr">
                      <a:solidFill>
                        <a:srgbClr val="C9D7E3"/>
                      </a:solidFill>
                      <a:prstDash val="solid"/>
                      <a:round/>
                      <a:headEnd type="none" w="med" len="med"/>
                      <a:tailEnd type="none" w="med" len="med"/>
                    </a:lnR>
                    <a:lnT w="12700" cap="flat" cmpd="sng" algn="ctr">
                      <a:solidFill>
                        <a:srgbClr val="C9D7E3"/>
                      </a:solidFill>
                      <a:prstDash val="solid"/>
                      <a:round/>
                      <a:headEnd type="none" w="med" len="med"/>
                      <a:tailEnd type="none" w="med" len="med"/>
                    </a:lnT>
                    <a:lnB w="12700" cap="flat" cmpd="sng" algn="ctr">
                      <a:solidFill>
                        <a:srgbClr val="C9D7E3"/>
                      </a:solidFill>
                      <a:prstDash val="solid"/>
                      <a:round/>
                      <a:headEnd type="none" w="med" len="med"/>
                      <a:tailEnd type="none" w="med" len="med"/>
                    </a:lnB>
                    <a:solidFill>
                      <a:srgbClr val="12324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How</a:t>
                      </a:r>
                      <a:endParaRPr lang="en-US" sz="1200" dirty="0">
                        <a:latin typeface="Calibri" charset="0"/>
                        <a:ea typeface="Calibri" charset="0"/>
                        <a:cs typeface="Calibri" charset="0"/>
                      </a:endParaRPr>
                    </a:p>
                  </a:txBody>
                  <a:tcPr marL="54864" marR="54864" marT="54864" marB="54864">
                    <a:lnL w="12700" cap="flat" cmpd="sng" algn="ctr">
                      <a:solidFill>
                        <a:srgbClr val="C9D7E3"/>
                      </a:solidFill>
                      <a:prstDash val="solid"/>
                      <a:round/>
                      <a:headEnd type="none" w="med" len="med"/>
                      <a:tailEnd type="none" w="med" len="med"/>
                    </a:lnL>
                    <a:lnR w="12700" cap="flat" cmpd="sng" algn="ctr">
                      <a:solidFill>
                        <a:srgbClr val="C9D7E3"/>
                      </a:solidFill>
                      <a:prstDash val="solid"/>
                      <a:round/>
                      <a:headEnd type="none" w="med" len="med"/>
                      <a:tailEnd type="none" w="med" len="med"/>
                    </a:lnR>
                    <a:lnT w="12700" cap="flat" cmpd="sng" algn="ctr">
                      <a:solidFill>
                        <a:srgbClr val="C9D7E3"/>
                      </a:solidFill>
                      <a:prstDash val="solid"/>
                      <a:round/>
                      <a:headEnd type="none" w="med" len="med"/>
                      <a:tailEnd type="none" w="med" len="med"/>
                    </a:lnT>
                    <a:lnB w="12700" cap="flat" cmpd="sng" algn="ctr">
                      <a:solidFill>
                        <a:srgbClr val="C9D7E3"/>
                      </a:solidFill>
                      <a:prstDash val="solid"/>
                      <a:round/>
                      <a:headEnd type="none" w="med" len="med"/>
                      <a:tailEnd type="none" w="med" len="med"/>
                    </a:lnB>
                    <a:solidFill>
                      <a:srgbClr val="12324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Expected</a:t>
                      </a:r>
                      <a:endParaRPr lang="en-US" sz="1200" dirty="0">
                        <a:latin typeface="Calibri" charset="0"/>
                        <a:ea typeface="Calibri" charset="0"/>
                        <a:cs typeface="Calibri" charset="0"/>
                      </a:endParaRPr>
                    </a:p>
                  </a:txBody>
                  <a:tcPr marL="54864" marR="54864" marT="54864" marB="54864">
                    <a:lnL w="12700" cap="flat" cmpd="sng" algn="ctr">
                      <a:solidFill>
                        <a:srgbClr val="C9D7E3"/>
                      </a:solidFill>
                      <a:prstDash val="solid"/>
                      <a:round/>
                      <a:headEnd type="none" w="med" len="med"/>
                      <a:tailEnd type="none" w="med" len="med"/>
                    </a:lnL>
                    <a:lnR w="12700" cap="flat" cmpd="sng" algn="ctr">
                      <a:solidFill>
                        <a:srgbClr val="C9D7E3"/>
                      </a:solidFill>
                      <a:prstDash val="solid"/>
                      <a:round/>
                      <a:headEnd type="none" w="med" len="med"/>
                      <a:tailEnd type="none" w="med" len="med"/>
                    </a:lnR>
                    <a:lnT w="12700" cap="flat" cmpd="sng" algn="ctr">
                      <a:solidFill>
                        <a:srgbClr val="C9D7E3"/>
                      </a:solidFill>
                      <a:prstDash val="solid"/>
                      <a:round/>
                      <a:headEnd type="none" w="med" len="med"/>
                      <a:tailEnd type="none" w="med" len="med"/>
                    </a:lnT>
                    <a:lnB w="12700" cap="flat" cmpd="sng" algn="ctr">
                      <a:solidFill>
                        <a:srgbClr val="C9D7E3"/>
                      </a:solidFill>
                      <a:prstDash val="solid"/>
                      <a:round/>
                      <a:headEnd type="none" w="med" len="med"/>
                      <a:tailEnd type="none" w="med" len="med"/>
                    </a:lnB>
                    <a:solidFill>
                      <a:srgbClr val="12324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Actual</a:t>
                      </a:r>
                      <a:endParaRPr lang="en-US" sz="1200" dirty="0">
                        <a:latin typeface="Calibri" charset="0"/>
                        <a:ea typeface="Calibri" charset="0"/>
                        <a:cs typeface="Calibri" charset="0"/>
                      </a:endParaRPr>
                    </a:p>
                  </a:txBody>
                  <a:tcPr marL="54864" marR="54864" marT="54864" marB="54864">
                    <a:lnL w="12700" cap="flat" cmpd="sng" algn="ctr">
                      <a:solidFill>
                        <a:srgbClr val="C9D7E3"/>
                      </a:solidFill>
                      <a:prstDash val="solid"/>
                      <a:round/>
                      <a:headEnd type="none" w="med" len="med"/>
                      <a:tailEnd type="none" w="med" len="med"/>
                    </a:lnL>
                    <a:lnR w="12700" cap="flat" cmpd="sng" algn="ctr">
                      <a:solidFill>
                        <a:srgbClr val="C9D7E3"/>
                      </a:solidFill>
                      <a:prstDash val="solid"/>
                      <a:round/>
                      <a:headEnd type="none" w="med" len="med"/>
                      <a:tailEnd type="none" w="med" len="med"/>
                    </a:lnR>
                    <a:lnT w="12700" cap="flat" cmpd="sng" algn="ctr">
                      <a:solidFill>
                        <a:srgbClr val="C9D7E3"/>
                      </a:solidFill>
                      <a:prstDash val="solid"/>
                      <a:round/>
                      <a:headEnd type="none" w="med" len="med"/>
                      <a:tailEnd type="none" w="med" len="med"/>
                    </a:lnT>
                    <a:lnB w="12700" cap="flat" cmpd="sng" algn="ctr">
                      <a:solidFill>
                        <a:srgbClr val="C9D7E3"/>
                      </a:solidFill>
                      <a:prstDash val="solid"/>
                      <a:round/>
                      <a:headEnd type="none" w="med" len="med"/>
                      <a:tailEnd type="none" w="med" len="med"/>
                    </a:lnB>
                    <a:solidFill>
                      <a:srgbClr val="12324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Pass/fail</a:t>
                      </a:r>
                      <a:endParaRPr lang="en-US" sz="1200" dirty="0">
                        <a:latin typeface="Calibri" charset="0"/>
                        <a:ea typeface="Calibri" charset="0"/>
                        <a:cs typeface="Calibri" charset="0"/>
                      </a:endParaRPr>
                    </a:p>
                  </a:txBody>
                  <a:tcPr marL="54864" marR="54864" marT="54864" marB="54864">
                    <a:lnL w="12700" cap="flat" cmpd="sng" algn="ctr">
                      <a:solidFill>
                        <a:srgbClr val="C9D7E3"/>
                      </a:solidFill>
                      <a:prstDash val="solid"/>
                      <a:round/>
                      <a:headEnd type="none" w="med" len="med"/>
                      <a:tailEnd type="none" w="med" len="med"/>
                    </a:lnL>
                    <a:lnR w="12700" cap="flat" cmpd="sng" algn="ctr">
                      <a:solidFill>
                        <a:srgbClr val="C9D7E3"/>
                      </a:solidFill>
                      <a:prstDash val="solid"/>
                      <a:round/>
                      <a:headEnd type="none" w="med" len="med"/>
                      <a:tailEnd type="none" w="med" len="med"/>
                    </a:lnR>
                    <a:lnT w="12700" cap="flat" cmpd="sng" algn="ctr">
                      <a:solidFill>
                        <a:srgbClr val="C9D7E3"/>
                      </a:solidFill>
                      <a:prstDash val="solid"/>
                      <a:round/>
                      <a:headEnd type="none" w="med" len="med"/>
                      <a:tailEnd type="none" w="med" len="med"/>
                    </a:lnT>
                    <a:lnB w="12700" cap="flat" cmpd="sng" algn="ctr">
                      <a:solidFill>
                        <a:srgbClr val="C9D7E3"/>
                      </a:solidFill>
                      <a:prstDash val="solid"/>
                      <a:round/>
                      <a:headEnd type="none" w="med" len="med"/>
                      <a:tailEnd type="none" w="med" len="med"/>
                    </a:lnB>
                    <a:solidFill>
                      <a:srgbClr val="12324F"/>
                    </a:solidFill>
                  </a:tcPr>
                </a:tc>
              </a:tr>
              <a:tr h="0">
                <a:tc>
                  <a:txBody>
                    <a:bodyPr/>
                    <a:lstStyle/>
                    <a:p>
                      <a:pPr indent="0" marL="0">
                        <a:buNone/>
                      </a:pPr>
                      <a:r>
                        <a:rPr lang="en-US" sz="1200" dirty="0">
                          <a:solidFill>
                            <a:srgbClr val="17334B"/>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54864" marR="54864" marT="54864" marB="54864">
                    <a:lnL w="12700" cap="flat" cmpd="sng" algn="ctr">
                      <a:solidFill>
                        <a:srgbClr val="C9D7E3"/>
                      </a:solidFill>
                      <a:prstDash val="solid"/>
                      <a:round/>
                      <a:headEnd type="none" w="med" len="med"/>
                      <a:tailEnd type="none" w="med" len="med"/>
                    </a:lnL>
                    <a:lnR w="12700" cap="flat" cmpd="sng" algn="ctr">
                      <a:solidFill>
                        <a:srgbClr val="C9D7E3"/>
                      </a:solidFill>
                      <a:prstDash val="solid"/>
                      <a:round/>
                      <a:headEnd type="none" w="med" len="med"/>
                      <a:tailEnd type="none" w="med" len="med"/>
                    </a:lnR>
                    <a:lnT w="12700" cap="flat" cmpd="sng" algn="ctr">
                      <a:solidFill>
                        <a:srgbClr val="C9D7E3"/>
                      </a:solidFill>
                      <a:prstDash val="solid"/>
                      <a:round/>
                      <a:headEnd type="none" w="med" len="med"/>
                      <a:tailEnd type="none" w="med" len="med"/>
                    </a:lnT>
                    <a:lnB w="12700" cap="flat" cmpd="sng" algn="ctr">
                      <a:solidFill>
                        <a:srgbClr val="C9D7E3"/>
                      </a:solidFill>
                      <a:prstDash val="solid"/>
                      <a:round/>
                      <a:headEnd type="none" w="med" len="med"/>
                      <a:tailEnd type="none" w="med" len="med"/>
                    </a:lnB>
                    <a:solidFill>
                      <a:srgbClr val="FFFFFF"/>
                    </a:solidFill>
                  </a:tcPr>
                </a:tc>
                <a:tc>
                  <a:txBody>
                    <a:bodyPr/>
                    <a:lstStyle/>
                    <a:p>
                      <a:pPr indent="0" marL="0">
                        <a:buNone/>
                      </a:pPr>
                      <a:r>
                        <a:rPr lang="en-US" sz="1200" dirty="0">
                          <a:solidFill>
                            <a:srgbClr val="17334B"/>
                          </a:solidFill>
                          <a:latin typeface="Calibri" pitchFamily="34" charset="0"/>
                          <a:ea typeface="Calibri" pitchFamily="34" charset="-122"/>
                          <a:cs typeface="Calibri" pitchFamily="34" charset="-120"/>
                        </a:rPr>
                        <a:t>PC to gateway</a:t>
                      </a:r>
                      <a:endParaRPr lang="en-US" sz="1200" dirty="0">
                        <a:latin typeface="Calibri" charset="0"/>
                        <a:ea typeface="Calibri" charset="0"/>
                        <a:cs typeface="Calibri" charset="0"/>
                      </a:endParaRPr>
                    </a:p>
                  </a:txBody>
                  <a:tcPr marL="54864" marR="54864" marT="54864" marB="54864">
                    <a:lnL w="12700" cap="flat" cmpd="sng" algn="ctr">
                      <a:solidFill>
                        <a:srgbClr val="C9D7E3"/>
                      </a:solidFill>
                      <a:prstDash val="solid"/>
                      <a:round/>
                      <a:headEnd type="none" w="med" len="med"/>
                      <a:tailEnd type="none" w="med" len="med"/>
                    </a:lnL>
                    <a:lnR w="12700" cap="flat" cmpd="sng" algn="ctr">
                      <a:solidFill>
                        <a:srgbClr val="C9D7E3"/>
                      </a:solidFill>
                      <a:prstDash val="solid"/>
                      <a:round/>
                      <a:headEnd type="none" w="med" len="med"/>
                      <a:tailEnd type="none" w="med" len="med"/>
                    </a:lnR>
                    <a:lnT w="12700" cap="flat" cmpd="sng" algn="ctr">
                      <a:solidFill>
                        <a:srgbClr val="C9D7E3"/>
                      </a:solidFill>
                      <a:prstDash val="solid"/>
                      <a:round/>
                      <a:headEnd type="none" w="med" len="med"/>
                      <a:tailEnd type="none" w="med" len="med"/>
                    </a:lnT>
                    <a:lnB w="12700" cap="flat" cmpd="sng" algn="ctr">
                      <a:solidFill>
                        <a:srgbClr val="C9D7E3"/>
                      </a:solidFill>
                      <a:prstDash val="solid"/>
                      <a:round/>
                      <a:headEnd type="none" w="med" len="med"/>
                      <a:tailEnd type="none" w="med" len="med"/>
                    </a:lnB>
                    <a:solidFill>
                      <a:srgbClr val="FFFFFF"/>
                    </a:solidFill>
                  </a:tcPr>
                </a:tc>
                <a:tc>
                  <a:txBody>
                    <a:bodyPr/>
                    <a:lstStyle/>
                    <a:p>
                      <a:pPr indent="0" marL="0">
                        <a:buNone/>
                      </a:pPr>
                      <a:r>
                        <a:rPr lang="en-US" sz="1200" dirty="0">
                          <a:solidFill>
                            <a:srgbClr val="17334B"/>
                          </a:solidFill>
                          <a:latin typeface="Calibri" pitchFamily="34" charset="0"/>
                          <a:ea typeface="Calibri" pitchFamily="34" charset="-122"/>
                          <a:cs typeface="Calibri" pitchFamily="34" charset="-120"/>
                        </a:rPr>
                        <a:t>ping 192.168.20.1</a:t>
                      </a:r>
                      <a:endParaRPr lang="en-US" sz="1200" dirty="0">
                        <a:latin typeface="Calibri" charset="0"/>
                        <a:ea typeface="Calibri" charset="0"/>
                        <a:cs typeface="Calibri" charset="0"/>
                      </a:endParaRPr>
                    </a:p>
                  </a:txBody>
                  <a:tcPr marL="54864" marR="54864" marT="54864" marB="54864">
                    <a:lnL w="12700" cap="flat" cmpd="sng" algn="ctr">
                      <a:solidFill>
                        <a:srgbClr val="C9D7E3"/>
                      </a:solidFill>
                      <a:prstDash val="solid"/>
                      <a:round/>
                      <a:headEnd type="none" w="med" len="med"/>
                      <a:tailEnd type="none" w="med" len="med"/>
                    </a:lnL>
                    <a:lnR w="12700" cap="flat" cmpd="sng" algn="ctr">
                      <a:solidFill>
                        <a:srgbClr val="C9D7E3"/>
                      </a:solidFill>
                      <a:prstDash val="solid"/>
                      <a:round/>
                      <a:headEnd type="none" w="med" len="med"/>
                      <a:tailEnd type="none" w="med" len="med"/>
                    </a:lnR>
                    <a:lnT w="12700" cap="flat" cmpd="sng" algn="ctr">
                      <a:solidFill>
                        <a:srgbClr val="C9D7E3"/>
                      </a:solidFill>
                      <a:prstDash val="solid"/>
                      <a:round/>
                      <a:headEnd type="none" w="med" len="med"/>
                      <a:tailEnd type="none" w="med" len="med"/>
                    </a:lnT>
                    <a:lnB w="12700" cap="flat" cmpd="sng" algn="ctr">
                      <a:solidFill>
                        <a:srgbClr val="C9D7E3"/>
                      </a:solidFill>
                      <a:prstDash val="solid"/>
                      <a:round/>
                      <a:headEnd type="none" w="med" len="med"/>
                      <a:tailEnd type="none" w="med" len="med"/>
                    </a:lnB>
                    <a:solidFill>
                      <a:srgbClr val="FFFFFF"/>
                    </a:solidFill>
                  </a:tcPr>
                </a:tc>
                <a:tc>
                  <a:txBody>
                    <a:bodyPr/>
                    <a:lstStyle/>
                    <a:p>
                      <a:pPr indent="0" marL="0">
                        <a:buNone/>
                      </a:pPr>
                      <a:r>
                        <a:rPr lang="en-US" sz="1200" dirty="0">
                          <a:solidFill>
                            <a:srgbClr val="17334B"/>
                          </a:solidFill>
                          <a:latin typeface="Calibri" pitchFamily="34" charset="0"/>
                          <a:ea typeface="Calibri" pitchFamily="34" charset="-122"/>
                          <a:cs typeface="Calibri" pitchFamily="34" charset="-120"/>
                        </a:rPr>
                        <a:t>4 replies</a:t>
                      </a:r>
                      <a:endParaRPr lang="en-US" sz="1200" dirty="0">
                        <a:latin typeface="Calibri" charset="0"/>
                        <a:ea typeface="Calibri" charset="0"/>
                        <a:cs typeface="Calibri" charset="0"/>
                      </a:endParaRPr>
                    </a:p>
                  </a:txBody>
                  <a:tcPr marL="54864" marR="54864" marT="54864" marB="54864">
                    <a:lnL w="12700" cap="flat" cmpd="sng" algn="ctr">
                      <a:solidFill>
                        <a:srgbClr val="C9D7E3"/>
                      </a:solidFill>
                      <a:prstDash val="solid"/>
                      <a:round/>
                      <a:headEnd type="none" w="med" len="med"/>
                      <a:tailEnd type="none" w="med" len="med"/>
                    </a:lnL>
                    <a:lnR w="12700" cap="flat" cmpd="sng" algn="ctr">
                      <a:solidFill>
                        <a:srgbClr val="C9D7E3"/>
                      </a:solidFill>
                      <a:prstDash val="solid"/>
                      <a:round/>
                      <a:headEnd type="none" w="med" len="med"/>
                      <a:tailEnd type="none" w="med" len="med"/>
                    </a:lnR>
                    <a:lnT w="12700" cap="flat" cmpd="sng" algn="ctr">
                      <a:solidFill>
                        <a:srgbClr val="C9D7E3"/>
                      </a:solidFill>
                      <a:prstDash val="solid"/>
                      <a:round/>
                      <a:headEnd type="none" w="med" len="med"/>
                      <a:tailEnd type="none" w="med" len="med"/>
                    </a:lnT>
                    <a:lnB w="12700" cap="flat" cmpd="sng" algn="ctr">
                      <a:solidFill>
                        <a:srgbClr val="C9D7E3"/>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54864" marR="54864" marT="54864" marB="54864">
                    <a:lnL w="12700" cap="flat" cmpd="sng" algn="ctr">
                      <a:solidFill>
                        <a:srgbClr val="C9D7E3"/>
                      </a:solidFill>
                      <a:prstDash val="solid"/>
                      <a:round/>
                      <a:headEnd type="none" w="med" len="med"/>
                      <a:tailEnd type="none" w="med" len="med"/>
                    </a:lnL>
                    <a:lnR w="12700" cap="flat" cmpd="sng" algn="ctr">
                      <a:solidFill>
                        <a:srgbClr val="C9D7E3"/>
                      </a:solidFill>
                      <a:prstDash val="solid"/>
                      <a:round/>
                      <a:headEnd type="none" w="med" len="med"/>
                      <a:tailEnd type="none" w="med" len="med"/>
                    </a:lnR>
                    <a:lnT w="12700" cap="flat" cmpd="sng" algn="ctr">
                      <a:solidFill>
                        <a:srgbClr val="C9D7E3"/>
                      </a:solidFill>
                      <a:prstDash val="solid"/>
                      <a:round/>
                      <a:headEnd type="none" w="med" len="med"/>
                      <a:tailEnd type="none" w="med" len="med"/>
                    </a:lnT>
                    <a:lnB w="12700" cap="flat" cmpd="sng" algn="ctr">
                      <a:solidFill>
                        <a:srgbClr val="C9D7E3"/>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54864" marR="54864" marT="54864" marB="54864">
                    <a:lnL w="12700" cap="flat" cmpd="sng" algn="ctr">
                      <a:solidFill>
                        <a:srgbClr val="C9D7E3"/>
                      </a:solidFill>
                      <a:prstDash val="solid"/>
                      <a:round/>
                      <a:headEnd type="none" w="med" len="med"/>
                      <a:tailEnd type="none" w="med" len="med"/>
                    </a:lnL>
                    <a:lnR w="12700" cap="flat" cmpd="sng" algn="ctr">
                      <a:solidFill>
                        <a:srgbClr val="C9D7E3"/>
                      </a:solidFill>
                      <a:prstDash val="solid"/>
                      <a:round/>
                      <a:headEnd type="none" w="med" len="med"/>
                      <a:tailEnd type="none" w="med" len="med"/>
                    </a:lnR>
                    <a:lnT w="12700" cap="flat" cmpd="sng" algn="ctr">
                      <a:solidFill>
                        <a:srgbClr val="C9D7E3"/>
                      </a:solidFill>
                      <a:prstDash val="solid"/>
                      <a:round/>
                      <a:headEnd type="none" w="med" len="med"/>
                      <a:tailEnd type="none" w="med" len="med"/>
                    </a:lnT>
                    <a:lnB w="12700" cap="flat" cmpd="sng" algn="ctr">
                      <a:solidFill>
                        <a:srgbClr val="C9D7E3"/>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7334B"/>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54864" marR="54864" marT="54864" marB="54864">
                    <a:lnL w="12700" cap="flat" cmpd="sng" algn="ctr">
                      <a:solidFill>
                        <a:srgbClr val="C9D7E3"/>
                      </a:solidFill>
                      <a:prstDash val="solid"/>
                      <a:round/>
                      <a:headEnd type="none" w="med" len="med"/>
                      <a:tailEnd type="none" w="med" len="med"/>
                    </a:lnL>
                    <a:lnR w="12700" cap="flat" cmpd="sng" algn="ctr">
                      <a:solidFill>
                        <a:srgbClr val="C9D7E3"/>
                      </a:solidFill>
                      <a:prstDash val="solid"/>
                      <a:round/>
                      <a:headEnd type="none" w="med" len="med"/>
                      <a:tailEnd type="none" w="med" len="med"/>
                    </a:lnR>
                    <a:lnT w="12700" cap="flat" cmpd="sng" algn="ctr">
                      <a:solidFill>
                        <a:srgbClr val="C9D7E3"/>
                      </a:solidFill>
                      <a:prstDash val="solid"/>
                      <a:round/>
                      <a:headEnd type="none" w="med" len="med"/>
                      <a:tailEnd type="none" w="med" len="med"/>
                    </a:lnT>
                    <a:lnB w="12700" cap="flat" cmpd="sng" algn="ctr">
                      <a:solidFill>
                        <a:srgbClr val="C9D7E3"/>
                      </a:solidFill>
                      <a:prstDash val="solid"/>
                      <a:round/>
                      <a:headEnd type="none" w="med" len="med"/>
                      <a:tailEnd type="none" w="med" len="med"/>
                    </a:lnB>
                    <a:solidFill>
                      <a:srgbClr val="FFFFFF"/>
                    </a:solidFill>
                  </a:tcPr>
                </a:tc>
                <a:tc>
                  <a:txBody>
                    <a:bodyPr/>
                    <a:lstStyle/>
                    <a:p>
                      <a:pPr indent="0" marL="0">
                        <a:buNone/>
                      </a:pPr>
                      <a:r>
                        <a:rPr lang="en-US" sz="1200" dirty="0">
                          <a:solidFill>
                            <a:srgbClr val="17334B"/>
                          </a:solidFill>
                          <a:latin typeface="Calibri" pitchFamily="34" charset="0"/>
                          <a:ea typeface="Calibri" pitchFamily="34" charset="-122"/>
                          <a:cs typeface="Calibri" pitchFamily="34" charset="-120"/>
                        </a:rPr>
                        <a:t>DHCP address</a:t>
                      </a:r>
                      <a:endParaRPr lang="en-US" sz="1200" dirty="0">
                        <a:latin typeface="Calibri" charset="0"/>
                        <a:ea typeface="Calibri" charset="0"/>
                        <a:cs typeface="Calibri" charset="0"/>
                      </a:endParaRPr>
                    </a:p>
                  </a:txBody>
                  <a:tcPr marL="54864" marR="54864" marT="54864" marB="54864">
                    <a:lnL w="12700" cap="flat" cmpd="sng" algn="ctr">
                      <a:solidFill>
                        <a:srgbClr val="C9D7E3"/>
                      </a:solidFill>
                      <a:prstDash val="solid"/>
                      <a:round/>
                      <a:headEnd type="none" w="med" len="med"/>
                      <a:tailEnd type="none" w="med" len="med"/>
                    </a:lnL>
                    <a:lnR w="12700" cap="flat" cmpd="sng" algn="ctr">
                      <a:solidFill>
                        <a:srgbClr val="C9D7E3"/>
                      </a:solidFill>
                      <a:prstDash val="solid"/>
                      <a:round/>
                      <a:headEnd type="none" w="med" len="med"/>
                      <a:tailEnd type="none" w="med" len="med"/>
                    </a:lnR>
                    <a:lnT w="12700" cap="flat" cmpd="sng" algn="ctr">
                      <a:solidFill>
                        <a:srgbClr val="C9D7E3"/>
                      </a:solidFill>
                      <a:prstDash val="solid"/>
                      <a:round/>
                      <a:headEnd type="none" w="med" len="med"/>
                      <a:tailEnd type="none" w="med" len="med"/>
                    </a:lnT>
                    <a:lnB w="12700" cap="flat" cmpd="sng" algn="ctr">
                      <a:solidFill>
                        <a:srgbClr val="C9D7E3"/>
                      </a:solidFill>
                      <a:prstDash val="solid"/>
                      <a:round/>
                      <a:headEnd type="none" w="med" len="med"/>
                      <a:tailEnd type="none" w="med" len="med"/>
                    </a:lnB>
                    <a:solidFill>
                      <a:srgbClr val="FFFFFF"/>
                    </a:solidFill>
                  </a:tcPr>
                </a:tc>
                <a:tc>
                  <a:txBody>
                    <a:bodyPr/>
                    <a:lstStyle/>
                    <a:p>
                      <a:pPr indent="0" marL="0">
                        <a:buNone/>
                      </a:pPr>
                      <a:r>
                        <a:rPr lang="en-US" sz="1200" dirty="0">
                          <a:solidFill>
                            <a:srgbClr val="17334B"/>
                          </a:solidFill>
                          <a:latin typeface="Calibri" pitchFamily="34" charset="0"/>
                          <a:ea typeface="Calibri" pitchFamily="34" charset="-122"/>
                          <a:cs typeface="Calibri" pitchFamily="34" charset="-120"/>
                        </a:rPr>
                        <a:t>ipconfig</a:t>
                      </a:r>
                      <a:endParaRPr lang="en-US" sz="1200" dirty="0">
                        <a:latin typeface="Calibri" charset="0"/>
                        <a:ea typeface="Calibri" charset="0"/>
                        <a:cs typeface="Calibri" charset="0"/>
                      </a:endParaRPr>
                    </a:p>
                  </a:txBody>
                  <a:tcPr marL="54864" marR="54864" marT="54864" marB="54864">
                    <a:lnL w="12700" cap="flat" cmpd="sng" algn="ctr">
                      <a:solidFill>
                        <a:srgbClr val="C9D7E3"/>
                      </a:solidFill>
                      <a:prstDash val="solid"/>
                      <a:round/>
                      <a:headEnd type="none" w="med" len="med"/>
                      <a:tailEnd type="none" w="med" len="med"/>
                    </a:lnL>
                    <a:lnR w="12700" cap="flat" cmpd="sng" algn="ctr">
                      <a:solidFill>
                        <a:srgbClr val="C9D7E3"/>
                      </a:solidFill>
                      <a:prstDash val="solid"/>
                      <a:round/>
                      <a:headEnd type="none" w="med" len="med"/>
                      <a:tailEnd type="none" w="med" len="med"/>
                    </a:lnR>
                    <a:lnT w="12700" cap="flat" cmpd="sng" algn="ctr">
                      <a:solidFill>
                        <a:srgbClr val="C9D7E3"/>
                      </a:solidFill>
                      <a:prstDash val="solid"/>
                      <a:round/>
                      <a:headEnd type="none" w="med" len="med"/>
                      <a:tailEnd type="none" w="med" len="med"/>
                    </a:lnT>
                    <a:lnB w="12700" cap="flat" cmpd="sng" algn="ctr">
                      <a:solidFill>
                        <a:srgbClr val="C9D7E3"/>
                      </a:solidFill>
                      <a:prstDash val="solid"/>
                      <a:round/>
                      <a:headEnd type="none" w="med" len="med"/>
                      <a:tailEnd type="none" w="med" len="med"/>
                    </a:lnB>
                    <a:solidFill>
                      <a:srgbClr val="FFFFFF"/>
                    </a:solidFill>
                  </a:tcPr>
                </a:tc>
                <a:tc>
                  <a:txBody>
                    <a:bodyPr/>
                    <a:lstStyle/>
                    <a:p>
                      <a:pPr indent="0" marL="0">
                        <a:buNone/>
                      </a:pPr>
                      <a:r>
                        <a:rPr lang="en-US" sz="1200" dirty="0">
                          <a:solidFill>
                            <a:srgbClr val="17334B"/>
                          </a:solidFill>
                          <a:latin typeface="Calibri" pitchFamily="34" charset="0"/>
                          <a:ea typeface="Calibri" pitchFamily="34" charset="-122"/>
                          <a:cs typeface="Calibri" pitchFamily="34" charset="-120"/>
                        </a:rPr>
                        <a:t>.100–.150</a:t>
                      </a:r>
                      <a:endParaRPr lang="en-US" sz="1200" dirty="0">
                        <a:latin typeface="Calibri" charset="0"/>
                        <a:ea typeface="Calibri" charset="0"/>
                        <a:cs typeface="Calibri" charset="0"/>
                      </a:endParaRPr>
                    </a:p>
                  </a:txBody>
                  <a:tcPr marL="54864" marR="54864" marT="54864" marB="54864">
                    <a:lnL w="12700" cap="flat" cmpd="sng" algn="ctr">
                      <a:solidFill>
                        <a:srgbClr val="C9D7E3"/>
                      </a:solidFill>
                      <a:prstDash val="solid"/>
                      <a:round/>
                      <a:headEnd type="none" w="med" len="med"/>
                      <a:tailEnd type="none" w="med" len="med"/>
                    </a:lnL>
                    <a:lnR w="12700" cap="flat" cmpd="sng" algn="ctr">
                      <a:solidFill>
                        <a:srgbClr val="C9D7E3"/>
                      </a:solidFill>
                      <a:prstDash val="solid"/>
                      <a:round/>
                      <a:headEnd type="none" w="med" len="med"/>
                      <a:tailEnd type="none" w="med" len="med"/>
                    </a:lnR>
                    <a:lnT w="12700" cap="flat" cmpd="sng" algn="ctr">
                      <a:solidFill>
                        <a:srgbClr val="C9D7E3"/>
                      </a:solidFill>
                      <a:prstDash val="solid"/>
                      <a:round/>
                      <a:headEnd type="none" w="med" len="med"/>
                      <a:tailEnd type="none" w="med" len="med"/>
                    </a:lnT>
                    <a:lnB w="12700" cap="flat" cmpd="sng" algn="ctr">
                      <a:solidFill>
                        <a:srgbClr val="C9D7E3"/>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54864" marR="54864" marT="54864" marB="54864">
                    <a:lnL w="12700" cap="flat" cmpd="sng" algn="ctr">
                      <a:solidFill>
                        <a:srgbClr val="C9D7E3"/>
                      </a:solidFill>
                      <a:prstDash val="solid"/>
                      <a:round/>
                      <a:headEnd type="none" w="med" len="med"/>
                      <a:tailEnd type="none" w="med" len="med"/>
                    </a:lnL>
                    <a:lnR w="12700" cap="flat" cmpd="sng" algn="ctr">
                      <a:solidFill>
                        <a:srgbClr val="C9D7E3"/>
                      </a:solidFill>
                      <a:prstDash val="solid"/>
                      <a:round/>
                      <a:headEnd type="none" w="med" len="med"/>
                      <a:tailEnd type="none" w="med" len="med"/>
                    </a:lnR>
                    <a:lnT w="12700" cap="flat" cmpd="sng" algn="ctr">
                      <a:solidFill>
                        <a:srgbClr val="C9D7E3"/>
                      </a:solidFill>
                      <a:prstDash val="solid"/>
                      <a:round/>
                      <a:headEnd type="none" w="med" len="med"/>
                      <a:tailEnd type="none" w="med" len="med"/>
                    </a:lnT>
                    <a:lnB w="12700" cap="flat" cmpd="sng" algn="ctr">
                      <a:solidFill>
                        <a:srgbClr val="C9D7E3"/>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54864" marR="54864" marT="54864" marB="54864">
                    <a:lnL w="12700" cap="flat" cmpd="sng" algn="ctr">
                      <a:solidFill>
                        <a:srgbClr val="C9D7E3"/>
                      </a:solidFill>
                      <a:prstDash val="solid"/>
                      <a:round/>
                      <a:headEnd type="none" w="med" len="med"/>
                      <a:tailEnd type="none" w="med" len="med"/>
                    </a:lnL>
                    <a:lnR w="12700" cap="flat" cmpd="sng" algn="ctr">
                      <a:solidFill>
                        <a:srgbClr val="C9D7E3"/>
                      </a:solidFill>
                      <a:prstDash val="solid"/>
                      <a:round/>
                      <a:headEnd type="none" w="med" len="med"/>
                      <a:tailEnd type="none" w="med" len="med"/>
                    </a:lnR>
                    <a:lnT w="12700" cap="flat" cmpd="sng" algn="ctr">
                      <a:solidFill>
                        <a:srgbClr val="C9D7E3"/>
                      </a:solidFill>
                      <a:prstDash val="solid"/>
                      <a:round/>
                      <a:headEnd type="none" w="med" len="med"/>
                      <a:tailEnd type="none" w="med" len="med"/>
                    </a:lnT>
                    <a:lnB w="12700" cap="flat" cmpd="sng" algn="ctr">
                      <a:solidFill>
                        <a:srgbClr val="C9D7E3"/>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7334B"/>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54864" marR="54864" marT="54864" marB="54864">
                    <a:lnL w="12700" cap="flat" cmpd="sng" algn="ctr">
                      <a:solidFill>
                        <a:srgbClr val="C9D7E3"/>
                      </a:solidFill>
                      <a:prstDash val="solid"/>
                      <a:round/>
                      <a:headEnd type="none" w="med" len="med"/>
                      <a:tailEnd type="none" w="med" len="med"/>
                    </a:lnL>
                    <a:lnR w="12700" cap="flat" cmpd="sng" algn="ctr">
                      <a:solidFill>
                        <a:srgbClr val="C9D7E3"/>
                      </a:solidFill>
                      <a:prstDash val="solid"/>
                      <a:round/>
                      <a:headEnd type="none" w="med" len="med"/>
                      <a:tailEnd type="none" w="med" len="med"/>
                    </a:lnR>
                    <a:lnT w="12700" cap="flat" cmpd="sng" algn="ctr">
                      <a:solidFill>
                        <a:srgbClr val="C9D7E3"/>
                      </a:solidFill>
                      <a:prstDash val="solid"/>
                      <a:round/>
                      <a:headEnd type="none" w="med" len="med"/>
                      <a:tailEnd type="none" w="med" len="med"/>
                    </a:lnT>
                    <a:lnB w="12700" cap="flat" cmpd="sng" algn="ctr">
                      <a:solidFill>
                        <a:srgbClr val="C9D7E3"/>
                      </a:solidFill>
                      <a:prstDash val="solid"/>
                      <a:round/>
                      <a:headEnd type="none" w="med" len="med"/>
                      <a:tailEnd type="none" w="med" len="med"/>
                    </a:lnB>
                    <a:solidFill>
                      <a:srgbClr val="FFFFFF"/>
                    </a:solidFill>
                  </a:tcPr>
                </a:tc>
                <a:tc>
                  <a:txBody>
                    <a:bodyPr/>
                    <a:lstStyle/>
                    <a:p>
                      <a:pPr indent="0" marL="0">
                        <a:buNone/>
                      </a:pPr>
                      <a:r>
                        <a:rPr lang="en-US" sz="1200" dirty="0">
                          <a:solidFill>
                            <a:srgbClr val="17334B"/>
                          </a:solidFill>
                          <a:latin typeface="Calibri" pitchFamily="34" charset="0"/>
                          <a:ea typeface="Calibri" pitchFamily="34" charset="-122"/>
                          <a:cs typeface="Calibri" pitchFamily="34" charset="-120"/>
                        </a:rPr>
                        <a:t>DNS</a:t>
                      </a:r>
                      <a:endParaRPr lang="en-US" sz="1200" dirty="0">
                        <a:latin typeface="Calibri" charset="0"/>
                        <a:ea typeface="Calibri" charset="0"/>
                        <a:cs typeface="Calibri" charset="0"/>
                      </a:endParaRPr>
                    </a:p>
                  </a:txBody>
                  <a:tcPr marL="54864" marR="54864" marT="54864" marB="54864">
                    <a:lnL w="12700" cap="flat" cmpd="sng" algn="ctr">
                      <a:solidFill>
                        <a:srgbClr val="C9D7E3"/>
                      </a:solidFill>
                      <a:prstDash val="solid"/>
                      <a:round/>
                      <a:headEnd type="none" w="med" len="med"/>
                      <a:tailEnd type="none" w="med" len="med"/>
                    </a:lnL>
                    <a:lnR w="12700" cap="flat" cmpd="sng" algn="ctr">
                      <a:solidFill>
                        <a:srgbClr val="C9D7E3"/>
                      </a:solidFill>
                      <a:prstDash val="solid"/>
                      <a:round/>
                      <a:headEnd type="none" w="med" len="med"/>
                      <a:tailEnd type="none" w="med" len="med"/>
                    </a:lnR>
                    <a:lnT w="12700" cap="flat" cmpd="sng" algn="ctr">
                      <a:solidFill>
                        <a:srgbClr val="C9D7E3"/>
                      </a:solidFill>
                      <a:prstDash val="solid"/>
                      <a:round/>
                      <a:headEnd type="none" w="med" len="med"/>
                      <a:tailEnd type="none" w="med" len="med"/>
                    </a:lnT>
                    <a:lnB w="12700" cap="flat" cmpd="sng" algn="ctr">
                      <a:solidFill>
                        <a:srgbClr val="C9D7E3"/>
                      </a:solidFill>
                      <a:prstDash val="solid"/>
                      <a:round/>
                      <a:headEnd type="none" w="med" len="med"/>
                      <a:tailEnd type="none" w="med" len="med"/>
                    </a:lnB>
                    <a:solidFill>
                      <a:srgbClr val="FFFFFF"/>
                    </a:solidFill>
                  </a:tcPr>
                </a:tc>
                <a:tc>
                  <a:txBody>
                    <a:bodyPr/>
                    <a:lstStyle/>
                    <a:p>
                      <a:pPr indent="0" marL="0">
                        <a:buNone/>
                      </a:pPr>
                      <a:r>
                        <a:rPr lang="en-US" sz="1200" dirty="0">
                          <a:solidFill>
                            <a:srgbClr val="17334B"/>
                          </a:solidFill>
                          <a:latin typeface="Calibri" pitchFamily="34" charset="0"/>
                          <a:ea typeface="Calibri" pitchFamily="34" charset="-122"/>
                          <a:cs typeface="Calibri" pitchFamily="34" charset="-120"/>
                        </a:rPr>
                        <a:t>browse intranet.local</a:t>
                      </a:r>
                      <a:endParaRPr lang="en-US" sz="1200" dirty="0">
                        <a:latin typeface="Calibri" charset="0"/>
                        <a:ea typeface="Calibri" charset="0"/>
                        <a:cs typeface="Calibri" charset="0"/>
                      </a:endParaRPr>
                    </a:p>
                  </a:txBody>
                  <a:tcPr marL="54864" marR="54864" marT="54864" marB="54864">
                    <a:lnL w="12700" cap="flat" cmpd="sng" algn="ctr">
                      <a:solidFill>
                        <a:srgbClr val="C9D7E3"/>
                      </a:solidFill>
                      <a:prstDash val="solid"/>
                      <a:round/>
                      <a:headEnd type="none" w="med" len="med"/>
                      <a:tailEnd type="none" w="med" len="med"/>
                    </a:lnL>
                    <a:lnR w="12700" cap="flat" cmpd="sng" algn="ctr">
                      <a:solidFill>
                        <a:srgbClr val="C9D7E3"/>
                      </a:solidFill>
                      <a:prstDash val="solid"/>
                      <a:round/>
                      <a:headEnd type="none" w="med" len="med"/>
                      <a:tailEnd type="none" w="med" len="med"/>
                    </a:lnR>
                    <a:lnT w="12700" cap="flat" cmpd="sng" algn="ctr">
                      <a:solidFill>
                        <a:srgbClr val="C9D7E3"/>
                      </a:solidFill>
                      <a:prstDash val="solid"/>
                      <a:round/>
                      <a:headEnd type="none" w="med" len="med"/>
                      <a:tailEnd type="none" w="med" len="med"/>
                    </a:lnT>
                    <a:lnB w="12700" cap="flat" cmpd="sng" algn="ctr">
                      <a:solidFill>
                        <a:srgbClr val="C9D7E3"/>
                      </a:solidFill>
                      <a:prstDash val="solid"/>
                      <a:round/>
                      <a:headEnd type="none" w="med" len="med"/>
                      <a:tailEnd type="none" w="med" len="med"/>
                    </a:lnB>
                    <a:solidFill>
                      <a:srgbClr val="FFFFFF"/>
                    </a:solidFill>
                  </a:tcPr>
                </a:tc>
                <a:tc>
                  <a:txBody>
                    <a:bodyPr/>
                    <a:lstStyle/>
                    <a:p>
                      <a:pPr indent="0" marL="0">
                        <a:buNone/>
                      </a:pPr>
                      <a:r>
                        <a:rPr lang="en-US" sz="1200" dirty="0">
                          <a:solidFill>
                            <a:srgbClr val="17334B"/>
                          </a:solidFill>
                          <a:latin typeface="Calibri" pitchFamily="34" charset="0"/>
                          <a:ea typeface="Calibri" pitchFamily="34" charset="-122"/>
                          <a:cs typeface="Calibri" pitchFamily="34" charset="-120"/>
                        </a:rPr>
                        <a:t>page loads</a:t>
                      </a:r>
                      <a:endParaRPr lang="en-US" sz="1200" dirty="0">
                        <a:latin typeface="Calibri" charset="0"/>
                        <a:ea typeface="Calibri" charset="0"/>
                        <a:cs typeface="Calibri" charset="0"/>
                      </a:endParaRPr>
                    </a:p>
                  </a:txBody>
                  <a:tcPr marL="54864" marR="54864" marT="54864" marB="54864">
                    <a:lnL w="12700" cap="flat" cmpd="sng" algn="ctr">
                      <a:solidFill>
                        <a:srgbClr val="C9D7E3"/>
                      </a:solidFill>
                      <a:prstDash val="solid"/>
                      <a:round/>
                      <a:headEnd type="none" w="med" len="med"/>
                      <a:tailEnd type="none" w="med" len="med"/>
                    </a:lnL>
                    <a:lnR w="12700" cap="flat" cmpd="sng" algn="ctr">
                      <a:solidFill>
                        <a:srgbClr val="C9D7E3"/>
                      </a:solidFill>
                      <a:prstDash val="solid"/>
                      <a:round/>
                      <a:headEnd type="none" w="med" len="med"/>
                      <a:tailEnd type="none" w="med" len="med"/>
                    </a:lnR>
                    <a:lnT w="12700" cap="flat" cmpd="sng" algn="ctr">
                      <a:solidFill>
                        <a:srgbClr val="C9D7E3"/>
                      </a:solidFill>
                      <a:prstDash val="solid"/>
                      <a:round/>
                      <a:headEnd type="none" w="med" len="med"/>
                      <a:tailEnd type="none" w="med" len="med"/>
                    </a:lnT>
                    <a:lnB w="12700" cap="flat" cmpd="sng" algn="ctr">
                      <a:solidFill>
                        <a:srgbClr val="C9D7E3"/>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54864" marR="54864" marT="54864" marB="54864">
                    <a:lnL w="12700" cap="flat" cmpd="sng" algn="ctr">
                      <a:solidFill>
                        <a:srgbClr val="C9D7E3"/>
                      </a:solidFill>
                      <a:prstDash val="solid"/>
                      <a:round/>
                      <a:headEnd type="none" w="med" len="med"/>
                      <a:tailEnd type="none" w="med" len="med"/>
                    </a:lnL>
                    <a:lnR w="12700" cap="flat" cmpd="sng" algn="ctr">
                      <a:solidFill>
                        <a:srgbClr val="C9D7E3"/>
                      </a:solidFill>
                      <a:prstDash val="solid"/>
                      <a:round/>
                      <a:headEnd type="none" w="med" len="med"/>
                      <a:tailEnd type="none" w="med" len="med"/>
                    </a:lnR>
                    <a:lnT w="12700" cap="flat" cmpd="sng" algn="ctr">
                      <a:solidFill>
                        <a:srgbClr val="C9D7E3"/>
                      </a:solidFill>
                      <a:prstDash val="solid"/>
                      <a:round/>
                      <a:headEnd type="none" w="med" len="med"/>
                      <a:tailEnd type="none" w="med" len="med"/>
                    </a:lnT>
                    <a:lnB w="12700" cap="flat" cmpd="sng" algn="ctr">
                      <a:solidFill>
                        <a:srgbClr val="C9D7E3"/>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54864" marR="54864" marT="54864" marB="54864">
                    <a:lnL w="12700" cap="flat" cmpd="sng" algn="ctr">
                      <a:solidFill>
                        <a:srgbClr val="C9D7E3"/>
                      </a:solidFill>
                      <a:prstDash val="solid"/>
                      <a:round/>
                      <a:headEnd type="none" w="med" len="med"/>
                      <a:tailEnd type="none" w="med" len="med"/>
                    </a:lnL>
                    <a:lnR w="12700" cap="flat" cmpd="sng" algn="ctr">
                      <a:solidFill>
                        <a:srgbClr val="C9D7E3"/>
                      </a:solidFill>
                      <a:prstDash val="solid"/>
                      <a:round/>
                      <a:headEnd type="none" w="med" len="med"/>
                      <a:tailEnd type="none" w="med" len="med"/>
                    </a:lnR>
                    <a:lnT w="12700" cap="flat" cmpd="sng" algn="ctr">
                      <a:solidFill>
                        <a:srgbClr val="C9D7E3"/>
                      </a:solidFill>
                      <a:prstDash val="solid"/>
                      <a:round/>
                      <a:headEnd type="none" w="med" len="med"/>
                      <a:tailEnd type="none" w="med" len="med"/>
                    </a:lnT>
                    <a:lnB w="12700" cap="flat" cmpd="sng" algn="ctr">
                      <a:solidFill>
                        <a:srgbClr val="C9D7E3"/>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7334B"/>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54864" marR="54864" marT="54864" marB="54864">
                    <a:lnL w="12700" cap="flat" cmpd="sng" algn="ctr">
                      <a:solidFill>
                        <a:srgbClr val="C9D7E3"/>
                      </a:solidFill>
                      <a:prstDash val="solid"/>
                      <a:round/>
                      <a:headEnd type="none" w="med" len="med"/>
                      <a:tailEnd type="none" w="med" len="med"/>
                    </a:lnL>
                    <a:lnR w="12700" cap="flat" cmpd="sng" algn="ctr">
                      <a:solidFill>
                        <a:srgbClr val="C9D7E3"/>
                      </a:solidFill>
                      <a:prstDash val="solid"/>
                      <a:round/>
                      <a:headEnd type="none" w="med" len="med"/>
                      <a:tailEnd type="none" w="med" len="med"/>
                    </a:lnR>
                    <a:lnT w="12700" cap="flat" cmpd="sng" algn="ctr">
                      <a:solidFill>
                        <a:srgbClr val="C9D7E3"/>
                      </a:solidFill>
                      <a:prstDash val="solid"/>
                      <a:round/>
                      <a:headEnd type="none" w="med" len="med"/>
                      <a:tailEnd type="none" w="med" len="med"/>
                    </a:lnT>
                    <a:lnB w="12700" cap="flat" cmpd="sng" algn="ctr">
                      <a:solidFill>
                        <a:srgbClr val="C9D7E3"/>
                      </a:solidFill>
                      <a:prstDash val="solid"/>
                      <a:round/>
                      <a:headEnd type="none" w="med" len="med"/>
                      <a:tailEnd type="none" w="med" len="med"/>
                    </a:lnB>
                    <a:solidFill>
                      <a:srgbClr val="FFFFFF"/>
                    </a:solidFill>
                  </a:tcPr>
                </a:tc>
                <a:tc>
                  <a:txBody>
                    <a:bodyPr/>
                    <a:lstStyle/>
                    <a:p>
                      <a:pPr indent="0" marL="0">
                        <a:buNone/>
                      </a:pPr>
                      <a:r>
                        <a:rPr lang="en-US" sz="1200" dirty="0">
                          <a:solidFill>
                            <a:srgbClr val="17334B"/>
                          </a:solidFill>
                          <a:latin typeface="Calibri" pitchFamily="34" charset="0"/>
                          <a:ea typeface="Calibri" pitchFamily="34" charset="-122"/>
                          <a:cs typeface="Calibri" pitchFamily="34" charset="-120"/>
                        </a:rPr>
                        <a:t>Folder permission</a:t>
                      </a:r>
                      <a:endParaRPr lang="en-US" sz="1200" dirty="0">
                        <a:latin typeface="Calibri" charset="0"/>
                        <a:ea typeface="Calibri" charset="0"/>
                        <a:cs typeface="Calibri" charset="0"/>
                      </a:endParaRPr>
                    </a:p>
                  </a:txBody>
                  <a:tcPr marL="54864" marR="54864" marT="54864" marB="54864">
                    <a:lnL w="12700" cap="flat" cmpd="sng" algn="ctr">
                      <a:solidFill>
                        <a:srgbClr val="C9D7E3"/>
                      </a:solidFill>
                      <a:prstDash val="solid"/>
                      <a:round/>
                      <a:headEnd type="none" w="med" len="med"/>
                      <a:tailEnd type="none" w="med" len="med"/>
                    </a:lnL>
                    <a:lnR w="12700" cap="flat" cmpd="sng" algn="ctr">
                      <a:solidFill>
                        <a:srgbClr val="C9D7E3"/>
                      </a:solidFill>
                      <a:prstDash val="solid"/>
                      <a:round/>
                      <a:headEnd type="none" w="med" len="med"/>
                      <a:tailEnd type="none" w="med" len="med"/>
                    </a:lnR>
                    <a:lnT w="12700" cap="flat" cmpd="sng" algn="ctr">
                      <a:solidFill>
                        <a:srgbClr val="C9D7E3"/>
                      </a:solidFill>
                      <a:prstDash val="solid"/>
                      <a:round/>
                      <a:headEnd type="none" w="med" len="med"/>
                      <a:tailEnd type="none" w="med" len="med"/>
                    </a:lnT>
                    <a:lnB w="12700" cap="flat" cmpd="sng" algn="ctr">
                      <a:solidFill>
                        <a:srgbClr val="C9D7E3"/>
                      </a:solidFill>
                      <a:prstDash val="solid"/>
                      <a:round/>
                      <a:headEnd type="none" w="med" len="med"/>
                      <a:tailEnd type="none" w="med" len="med"/>
                    </a:lnB>
                    <a:solidFill>
                      <a:srgbClr val="FFFFFF"/>
                    </a:solidFill>
                  </a:tcPr>
                </a:tc>
                <a:tc>
                  <a:txBody>
                    <a:bodyPr/>
                    <a:lstStyle/>
                    <a:p>
                      <a:pPr indent="0" marL="0">
                        <a:buNone/>
                      </a:pPr>
                      <a:r>
                        <a:rPr lang="en-US" sz="1200" dirty="0">
                          <a:solidFill>
                            <a:srgbClr val="17334B"/>
                          </a:solidFill>
                          <a:latin typeface="Calibri" pitchFamily="34" charset="0"/>
                          <a:ea typeface="Calibri" pitchFamily="34" charset="-122"/>
                          <a:cs typeface="Calibri" pitchFamily="34" charset="-120"/>
                        </a:rPr>
                        <a:t>log in as other group</a:t>
                      </a:r>
                      <a:endParaRPr lang="en-US" sz="1200" dirty="0">
                        <a:latin typeface="Calibri" charset="0"/>
                        <a:ea typeface="Calibri" charset="0"/>
                        <a:cs typeface="Calibri" charset="0"/>
                      </a:endParaRPr>
                    </a:p>
                  </a:txBody>
                  <a:tcPr marL="54864" marR="54864" marT="54864" marB="54864">
                    <a:lnL w="12700" cap="flat" cmpd="sng" algn="ctr">
                      <a:solidFill>
                        <a:srgbClr val="C9D7E3"/>
                      </a:solidFill>
                      <a:prstDash val="solid"/>
                      <a:round/>
                      <a:headEnd type="none" w="med" len="med"/>
                      <a:tailEnd type="none" w="med" len="med"/>
                    </a:lnL>
                    <a:lnR w="12700" cap="flat" cmpd="sng" algn="ctr">
                      <a:solidFill>
                        <a:srgbClr val="C9D7E3"/>
                      </a:solidFill>
                      <a:prstDash val="solid"/>
                      <a:round/>
                      <a:headEnd type="none" w="med" len="med"/>
                      <a:tailEnd type="none" w="med" len="med"/>
                    </a:lnR>
                    <a:lnT w="12700" cap="flat" cmpd="sng" algn="ctr">
                      <a:solidFill>
                        <a:srgbClr val="C9D7E3"/>
                      </a:solidFill>
                      <a:prstDash val="solid"/>
                      <a:round/>
                      <a:headEnd type="none" w="med" len="med"/>
                      <a:tailEnd type="none" w="med" len="med"/>
                    </a:lnT>
                    <a:lnB w="12700" cap="flat" cmpd="sng" algn="ctr">
                      <a:solidFill>
                        <a:srgbClr val="C9D7E3"/>
                      </a:solidFill>
                      <a:prstDash val="solid"/>
                      <a:round/>
                      <a:headEnd type="none" w="med" len="med"/>
                      <a:tailEnd type="none" w="med" len="med"/>
                    </a:lnB>
                    <a:solidFill>
                      <a:srgbClr val="FFFFFF"/>
                    </a:solidFill>
                  </a:tcPr>
                </a:tc>
                <a:tc>
                  <a:txBody>
                    <a:bodyPr/>
                    <a:lstStyle/>
                    <a:p>
                      <a:pPr indent="0" marL="0">
                        <a:buNone/>
                      </a:pPr>
                      <a:r>
                        <a:rPr lang="en-US" sz="1200" dirty="0">
                          <a:solidFill>
                            <a:srgbClr val="17334B"/>
                          </a:solidFill>
                          <a:latin typeface="Calibri" pitchFamily="34" charset="0"/>
                          <a:ea typeface="Calibri" pitchFamily="34" charset="-122"/>
                          <a:cs typeface="Calibri" pitchFamily="34" charset="-120"/>
                        </a:rPr>
                        <a:t>access denied</a:t>
                      </a:r>
                      <a:endParaRPr lang="en-US" sz="1200" dirty="0">
                        <a:latin typeface="Calibri" charset="0"/>
                        <a:ea typeface="Calibri" charset="0"/>
                        <a:cs typeface="Calibri" charset="0"/>
                      </a:endParaRPr>
                    </a:p>
                  </a:txBody>
                  <a:tcPr marL="54864" marR="54864" marT="54864" marB="54864">
                    <a:lnL w="12700" cap="flat" cmpd="sng" algn="ctr">
                      <a:solidFill>
                        <a:srgbClr val="C9D7E3"/>
                      </a:solidFill>
                      <a:prstDash val="solid"/>
                      <a:round/>
                      <a:headEnd type="none" w="med" len="med"/>
                      <a:tailEnd type="none" w="med" len="med"/>
                    </a:lnL>
                    <a:lnR w="12700" cap="flat" cmpd="sng" algn="ctr">
                      <a:solidFill>
                        <a:srgbClr val="C9D7E3"/>
                      </a:solidFill>
                      <a:prstDash val="solid"/>
                      <a:round/>
                      <a:headEnd type="none" w="med" len="med"/>
                      <a:tailEnd type="none" w="med" len="med"/>
                    </a:lnR>
                    <a:lnT w="12700" cap="flat" cmpd="sng" algn="ctr">
                      <a:solidFill>
                        <a:srgbClr val="C9D7E3"/>
                      </a:solidFill>
                      <a:prstDash val="solid"/>
                      <a:round/>
                      <a:headEnd type="none" w="med" len="med"/>
                      <a:tailEnd type="none" w="med" len="med"/>
                    </a:lnT>
                    <a:lnB w="12700" cap="flat" cmpd="sng" algn="ctr">
                      <a:solidFill>
                        <a:srgbClr val="C9D7E3"/>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54864" marR="54864" marT="54864" marB="54864">
                    <a:lnL w="12700" cap="flat" cmpd="sng" algn="ctr">
                      <a:solidFill>
                        <a:srgbClr val="C9D7E3"/>
                      </a:solidFill>
                      <a:prstDash val="solid"/>
                      <a:round/>
                      <a:headEnd type="none" w="med" len="med"/>
                      <a:tailEnd type="none" w="med" len="med"/>
                    </a:lnL>
                    <a:lnR w="12700" cap="flat" cmpd="sng" algn="ctr">
                      <a:solidFill>
                        <a:srgbClr val="C9D7E3"/>
                      </a:solidFill>
                      <a:prstDash val="solid"/>
                      <a:round/>
                      <a:headEnd type="none" w="med" len="med"/>
                      <a:tailEnd type="none" w="med" len="med"/>
                    </a:lnR>
                    <a:lnT w="12700" cap="flat" cmpd="sng" algn="ctr">
                      <a:solidFill>
                        <a:srgbClr val="C9D7E3"/>
                      </a:solidFill>
                      <a:prstDash val="solid"/>
                      <a:round/>
                      <a:headEnd type="none" w="med" len="med"/>
                      <a:tailEnd type="none" w="med" len="med"/>
                    </a:lnT>
                    <a:lnB w="12700" cap="flat" cmpd="sng" algn="ctr">
                      <a:solidFill>
                        <a:srgbClr val="C9D7E3"/>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54864" marR="54864" marT="54864" marB="54864">
                    <a:lnL w="12700" cap="flat" cmpd="sng" algn="ctr">
                      <a:solidFill>
                        <a:srgbClr val="C9D7E3"/>
                      </a:solidFill>
                      <a:prstDash val="solid"/>
                      <a:round/>
                      <a:headEnd type="none" w="med" len="med"/>
                      <a:tailEnd type="none" w="med" len="med"/>
                    </a:lnL>
                    <a:lnR w="12700" cap="flat" cmpd="sng" algn="ctr">
                      <a:solidFill>
                        <a:srgbClr val="C9D7E3"/>
                      </a:solidFill>
                      <a:prstDash val="solid"/>
                      <a:round/>
                      <a:headEnd type="none" w="med" len="med"/>
                      <a:tailEnd type="none" w="med" len="med"/>
                    </a:lnR>
                    <a:lnT w="12700" cap="flat" cmpd="sng" algn="ctr">
                      <a:solidFill>
                        <a:srgbClr val="C9D7E3"/>
                      </a:solidFill>
                      <a:prstDash val="solid"/>
                      <a:round/>
                      <a:headEnd type="none" w="med" len="med"/>
                      <a:tailEnd type="none" w="med" len="med"/>
                    </a:lnT>
                    <a:lnB w="12700" cap="flat" cmpd="sng" algn="ctr">
                      <a:solidFill>
                        <a:srgbClr val="C9D7E3"/>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7334B"/>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54864" marR="54864" marT="54864" marB="54864">
                    <a:lnL w="12700" cap="flat" cmpd="sng" algn="ctr">
                      <a:solidFill>
                        <a:srgbClr val="C9D7E3"/>
                      </a:solidFill>
                      <a:prstDash val="solid"/>
                      <a:round/>
                      <a:headEnd type="none" w="med" len="med"/>
                      <a:tailEnd type="none" w="med" len="med"/>
                    </a:lnL>
                    <a:lnR w="12700" cap="flat" cmpd="sng" algn="ctr">
                      <a:solidFill>
                        <a:srgbClr val="C9D7E3"/>
                      </a:solidFill>
                      <a:prstDash val="solid"/>
                      <a:round/>
                      <a:headEnd type="none" w="med" len="med"/>
                      <a:tailEnd type="none" w="med" len="med"/>
                    </a:lnR>
                    <a:lnT w="12700" cap="flat" cmpd="sng" algn="ctr">
                      <a:solidFill>
                        <a:srgbClr val="C9D7E3"/>
                      </a:solidFill>
                      <a:prstDash val="solid"/>
                      <a:round/>
                      <a:headEnd type="none" w="med" len="med"/>
                      <a:tailEnd type="none" w="med" len="med"/>
                    </a:lnT>
                    <a:lnB w="12700" cap="flat" cmpd="sng" algn="ctr">
                      <a:solidFill>
                        <a:srgbClr val="C9D7E3"/>
                      </a:solidFill>
                      <a:prstDash val="solid"/>
                      <a:round/>
                      <a:headEnd type="none" w="med" len="med"/>
                      <a:tailEnd type="none" w="med" len="med"/>
                    </a:lnB>
                    <a:solidFill>
                      <a:srgbClr val="FFFFFF"/>
                    </a:solidFill>
                  </a:tcPr>
                </a:tc>
                <a:tc>
                  <a:txBody>
                    <a:bodyPr/>
                    <a:lstStyle/>
                    <a:p>
                      <a:pPr indent="0" marL="0">
                        <a:buNone/>
                      </a:pPr>
                      <a:r>
                        <a:rPr lang="en-US" sz="1200" dirty="0">
                          <a:solidFill>
                            <a:srgbClr val="17334B"/>
                          </a:solidFill>
                          <a:latin typeface="Calibri" pitchFamily="34" charset="0"/>
                          <a:ea typeface="Calibri" pitchFamily="34" charset="-122"/>
                          <a:cs typeface="Calibri" pitchFamily="34" charset="-120"/>
                        </a:rPr>
                        <a:t>Device password</a:t>
                      </a:r>
                      <a:endParaRPr lang="en-US" sz="1200" dirty="0">
                        <a:latin typeface="Calibri" charset="0"/>
                        <a:ea typeface="Calibri" charset="0"/>
                        <a:cs typeface="Calibri" charset="0"/>
                      </a:endParaRPr>
                    </a:p>
                  </a:txBody>
                  <a:tcPr marL="54864" marR="54864" marT="54864" marB="54864">
                    <a:lnL w="12700" cap="flat" cmpd="sng" algn="ctr">
                      <a:solidFill>
                        <a:srgbClr val="C9D7E3"/>
                      </a:solidFill>
                      <a:prstDash val="solid"/>
                      <a:round/>
                      <a:headEnd type="none" w="med" len="med"/>
                      <a:tailEnd type="none" w="med" len="med"/>
                    </a:lnL>
                    <a:lnR w="12700" cap="flat" cmpd="sng" algn="ctr">
                      <a:solidFill>
                        <a:srgbClr val="C9D7E3"/>
                      </a:solidFill>
                      <a:prstDash val="solid"/>
                      <a:round/>
                      <a:headEnd type="none" w="med" len="med"/>
                      <a:tailEnd type="none" w="med" len="med"/>
                    </a:lnR>
                    <a:lnT w="12700" cap="flat" cmpd="sng" algn="ctr">
                      <a:solidFill>
                        <a:srgbClr val="C9D7E3"/>
                      </a:solidFill>
                      <a:prstDash val="solid"/>
                      <a:round/>
                      <a:headEnd type="none" w="med" len="med"/>
                      <a:tailEnd type="none" w="med" len="med"/>
                    </a:lnT>
                    <a:lnB w="12700" cap="flat" cmpd="sng" algn="ctr">
                      <a:solidFill>
                        <a:srgbClr val="C9D7E3"/>
                      </a:solidFill>
                      <a:prstDash val="solid"/>
                      <a:round/>
                      <a:headEnd type="none" w="med" len="med"/>
                      <a:tailEnd type="none" w="med" len="med"/>
                    </a:lnB>
                    <a:solidFill>
                      <a:srgbClr val="FFFFFF"/>
                    </a:solidFill>
                  </a:tcPr>
                </a:tc>
                <a:tc>
                  <a:txBody>
                    <a:bodyPr/>
                    <a:lstStyle/>
                    <a:p>
                      <a:pPr indent="0" marL="0">
                        <a:buNone/>
                      </a:pPr>
                      <a:r>
                        <a:rPr lang="en-US" sz="1200" dirty="0">
                          <a:solidFill>
                            <a:srgbClr val="17334B"/>
                          </a:solidFill>
                          <a:latin typeface="Calibri" pitchFamily="34" charset="0"/>
                          <a:ea typeface="Calibri" pitchFamily="34" charset="-122"/>
                          <a:cs typeface="Calibri" pitchFamily="34" charset="-120"/>
                        </a:rPr>
                        <a:t>console login</a:t>
                      </a:r>
                      <a:endParaRPr lang="en-US" sz="1200" dirty="0">
                        <a:latin typeface="Calibri" charset="0"/>
                        <a:ea typeface="Calibri" charset="0"/>
                        <a:cs typeface="Calibri" charset="0"/>
                      </a:endParaRPr>
                    </a:p>
                  </a:txBody>
                  <a:tcPr marL="54864" marR="54864" marT="54864" marB="54864">
                    <a:lnL w="12700" cap="flat" cmpd="sng" algn="ctr">
                      <a:solidFill>
                        <a:srgbClr val="C9D7E3"/>
                      </a:solidFill>
                      <a:prstDash val="solid"/>
                      <a:round/>
                      <a:headEnd type="none" w="med" len="med"/>
                      <a:tailEnd type="none" w="med" len="med"/>
                    </a:lnL>
                    <a:lnR w="12700" cap="flat" cmpd="sng" algn="ctr">
                      <a:solidFill>
                        <a:srgbClr val="C9D7E3"/>
                      </a:solidFill>
                      <a:prstDash val="solid"/>
                      <a:round/>
                      <a:headEnd type="none" w="med" len="med"/>
                      <a:tailEnd type="none" w="med" len="med"/>
                    </a:lnR>
                    <a:lnT w="12700" cap="flat" cmpd="sng" algn="ctr">
                      <a:solidFill>
                        <a:srgbClr val="C9D7E3"/>
                      </a:solidFill>
                      <a:prstDash val="solid"/>
                      <a:round/>
                      <a:headEnd type="none" w="med" len="med"/>
                      <a:tailEnd type="none" w="med" len="med"/>
                    </a:lnT>
                    <a:lnB w="12700" cap="flat" cmpd="sng" algn="ctr">
                      <a:solidFill>
                        <a:srgbClr val="C9D7E3"/>
                      </a:solidFill>
                      <a:prstDash val="solid"/>
                      <a:round/>
                      <a:headEnd type="none" w="med" len="med"/>
                      <a:tailEnd type="none" w="med" len="med"/>
                    </a:lnB>
                    <a:solidFill>
                      <a:srgbClr val="FFFFFF"/>
                    </a:solidFill>
                  </a:tcPr>
                </a:tc>
                <a:tc>
                  <a:txBody>
                    <a:bodyPr/>
                    <a:lstStyle/>
                    <a:p>
                      <a:pPr indent="0" marL="0">
                        <a:buNone/>
                      </a:pPr>
                      <a:r>
                        <a:rPr lang="en-US" sz="1200" dirty="0">
                          <a:solidFill>
                            <a:srgbClr val="17334B"/>
                          </a:solidFill>
                          <a:latin typeface="Calibri" pitchFamily="34" charset="0"/>
                          <a:ea typeface="Calibri" pitchFamily="34" charset="-122"/>
                          <a:cs typeface="Calibri" pitchFamily="34" charset="-120"/>
                        </a:rPr>
                        <a:t>prompt shown</a:t>
                      </a:r>
                      <a:endParaRPr lang="en-US" sz="1200" dirty="0">
                        <a:latin typeface="Calibri" charset="0"/>
                        <a:ea typeface="Calibri" charset="0"/>
                        <a:cs typeface="Calibri" charset="0"/>
                      </a:endParaRPr>
                    </a:p>
                  </a:txBody>
                  <a:tcPr marL="54864" marR="54864" marT="54864" marB="54864">
                    <a:lnL w="12700" cap="flat" cmpd="sng" algn="ctr">
                      <a:solidFill>
                        <a:srgbClr val="C9D7E3"/>
                      </a:solidFill>
                      <a:prstDash val="solid"/>
                      <a:round/>
                      <a:headEnd type="none" w="med" len="med"/>
                      <a:tailEnd type="none" w="med" len="med"/>
                    </a:lnL>
                    <a:lnR w="12700" cap="flat" cmpd="sng" algn="ctr">
                      <a:solidFill>
                        <a:srgbClr val="C9D7E3"/>
                      </a:solidFill>
                      <a:prstDash val="solid"/>
                      <a:round/>
                      <a:headEnd type="none" w="med" len="med"/>
                      <a:tailEnd type="none" w="med" len="med"/>
                    </a:lnR>
                    <a:lnT w="12700" cap="flat" cmpd="sng" algn="ctr">
                      <a:solidFill>
                        <a:srgbClr val="C9D7E3"/>
                      </a:solidFill>
                      <a:prstDash val="solid"/>
                      <a:round/>
                      <a:headEnd type="none" w="med" len="med"/>
                      <a:tailEnd type="none" w="med" len="med"/>
                    </a:lnT>
                    <a:lnB w="12700" cap="flat" cmpd="sng" algn="ctr">
                      <a:solidFill>
                        <a:srgbClr val="C9D7E3"/>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54864" marR="54864" marT="54864" marB="54864">
                    <a:lnL w="12700" cap="flat" cmpd="sng" algn="ctr">
                      <a:solidFill>
                        <a:srgbClr val="C9D7E3"/>
                      </a:solidFill>
                      <a:prstDash val="solid"/>
                      <a:round/>
                      <a:headEnd type="none" w="med" len="med"/>
                      <a:tailEnd type="none" w="med" len="med"/>
                    </a:lnL>
                    <a:lnR w="12700" cap="flat" cmpd="sng" algn="ctr">
                      <a:solidFill>
                        <a:srgbClr val="C9D7E3"/>
                      </a:solidFill>
                      <a:prstDash val="solid"/>
                      <a:round/>
                      <a:headEnd type="none" w="med" len="med"/>
                      <a:tailEnd type="none" w="med" len="med"/>
                    </a:lnR>
                    <a:lnT w="12700" cap="flat" cmpd="sng" algn="ctr">
                      <a:solidFill>
                        <a:srgbClr val="C9D7E3"/>
                      </a:solidFill>
                      <a:prstDash val="solid"/>
                      <a:round/>
                      <a:headEnd type="none" w="med" len="med"/>
                      <a:tailEnd type="none" w="med" len="med"/>
                    </a:lnT>
                    <a:lnB w="12700" cap="flat" cmpd="sng" algn="ctr">
                      <a:solidFill>
                        <a:srgbClr val="C9D7E3"/>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54864" marR="54864" marT="54864" marB="54864">
                    <a:lnL w="12700" cap="flat" cmpd="sng" algn="ctr">
                      <a:solidFill>
                        <a:srgbClr val="C9D7E3"/>
                      </a:solidFill>
                      <a:prstDash val="solid"/>
                      <a:round/>
                      <a:headEnd type="none" w="med" len="med"/>
                      <a:tailEnd type="none" w="med" len="med"/>
                    </a:lnL>
                    <a:lnR w="12700" cap="flat" cmpd="sng" algn="ctr">
                      <a:solidFill>
                        <a:srgbClr val="C9D7E3"/>
                      </a:solidFill>
                      <a:prstDash val="solid"/>
                      <a:round/>
                      <a:headEnd type="none" w="med" len="med"/>
                      <a:tailEnd type="none" w="med" len="med"/>
                    </a:lnR>
                    <a:lnT w="12700" cap="flat" cmpd="sng" algn="ctr">
                      <a:solidFill>
                        <a:srgbClr val="C9D7E3"/>
                      </a:solidFill>
                      <a:prstDash val="solid"/>
                      <a:round/>
                      <a:headEnd type="none" w="med" len="med"/>
                      <a:tailEnd type="none" w="med" len="med"/>
                    </a:lnT>
                    <a:lnB w="12700" cap="flat" cmpd="sng" algn="ctr">
                      <a:solidFill>
                        <a:srgbClr val="C9D7E3"/>
                      </a:solidFill>
                      <a:prstDash val="solid"/>
                      <a:round/>
                      <a:headEnd type="none" w="med" len="med"/>
                      <a:tailEnd type="none" w="med" len="med"/>
                    </a:lnB>
                    <a:solidFill>
                      <a:srgbClr val="FFFFFF"/>
                    </a:solidFill>
                  </a:tcPr>
                </a:tc>
              </a:tr>
            </a:tbl>
          </a:graphicData>
        </a:graphic>
      </p:graphicFrame>
      <p:sp>
        <p:nvSpPr>
          <p:cNvPr id="11" name="Text 8"/>
          <p:cNvSpPr txBox="1"/>
          <p:nvPr/>
        </p:nvSpPr>
        <p:spPr>
          <a:xfrm>
            <a:off x="4434840" y="4937760"/>
            <a:ext cx="7205472" cy="731520"/>
          </a:xfrm>
          <a:prstGeom prst="rect">
            <a:avLst/>
          </a:prstGeom>
          <a:noFill/>
          <a:ln/>
        </p:spPr>
        <p:txBody>
          <a:bodyPr wrap="square" lIns="0" tIns="0" rIns="0" bIns="0" rtlCol="0" anchor="ctr"/>
          <a:lstStyle/>
          <a:p>
            <a:pPr indent="0" marL="0">
              <a:buNone/>
            </a:pPr>
            <a:r>
              <a:rPr lang="en-US" sz="1400" b="1" dirty="0">
                <a:solidFill>
                  <a:srgbClr val="20857B"/>
                </a:solidFill>
                <a:latin typeface="Calibri" pitchFamily="34" charset="0"/>
                <a:ea typeface="Calibri" pitchFamily="34" charset="-122"/>
                <a:cs typeface="Calibri" pitchFamily="34" charset="-120"/>
              </a:rPr>
              <a:t>Write the expected result before testing. Record failures, the cause, the fix and the re-test.</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548640" y="164592"/>
            <a:ext cx="914400" cy="310896"/>
          </a:xfrm>
          <a:prstGeom prst="roundRect">
            <a:avLst>
              <a:gd name="adj" fmla="val 23529"/>
            </a:avLst>
          </a:prstGeom>
          <a:solidFill>
            <a:srgbClr val="20857B"/>
          </a:solidFill>
          <a:ln w="12700">
            <a:solidFill>
              <a:srgbClr val="20857B"/>
            </a:solidFill>
            <a:prstDash val="solid"/>
          </a:ln>
        </p:spPr>
      </p:sp>
      <p:sp>
        <p:nvSpPr>
          <p:cNvPr id="3" name="Text 1"/>
          <p:cNvSpPr txBox="1"/>
          <p:nvPr/>
        </p:nvSpPr>
        <p:spPr>
          <a:xfrm>
            <a:off x="548640" y="164592"/>
            <a:ext cx="91440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B3</a:t>
            </a:r>
            <a:endParaRPr lang="en-US" sz="1200" dirty="0"/>
          </a:p>
        </p:txBody>
      </p:sp>
      <p:sp>
        <p:nvSpPr>
          <p:cNvPr id="4" name="Text 2"/>
          <p:cNvSpPr txBox="1"/>
          <p:nvPr/>
        </p:nvSpPr>
        <p:spPr>
          <a:xfrm>
            <a:off x="548640" y="502920"/>
            <a:ext cx="11094415" cy="731520"/>
          </a:xfrm>
          <a:prstGeom prst="rect">
            <a:avLst/>
          </a:prstGeom>
          <a:noFill/>
          <a:ln/>
        </p:spPr>
        <p:txBody>
          <a:bodyPr wrap="square" lIns="0" tIns="0" rIns="0" bIns="0" rtlCol="0" anchor="ctr"/>
          <a:lstStyle/>
          <a:p>
            <a:pPr indent="0" marL="0">
              <a:buNone/>
            </a:pPr>
            <a:r>
              <a:rPr lang="en-US" sz="2800" b="1" dirty="0">
                <a:solidFill>
                  <a:srgbClr val="17334B"/>
                </a:solidFill>
                <a:latin typeface="Cambria" pitchFamily="34" charset="0"/>
                <a:ea typeface="Cambria" pitchFamily="34" charset="-122"/>
                <a:cs typeface="Cambria" pitchFamily="34" charset="-120"/>
              </a:rPr>
              <a:t>Access: users, groups and permissions</a:t>
            </a:r>
            <a:endParaRPr lang="en-US" sz="2800" dirty="0"/>
          </a:p>
        </p:txBody>
      </p:sp>
      <p:sp>
        <p:nvSpPr>
          <p:cNvPr id="5" name="Text 3"/>
          <p:cNvSpPr txBox="1"/>
          <p:nvPr/>
        </p:nvSpPr>
        <p:spPr>
          <a:xfrm>
            <a:off x="548640" y="1188720"/>
            <a:ext cx="4937760" cy="548640"/>
          </a:xfrm>
          <a:prstGeom prst="rect">
            <a:avLst/>
          </a:prstGeom>
          <a:noFill/>
          <a:ln/>
        </p:spPr>
        <p:txBody>
          <a:bodyPr wrap="square" lIns="0" tIns="0" rIns="0" bIns="0" rtlCol="0" anchor="t"/>
          <a:lstStyle/>
          <a:p>
            <a:pPr indent="0" marL="0">
              <a:buNone/>
            </a:pPr>
            <a:r>
              <a:rPr lang="en-US" sz="1400" i="1" dirty="0">
                <a:solidFill>
                  <a:srgbClr val="4F6577"/>
                </a:solidFill>
                <a:latin typeface="Calibri" pitchFamily="34" charset="0"/>
                <a:ea typeface="Calibri" pitchFamily="34" charset="-122"/>
                <a:cs typeface="Calibri" pitchFamily="34" charset="-120"/>
              </a:rPr>
              <a:t>Aim: plan authentication, users, groups and permissions</a:t>
            </a:r>
            <a:endParaRPr lang="en-US" sz="1400" dirty="0"/>
          </a:p>
        </p:txBody>
      </p:sp>
      <p:sp>
        <p:nvSpPr>
          <p:cNvPr id="6" name="Text 4"/>
          <p:cNvSpPr txBox="1"/>
          <p:nvPr/>
        </p:nvSpPr>
        <p:spPr>
          <a:xfrm>
            <a:off x="548640" y="1783080"/>
            <a:ext cx="4846320" cy="3108960"/>
          </a:xfrm>
          <a:prstGeom prst="rect">
            <a:avLst/>
          </a:prstGeom>
          <a:noFill/>
          <a:ln/>
        </p:spPr>
        <p:txBody>
          <a:bodyPr wrap="square" lIns="635" tIns="635" rIns="635" bIns="635" rtlCol="0" anchor="t"/>
          <a:lstStyle/>
          <a:p>
            <a:pPr marL="342900" indent="-342900">
              <a:spcAft>
                <a:spcPts val="600"/>
              </a:spcAft>
              <a:buSzPct val="100000"/>
              <a:buChar char="•"/>
            </a:pPr>
            <a:r>
              <a:rPr lang="en-US" sz="1600" dirty="0">
                <a:solidFill>
                  <a:srgbClr val="17334B"/>
                </a:solidFill>
                <a:latin typeface="Calibri" pitchFamily="34" charset="0"/>
                <a:ea typeface="Calibri" pitchFamily="34" charset="-122"/>
                <a:cs typeface="Calibri" pitchFamily="34" charset="-120"/>
              </a:rPr>
              <a:t>Password policy: NCSC guidance, passphrases, MFA, block common passwords</a:t>
            </a:r>
            <a:endParaRPr lang="en-US" sz="1600" dirty="0"/>
          </a:p>
          <a:p>
            <a:pPr marL="342900" indent="-342900">
              <a:spcAft>
                <a:spcPts val="600"/>
              </a:spcAft>
              <a:buSzPct val="100000"/>
              <a:buChar char="•"/>
            </a:pPr>
            <a:r>
              <a:rPr lang="en-US" sz="1600" dirty="0">
                <a:solidFill>
                  <a:srgbClr val="17334B"/>
                </a:solidFill>
                <a:latin typeface="Calibri" pitchFamily="34" charset="0"/>
                <a:ea typeface="Calibri" pitchFamily="34" charset="-122"/>
                <a:cs typeface="Calibri" pitchFamily="34" charset="-120"/>
              </a:rPr>
              <a:t>Audit policy: what gets logged and reviewed</a:t>
            </a:r>
            <a:endParaRPr lang="en-US" sz="1600" dirty="0"/>
          </a:p>
          <a:p>
            <a:pPr marL="342900" indent="-342900">
              <a:spcAft>
                <a:spcPts val="600"/>
              </a:spcAft>
              <a:buSzPct val="100000"/>
              <a:buChar char="•"/>
            </a:pPr>
            <a:r>
              <a:rPr lang="en-US" sz="1600" dirty="0">
                <a:solidFill>
                  <a:srgbClr val="17334B"/>
                </a:solidFill>
                <a:latin typeface="Calibri" pitchFamily="34" charset="0"/>
                <a:ea typeface="Calibri" pitchFamily="34" charset="-122"/>
                <a:cs typeface="Calibri" pitchFamily="34" charset="-120"/>
              </a:rPr>
              <a:t>Permissions to groups, not individuals; least privilege</a:t>
            </a:r>
            <a:endParaRPr lang="en-US" sz="1600" dirty="0"/>
          </a:p>
          <a:p>
            <a:pPr marL="342900" indent="-342900">
              <a:spcAft>
                <a:spcPts val="600"/>
              </a:spcAft>
              <a:buSzPct val="100000"/>
              <a:buChar char="•"/>
            </a:pPr>
            <a:r>
              <a:rPr lang="en-US" sz="1600" dirty="0">
                <a:solidFill>
                  <a:srgbClr val="17334B"/>
                </a:solidFill>
                <a:latin typeface="Calibri" pitchFamily="34" charset="0"/>
                <a:ea typeface="Calibri" pitchFamily="34" charset="-122"/>
                <a:cs typeface="Calibri" pitchFamily="34" charset="-120"/>
              </a:rPr>
              <a:t>Linux: owner/group/others, r=4 w=2 x=1 (e.g. chmod 750)</a:t>
            </a:r>
            <a:endParaRPr lang="en-US" sz="1600" dirty="0"/>
          </a:p>
          <a:p>
            <a:pPr marL="342900" indent="-342900">
              <a:spcAft>
                <a:spcPts val="600"/>
              </a:spcAft>
              <a:buSzPct val="100000"/>
              <a:buChar char="•"/>
            </a:pPr>
            <a:r>
              <a:rPr lang="en-US" sz="1600" dirty="0">
                <a:solidFill>
                  <a:srgbClr val="17334B"/>
                </a:solidFill>
                <a:latin typeface="Calibri" pitchFamily="34" charset="0"/>
                <a:ea typeface="Calibri" pitchFamily="34" charset="-122"/>
                <a:cs typeface="Calibri" pitchFamily="34" charset="-120"/>
              </a:rPr>
              <a:t>Windows NTFS permissions; printer permissions</a:t>
            </a:r>
            <a:endParaRPr lang="en-US" sz="1600" dirty="0"/>
          </a:p>
        </p:txBody>
      </p:sp>
      <p:pic>
        <p:nvPicPr>
          <p:cNvPr id="7" name="Image 0" descr="/private/tmp/claude-501/-Users-johnaikeremiokha-code-Claude-Project/bf844d04-1b41-4e28-bbaa-8211504dbf91/scratchpad/deck/figs/perm_fig.png">    </p:cNvPr>
          <p:cNvPicPr>
            <a:picLocks noChangeAspect="1"/>
          </p:cNvPicPr>
          <p:nvPr/>
        </p:nvPicPr>
        <p:blipFill>
          <a:blip r:embed="rId1"/>
          <a:stretch>
            <a:fillRect/>
          </a:stretch>
        </p:blipFill>
        <p:spPr>
          <a:xfrm>
            <a:off x="5715000" y="1188720"/>
            <a:ext cx="5925312" cy="1559293"/>
          </a:xfrm>
          <a:prstGeom prst="rect">
            <a:avLst/>
          </a:prstGeom>
        </p:spPr>
      </p:pic>
      <p:sp>
        <p:nvSpPr>
          <p:cNvPr id="8" name="Shape 5"/>
          <p:cNvSpPr/>
          <p:nvPr/>
        </p:nvSpPr>
        <p:spPr>
          <a:xfrm>
            <a:off x="548640" y="5074920"/>
            <a:ext cx="3515258" cy="1234440"/>
          </a:xfrm>
          <a:prstGeom prst="roundRect">
            <a:avLst>
              <a:gd name="adj" fmla="val 7407"/>
            </a:avLst>
          </a:prstGeom>
          <a:solidFill>
            <a:srgbClr val="EAF2F9"/>
          </a:solidFill>
          <a:ln w="12700">
            <a:solidFill>
              <a:srgbClr val="EAF2F9"/>
            </a:solidFill>
            <a:prstDash val="solid"/>
          </a:ln>
        </p:spPr>
      </p:sp>
      <p:sp>
        <p:nvSpPr>
          <p:cNvPr id="9" name="Text 6"/>
          <p:cNvSpPr txBox="1"/>
          <p:nvPr/>
        </p:nvSpPr>
        <p:spPr>
          <a:xfrm>
            <a:off x="713232" y="5184648"/>
            <a:ext cx="3186074" cy="1014984"/>
          </a:xfrm>
          <a:prstGeom prst="rect">
            <a:avLst/>
          </a:prstGeom>
          <a:noFill/>
          <a:ln/>
        </p:spPr>
        <p:txBody>
          <a:bodyPr wrap="square" lIns="0" tIns="0" rIns="0" bIns="0" rtlCol="0" anchor="t"/>
          <a:lstStyle/>
          <a:p>
            <a:pPr indent="0" marL="0">
              <a:spcAft>
                <a:spcPts val="400"/>
              </a:spcAft>
              <a:buNone/>
            </a:pPr>
            <a:r>
              <a:rPr lang="en-US" sz="1400" b="1" dirty="0">
                <a:solidFill>
                  <a:srgbClr val="12324F"/>
                </a:solidFill>
                <a:latin typeface="Calibri" pitchFamily="34" charset="0"/>
                <a:ea typeface="Calibri" pitchFamily="34" charset="-122"/>
                <a:cs typeface="Calibri" pitchFamily="34" charset="-120"/>
              </a:rPr>
              <a:t>Practical</a:t>
            </a:r>
            <a:endParaRPr lang="en-US" sz="1400" dirty="0"/>
          </a:p>
          <a:p>
            <a:pPr indent="0" marL="0">
              <a:spcAft>
                <a:spcPts val="400"/>
              </a:spcAft>
              <a:buNone/>
            </a:pPr>
            <a:r>
              <a:rPr lang="en-US" sz="1200" dirty="0">
                <a:solidFill>
                  <a:srgbClr val="17334B"/>
                </a:solidFill>
                <a:latin typeface="Calibri" pitchFamily="34" charset="0"/>
                <a:ea typeface="Calibri" pitchFamily="34" charset="-122"/>
                <a:cs typeface="Calibri" pitchFamily="34" charset="-120"/>
              </a:rPr>
              <a:t>Lab 9: Linux groupadd, useradd, chown, chmod, access tests.</a:t>
            </a:r>
            <a:endParaRPr lang="en-US" sz="1400" dirty="0"/>
          </a:p>
        </p:txBody>
      </p:sp>
      <p:sp>
        <p:nvSpPr>
          <p:cNvPr id="10" name="Shape 7"/>
          <p:cNvSpPr/>
          <p:nvPr/>
        </p:nvSpPr>
        <p:spPr>
          <a:xfrm>
            <a:off x="4338218" y="5074920"/>
            <a:ext cx="3515258" cy="1234440"/>
          </a:xfrm>
          <a:prstGeom prst="roundRect">
            <a:avLst>
              <a:gd name="adj" fmla="val 7407"/>
            </a:avLst>
          </a:prstGeom>
          <a:solidFill>
            <a:srgbClr val="E6F4F1"/>
          </a:solidFill>
          <a:ln w="12700">
            <a:solidFill>
              <a:srgbClr val="E6F4F1"/>
            </a:solidFill>
            <a:prstDash val="solid"/>
          </a:ln>
        </p:spPr>
      </p:sp>
      <p:sp>
        <p:nvSpPr>
          <p:cNvPr id="11" name="Text 8"/>
          <p:cNvSpPr txBox="1"/>
          <p:nvPr/>
        </p:nvSpPr>
        <p:spPr>
          <a:xfrm>
            <a:off x="4502810" y="5184648"/>
            <a:ext cx="3186074" cy="1014984"/>
          </a:xfrm>
          <a:prstGeom prst="rect">
            <a:avLst/>
          </a:prstGeom>
          <a:noFill/>
          <a:ln/>
        </p:spPr>
        <p:txBody>
          <a:bodyPr wrap="square" lIns="0" tIns="0" rIns="0" bIns="0" rtlCol="0" anchor="t"/>
          <a:lstStyle/>
          <a:p>
            <a:pPr indent="0" marL="0">
              <a:spcAft>
                <a:spcPts val="400"/>
              </a:spcAft>
              <a:buNone/>
            </a:pPr>
            <a:r>
              <a:rPr lang="en-US" sz="1400" b="1" dirty="0">
                <a:solidFill>
                  <a:srgbClr val="12324F"/>
                </a:solidFill>
                <a:latin typeface="Calibri" pitchFamily="34" charset="0"/>
                <a:ea typeface="Calibri" pitchFamily="34" charset="-122"/>
                <a:cs typeface="Calibri" pitchFamily="34" charset="-120"/>
              </a:rPr>
              <a:t>Task</a:t>
            </a:r>
            <a:endParaRPr lang="en-US" sz="1400" dirty="0"/>
          </a:p>
          <a:p>
            <a:pPr indent="0" marL="0">
              <a:spcAft>
                <a:spcPts val="400"/>
              </a:spcAft>
              <a:buNone/>
            </a:pPr>
            <a:r>
              <a:rPr lang="en-US" sz="1200" dirty="0">
                <a:solidFill>
                  <a:srgbClr val="17334B"/>
                </a:solidFill>
                <a:latin typeface="Calibri" pitchFamily="34" charset="0"/>
                <a:ea typeface="Calibri" pitchFamily="34" charset="-122"/>
                <a:cs typeface="Calibri" pitchFamily="34" charset="-120"/>
              </a:rPr>
              <a:t>Workbook B3: access plan for a shop (MANAGERS, STAFF).</a:t>
            </a:r>
            <a:endParaRPr lang="en-US" sz="1400" dirty="0"/>
          </a:p>
        </p:txBody>
      </p:sp>
      <p:sp>
        <p:nvSpPr>
          <p:cNvPr id="12" name="Shape 9"/>
          <p:cNvSpPr/>
          <p:nvPr/>
        </p:nvSpPr>
        <p:spPr>
          <a:xfrm>
            <a:off x="8127797" y="5074920"/>
            <a:ext cx="3515258" cy="1234440"/>
          </a:xfrm>
          <a:prstGeom prst="roundRect">
            <a:avLst>
              <a:gd name="adj" fmla="val 7407"/>
            </a:avLst>
          </a:prstGeom>
          <a:solidFill>
            <a:srgbClr val="FDF1E7"/>
          </a:solidFill>
          <a:ln w="12700">
            <a:solidFill>
              <a:srgbClr val="FDF1E7"/>
            </a:solidFill>
            <a:prstDash val="solid"/>
          </a:ln>
        </p:spPr>
      </p:sp>
      <p:sp>
        <p:nvSpPr>
          <p:cNvPr id="13" name="Text 10"/>
          <p:cNvSpPr txBox="1"/>
          <p:nvPr/>
        </p:nvSpPr>
        <p:spPr>
          <a:xfrm>
            <a:off x="8292389" y="5184648"/>
            <a:ext cx="3186074" cy="1014984"/>
          </a:xfrm>
          <a:prstGeom prst="rect">
            <a:avLst/>
          </a:prstGeom>
          <a:noFill/>
          <a:ln/>
        </p:spPr>
        <p:txBody>
          <a:bodyPr wrap="square" lIns="0" tIns="0" rIns="0" bIns="0" rtlCol="0" anchor="t"/>
          <a:lstStyle/>
          <a:p>
            <a:pPr indent="0" marL="0">
              <a:spcAft>
                <a:spcPts val="400"/>
              </a:spcAft>
              <a:buNone/>
            </a:pPr>
            <a:r>
              <a:rPr lang="en-US" sz="1400" b="1" dirty="0">
                <a:solidFill>
                  <a:srgbClr val="12324F"/>
                </a:solidFill>
                <a:latin typeface="Calibri" pitchFamily="34" charset="0"/>
                <a:ea typeface="Calibri" pitchFamily="34" charset="-122"/>
                <a:cs typeface="Calibri" pitchFamily="34" charset="-120"/>
              </a:rPr>
              <a:t>Check</a:t>
            </a:r>
            <a:endParaRPr lang="en-US" sz="1400" dirty="0"/>
          </a:p>
          <a:p>
            <a:pPr indent="0" marL="0">
              <a:spcAft>
                <a:spcPts val="400"/>
              </a:spcAft>
              <a:buNone/>
            </a:pPr>
            <a:r>
              <a:rPr lang="en-US" sz="1200" dirty="0">
                <a:solidFill>
                  <a:srgbClr val="17334B"/>
                </a:solidFill>
                <a:latin typeface="Calibri" pitchFamily="34" charset="0"/>
                <a:ea typeface="Calibri" pitchFamily="34" charset="-122"/>
                <a:cs typeface="Calibri" pitchFamily="34" charset="-120"/>
              </a:rPr>
              <a:t>Quiz 5: chmod numbers.</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548640" y="164592"/>
            <a:ext cx="914400" cy="310896"/>
          </a:xfrm>
          <a:prstGeom prst="roundRect">
            <a:avLst>
              <a:gd name="adj" fmla="val 23529"/>
            </a:avLst>
          </a:prstGeom>
          <a:solidFill>
            <a:srgbClr val="20857B"/>
          </a:solidFill>
          <a:ln w="12700">
            <a:solidFill>
              <a:srgbClr val="20857B"/>
            </a:solidFill>
            <a:prstDash val="solid"/>
          </a:ln>
        </p:spPr>
      </p:sp>
      <p:sp>
        <p:nvSpPr>
          <p:cNvPr id="3" name="Text 1"/>
          <p:cNvSpPr txBox="1"/>
          <p:nvPr/>
        </p:nvSpPr>
        <p:spPr>
          <a:xfrm>
            <a:off x="548640" y="164592"/>
            <a:ext cx="91440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C1</a:t>
            </a:r>
            <a:endParaRPr lang="en-US" sz="1200" dirty="0"/>
          </a:p>
        </p:txBody>
      </p:sp>
      <p:sp>
        <p:nvSpPr>
          <p:cNvPr id="4" name="Text 2"/>
          <p:cNvSpPr txBox="1"/>
          <p:nvPr/>
        </p:nvSpPr>
        <p:spPr>
          <a:xfrm>
            <a:off x="548640" y="502920"/>
            <a:ext cx="11094415" cy="731520"/>
          </a:xfrm>
          <a:prstGeom prst="rect">
            <a:avLst/>
          </a:prstGeom>
          <a:noFill/>
          <a:ln/>
        </p:spPr>
        <p:txBody>
          <a:bodyPr wrap="square" lIns="0" tIns="0" rIns="0" bIns="0" rtlCol="0" anchor="ctr"/>
          <a:lstStyle/>
          <a:p>
            <a:pPr indent="0" marL="0">
              <a:buNone/>
            </a:pPr>
            <a:r>
              <a:rPr lang="en-US" sz="2800" b="1" dirty="0">
                <a:solidFill>
                  <a:srgbClr val="17334B"/>
                </a:solidFill>
                <a:latin typeface="Cambria" pitchFamily="34" charset="0"/>
                <a:ea typeface="Cambria" pitchFamily="34" charset="-122"/>
                <a:cs typeface="Cambria" pitchFamily="34" charset="-120"/>
              </a:rPr>
              <a:t>Configuration with Cisco IOS</a:t>
            </a:r>
            <a:endParaRPr lang="en-US" sz="2800" dirty="0"/>
          </a:p>
        </p:txBody>
      </p:sp>
      <p:sp>
        <p:nvSpPr>
          <p:cNvPr id="5" name="Text 3"/>
          <p:cNvSpPr txBox="1"/>
          <p:nvPr/>
        </p:nvSpPr>
        <p:spPr>
          <a:xfrm>
            <a:off x="548640" y="1188720"/>
            <a:ext cx="4937760" cy="548640"/>
          </a:xfrm>
          <a:prstGeom prst="rect">
            <a:avLst/>
          </a:prstGeom>
          <a:noFill/>
          <a:ln/>
        </p:spPr>
        <p:txBody>
          <a:bodyPr wrap="square" lIns="0" tIns="0" rIns="0" bIns="0" rtlCol="0" anchor="t"/>
          <a:lstStyle/>
          <a:p>
            <a:pPr indent="0" marL="0">
              <a:buNone/>
            </a:pPr>
            <a:r>
              <a:rPr lang="en-US" sz="1400" i="1" dirty="0">
                <a:solidFill>
                  <a:srgbClr val="4F6577"/>
                </a:solidFill>
                <a:latin typeface="Calibri" pitchFamily="34" charset="0"/>
                <a:ea typeface="Calibri" pitchFamily="34" charset="-122"/>
                <a:cs typeface="Calibri" pitchFamily="34" charset="-120"/>
              </a:rPr>
              <a:t>Aim: configure and secure switches, routers, wireless and servers</a:t>
            </a:r>
            <a:endParaRPr lang="en-US" sz="1400" dirty="0"/>
          </a:p>
        </p:txBody>
      </p:sp>
      <p:sp>
        <p:nvSpPr>
          <p:cNvPr id="6" name="Text 4"/>
          <p:cNvSpPr txBox="1"/>
          <p:nvPr/>
        </p:nvSpPr>
        <p:spPr>
          <a:xfrm>
            <a:off x="548640" y="1783080"/>
            <a:ext cx="4846320" cy="3108960"/>
          </a:xfrm>
          <a:prstGeom prst="rect">
            <a:avLst/>
          </a:prstGeom>
          <a:noFill/>
          <a:ln/>
        </p:spPr>
        <p:txBody>
          <a:bodyPr wrap="square" lIns="635" tIns="635" rIns="635" bIns="635" rtlCol="0" anchor="t"/>
          <a:lstStyle/>
          <a:p>
            <a:pPr marL="342900" indent="-342900">
              <a:spcAft>
                <a:spcPts val="600"/>
              </a:spcAft>
              <a:buSzPct val="100000"/>
              <a:buChar char="•"/>
            </a:pPr>
            <a:r>
              <a:rPr lang="en-US" sz="1600" dirty="0">
                <a:solidFill>
                  <a:srgbClr val="17334B"/>
                </a:solidFill>
                <a:latin typeface="Calibri" pitchFamily="34" charset="0"/>
                <a:ea typeface="Calibri" pitchFamily="34" charset="-122"/>
                <a:cs typeface="Calibri" pitchFamily="34" charset="-120"/>
              </a:rPr>
              <a:t>Modes: user EXEC, privileged EXEC, global config, interface/line</a:t>
            </a:r>
            <a:endParaRPr lang="en-US" sz="1600" dirty="0"/>
          </a:p>
          <a:p>
            <a:pPr marL="342900" indent="-342900">
              <a:spcAft>
                <a:spcPts val="600"/>
              </a:spcAft>
              <a:buSzPct val="100000"/>
              <a:buChar char="•"/>
            </a:pPr>
            <a:r>
              <a:rPr lang="en-US" sz="1600" dirty="0">
                <a:solidFill>
                  <a:srgbClr val="17334B"/>
                </a:solidFill>
                <a:latin typeface="Calibri" pitchFamily="34" charset="0"/>
                <a:ea typeface="Calibri" pitchFamily="34" charset="-122"/>
                <a:cs typeface="Calibri" pitchFamily="34" charset="-120"/>
              </a:rPr>
              <a:t>Secure: hostname, enable secret, console and vty passwords, service password-encryption, banner</a:t>
            </a:r>
            <a:endParaRPr lang="en-US" sz="1600" dirty="0"/>
          </a:p>
          <a:p>
            <a:pPr marL="342900" indent="-342900">
              <a:spcAft>
                <a:spcPts val="600"/>
              </a:spcAft>
              <a:buSzPct val="100000"/>
              <a:buChar char="•"/>
            </a:pPr>
            <a:r>
              <a:rPr lang="en-US" sz="1600" dirty="0">
                <a:solidFill>
                  <a:srgbClr val="17334B"/>
                </a:solidFill>
                <a:latin typeface="Calibri" pitchFamily="34" charset="0"/>
                <a:ea typeface="Calibri" pitchFamily="34" charset="-122"/>
                <a:cs typeface="Calibri" pitchFamily="34" charset="-120"/>
              </a:rPr>
              <a:t>Router: interface addresses, no shutdown, DHCP pool, static routes</a:t>
            </a:r>
            <a:endParaRPr lang="en-US" sz="1600" dirty="0"/>
          </a:p>
          <a:p>
            <a:pPr marL="342900" indent="-342900">
              <a:spcAft>
                <a:spcPts val="600"/>
              </a:spcAft>
              <a:buSzPct val="100000"/>
              <a:buChar char="•"/>
            </a:pPr>
            <a:r>
              <a:rPr lang="en-US" sz="1600" dirty="0">
                <a:solidFill>
                  <a:srgbClr val="17334B"/>
                </a:solidFill>
                <a:latin typeface="Calibri" pitchFamily="34" charset="0"/>
                <a:ea typeface="Calibri" pitchFamily="34" charset="-122"/>
                <a:cs typeface="Calibri" pitchFamily="34" charset="-120"/>
              </a:rPr>
              <a:t>Switch: VLANs, access ports, shut unused ports</a:t>
            </a:r>
            <a:endParaRPr lang="en-US" sz="1600" dirty="0"/>
          </a:p>
          <a:p>
            <a:pPr marL="342900" indent="-342900">
              <a:spcAft>
                <a:spcPts val="600"/>
              </a:spcAft>
              <a:buSzPct val="100000"/>
              <a:buChar char="•"/>
            </a:pPr>
            <a:r>
              <a:rPr lang="en-US" sz="1600" dirty="0">
                <a:solidFill>
                  <a:srgbClr val="17334B"/>
                </a:solidFill>
                <a:latin typeface="Calibri" pitchFamily="34" charset="0"/>
                <a:ea typeface="Calibri" pitchFamily="34" charset="-122"/>
                <a:cs typeface="Calibri" pitchFamily="34" charset="-120"/>
              </a:rPr>
              <a:t>Save: copy running-config startup-config</a:t>
            </a:r>
            <a:endParaRPr lang="en-US" sz="1600" dirty="0"/>
          </a:p>
        </p:txBody>
      </p:sp>
      <p:pic>
        <p:nvPicPr>
          <p:cNvPr id="7" name="Image 0" descr="/private/tmp/claude-501/-Users-johnaikeremiokha-code-Claude-Project/bf844d04-1b41-4e28-bbaa-8211504dbf91/scratchpad/deck/figs/ios_fig.png">    </p:cNvPr>
          <p:cNvPicPr>
            <a:picLocks noChangeAspect="1"/>
          </p:cNvPicPr>
          <p:nvPr/>
        </p:nvPicPr>
        <p:blipFill>
          <a:blip r:embed="rId1"/>
          <a:stretch>
            <a:fillRect/>
          </a:stretch>
        </p:blipFill>
        <p:spPr>
          <a:xfrm>
            <a:off x="5715000" y="1188720"/>
            <a:ext cx="5925312" cy="1559293"/>
          </a:xfrm>
          <a:prstGeom prst="rect">
            <a:avLst/>
          </a:prstGeom>
        </p:spPr>
      </p:pic>
      <p:sp>
        <p:nvSpPr>
          <p:cNvPr id="8" name="Shape 5"/>
          <p:cNvSpPr/>
          <p:nvPr/>
        </p:nvSpPr>
        <p:spPr>
          <a:xfrm>
            <a:off x="548640" y="5074920"/>
            <a:ext cx="3515258" cy="1234440"/>
          </a:xfrm>
          <a:prstGeom prst="roundRect">
            <a:avLst>
              <a:gd name="adj" fmla="val 7407"/>
            </a:avLst>
          </a:prstGeom>
          <a:solidFill>
            <a:srgbClr val="EAF2F9"/>
          </a:solidFill>
          <a:ln w="12700">
            <a:solidFill>
              <a:srgbClr val="EAF2F9"/>
            </a:solidFill>
            <a:prstDash val="solid"/>
          </a:ln>
        </p:spPr>
      </p:sp>
      <p:sp>
        <p:nvSpPr>
          <p:cNvPr id="9" name="Text 6"/>
          <p:cNvSpPr txBox="1"/>
          <p:nvPr/>
        </p:nvSpPr>
        <p:spPr>
          <a:xfrm>
            <a:off x="713232" y="5184648"/>
            <a:ext cx="3186074" cy="1014984"/>
          </a:xfrm>
          <a:prstGeom prst="rect">
            <a:avLst/>
          </a:prstGeom>
          <a:noFill/>
          <a:ln/>
        </p:spPr>
        <p:txBody>
          <a:bodyPr wrap="square" lIns="0" tIns="0" rIns="0" bIns="0" rtlCol="0" anchor="t"/>
          <a:lstStyle/>
          <a:p>
            <a:pPr indent="0" marL="0">
              <a:spcAft>
                <a:spcPts val="400"/>
              </a:spcAft>
              <a:buNone/>
            </a:pPr>
            <a:r>
              <a:rPr lang="en-US" sz="1400" b="1" dirty="0">
                <a:solidFill>
                  <a:srgbClr val="12324F"/>
                </a:solidFill>
                <a:latin typeface="Calibri" pitchFamily="34" charset="0"/>
                <a:ea typeface="Calibri" pitchFamily="34" charset="-122"/>
                <a:cs typeface="Calibri" pitchFamily="34" charset="-120"/>
              </a:rPr>
              <a:t>Practical</a:t>
            </a:r>
            <a:endParaRPr lang="en-US" sz="1400" dirty="0"/>
          </a:p>
          <a:p>
            <a:pPr indent="0" marL="0">
              <a:spcAft>
                <a:spcPts val="400"/>
              </a:spcAft>
              <a:buNone/>
            </a:pPr>
            <a:r>
              <a:rPr lang="en-US" sz="1200" dirty="0">
                <a:solidFill>
                  <a:srgbClr val="17334B"/>
                </a:solidFill>
                <a:latin typeface="Calibri" pitchFamily="34" charset="0"/>
                <a:ea typeface="Calibri" pitchFamily="34" charset="-122"/>
                <a:cs typeface="Calibri" pitchFamily="34" charset="-120"/>
              </a:rPr>
              <a:t>Labs 5–7: secure a switch, two LANs, two sites with static routes.</a:t>
            </a:r>
            <a:endParaRPr lang="en-US" sz="1400" dirty="0"/>
          </a:p>
        </p:txBody>
      </p:sp>
      <p:sp>
        <p:nvSpPr>
          <p:cNvPr id="10" name="Shape 7"/>
          <p:cNvSpPr/>
          <p:nvPr/>
        </p:nvSpPr>
        <p:spPr>
          <a:xfrm>
            <a:off x="4338218" y="5074920"/>
            <a:ext cx="3515258" cy="1234440"/>
          </a:xfrm>
          <a:prstGeom prst="roundRect">
            <a:avLst>
              <a:gd name="adj" fmla="val 7407"/>
            </a:avLst>
          </a:prstGeom>
          <a:solidFill>
            <a:srgbClr val="E6F4F1"/>
          </a:solidFill>
          <a:ln w="12700">
            <a:solidFill>
              <a:srgbClr val="E6F4F1"/>
            </a:solidFill>
            <a:prstDash val="solid"/>
          </a:ln>
        </p:spPr>
      </p:sp>
      <p:sp>
        <p:nvSpPr>
          <p:cNvPr id="11" name="Text 8"/>
          <p:cNvSpPr txBox="1"/>
          <p:nvPr/>
        </p:nvSpPr>
        <p:spPr>
          <a:xfrm>
            <a:off x="4502810" y="5184648"/>
            <a:ext cx="3186074" cy="1014984"/>
          </a:xfrm>
          <a:prstGeom prst="rect">
            <a:avLst/>
          </a:prstGeom>
          <a:noFill/>
          <a:ln/>
        </p:spPr>
        <p:txBody>
          <a:bodyPr wrap="square" lIns="0" tIns="0" rIns="0" bIns="0" rtlCol="0" anchor="t"/>
          <a:lstStyle/>
          <a:p>
            <a:pPr indent="0" marL="0">
              <a:spcAft>
                <a:spcPts val="400"/>
              </a:spcAft>
              <a:buNone/>
            </a:pPr>
            <a:r>
              <a:rPr lang="en-US" sz="1400" b="1" dirty="0">
                <a:solidFill>
                  <a:srgbClr val="12324F"/>
                </a:solidFill>
                <a:latin typeface="Calibri" pitchFamily="34" charset="0"/>
                <a:ea typeface="Calibri" pitchFamily="34" charset="-122"/>
                <a:cs typeface="Calibri" pitchFamily="34" charset="-120"/>
              </a:rPr>
              <a:t>Task</a:t>
            </a:r>
            <a:endParaRPr lang="en-US" sz="1400" dirty="0"/>
          </a:p>
          <a:p>
            <a:pPr indent="0" marL="0">
              <a:spcAft>
                <a:spcPts val="400"/>
              </a:spcAft>
              <a:buNone/>
            </a:pPr>
            <a:r>
              <a:rPr lang="en-US" sz="1200" dirty="0">
                <a:solidFill>
                  <a:srgbClr val="17334B"/>
                </a:solidFill>
                <a:latin typeface="Calibri" pitchFamily="34" charset="0"/>
                <a:ea typeface="Calibri" pitchFamily="34" charset="-122"/>
                <a:cs typeface="Calibri" pitchFamily="34" charset="-120"/>
              </a:rPr>
              <a:t>Workbook C1: commands for BRANCH-R1 in order.</a:t>
            </a:r>
            <a:endParaRPr lang="en-US" sz="1400" dirty="0"/>
          </a:p>
        </p:txBody>
      </p:sp>
      <p:sp>
        <p:nvSpPr>
          <p:cNvPr id="12" name="Shape 9"/>
          <p:cNvSpPr/>
          <p:nvPr/>
        </p:nvSpPr>
        <p:spPr>
          <a:xfrm>
            <a:off x="8127797" y="5074920"/>
            <a:ext cx="3515258" cy="1234440"/>
          </a:xfrm>
          <a:prstGeom prst="roundRect">
            <a:avLst>
              <a:gd name="adj" fmla="val 7407"/>
            </a:avLst>
          </a:prstGeom>
          <a:solidFill>
            <a:srgbClr val="FDF1E7"/>
          </a:solidFill>
          <a:ln w="12700">
            <a:solidFill>
              <a:srgbClr val="FDF1E7"/>
            </a:solidFill>
            <a:prstDash val="solid"/>
          </a:ln>
        </p:spPr>
      </p:sp>
      <p:sp>
        <p:nvSpPr>
          <p:cNvPr id="13" name="Text 10"/>
          <p:cNvSpPr txBox="1"/>
          <p:nvPr/>
        </p:nvSpPr>
        <p:spPr>
          <a:xfrm>
            <a:off x="8292389" y="5184648"/>
            <a:ext cx="3186074" cy="1014984"/>
          </a:xfrm>
          <a:prstGeom prst="rect">
            <a:avLst/>
          </a:prstGeom>
          <a:noFill/>
          <a:ln/>
        </p:spPr>
        <p:txBody>
          <a:bodyPr wrap="square" lIns="0" tIns="0" rIns="0" bIns="0" rtlCol="0" anchor="t"/>
          <a:lstStyle/>
          <a:p>
            <a:pPr indent="0" marL="0">
              <a:spcAft>
                <a:spcPts val="400"/>
              </a:spcAft>
              <a:buNone/>
            </a:pPr>
            <a:r>
              <a:rPr lang="en-US" sz="1400" b="1" dirty="0">
                <a:solidFill>
                  <a:srgbClr val="12324F"/>
                </a:solidFill>
                <a:latin typeface="Calibri" pitchFamily="34" charset="0"/>
                <a:ea typeface="Calibri" pitchFamily="34" charset="-122"/>
                <a:cs typeface="Calibri" pitchFamily="34" charset="-120"/>
              </a:rPr>
              <a:t>Evidence</a:t>
            </a:r>
            <a:endParaRPr lang="en-US" sz="1400" dirty="0"/>
          </a:p>
          <a:p>
            <a:pPr indent="0" marL="0">
              <a:spcAft>
                <a:spcPts val="400"/>
              </a:spcAft>
              <a:buNone/>
            </a:pPr>
            <a:r>
              <a:rPr lang="en-US" sz="1200" dirty="0">
                <a:solidFill>
                  <a:srgbClr val="17334B"/>
                </a:solidFill>
                <a:latin typeface="Calibri" pitchFamily="34" charset="0"/>
                <a:ea typeface="Calibri" pitchFamily="34" charset="-122"/>
                <a:cs typeface="Calibri" pitchFamily="34" charset="-120"/>
              </a:rPr>
              <a:t>show running-config and screenshots with captions.</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548640" y="164592"/>
            <a:ext cx="914400" cy="310896"/>
          </a:xfrm>
          <a:prstGeom prst="roundRect">
            <a:avLst>
              <a:gd name="adj" fmla="val 23529"/>
            </a:avLst>
          </a:prstGeom>
          <a:solidFill>
            <a:srgbClr val="20857B"/>
          </a:solidFill>
          <a:ln w="12700">
            <a:solidFill>
              <a:srgbClr val="20857B"/>
            </a:solidFill>
            <a:prstDash val="solid"/>
          </a:ln>
        </p:spPr>
      </p:sp>
      <p:sp>
        <p:nvSpPr>
          <p:cNvPr id="3" name="Text 1"/>
          <p:cNvSpPr txBox="1"/>
          <p:nvPr/>
        </p:nvSpPr>
        <p:spPr>
          <a:xfrm>
            <a:off x="548640" y="164592"/>
            <a:ext cx="91440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C2</a:t>
            </a:r>
            <a:endParaRPr lang="en-US" sz="1200" dirty="0"/>
          </a:p>
        </p:txBody>
      </p:sp>
      <p:sp>
        <p:nvSpPr>
          <p:cNvPr id="4" name="Text 2"/>
          <p:cNvSpPr txBox="1"/>
          <p:nvPr/>
        </p:nvSpPr>
        <p:spPr>
          <a:xfrm>
            <a:off x="548640" y="502920"/>
            <a:ext cx="11094415" cy="731520"/>
          </a:xfrm>
          <a:prstGeom prst="rect">
            <a:avLst/>
          </a:prstGeom>
          <a:noFill/>
          <a:ln/>
        </p:spPr>
        <p:txBody>
          <a:bodyPr wrap="square" lIns="0" tIns="0" rIns="0" bIns="0" rtlCol="0" anchor="ctr"/>
          <a:lstStyle/>
          <a:p>
            <a:pPr indent="0" marL="0">
              <a:buNone/>
            </a:pPr>
            <a:r>
              <a:rPr lang="en-US" sz="2800" b="1" dirty="0">
                <a:solidFill>
                  <a:srgbClr val="17334B"/>
                </a:solidFill>
                <a:latin typeface="Cambria" pitchFamily="34" charset="0"/>
                <a:ea typeface="Cambria" pitchFamily="34" charset="-122"/>
                <a:cs typeface="Cambria" pitchFamily="34" charset="-120"/>
              </a:rPr>
              <a:t>Testing and troubleshooting</a:t>
            </a:r>
            <a:endParaRPr lang="en-US" sz="2800" dirty="0"/>
          </a:p>
        </p:txBody>
      </p:sp>
      <p:sp>
        <p:nvSpPr>
          <p:cNvPr id="5" name="Text 3"/>
          <p:cNvSpPr txBox="1"/>
          <p:nvPr/>
        </p:nvSpPr>
        <p:spPr>
          <a:xfrm>
            <a:off x="548640" y="1188720"/>
            <a:ext cx="11094415" cy="365760"/>
          </a:xfrm>
          <a:prstGeom prst="rect">
            <a:avLst/>
          </a:prstGeom>
          <a:noFill/>
          <a:ln/>
        </p:spPr>
        <p:txBody>
          <a:bodyPr wrap="square" lIns="0" tIns="0" rIns="0" bIns="0" rtlCol="0" anchor="ctr"/>
          <a:lstStyle/>
          <a:p>
            <a:pPr indent="0" marL="0">
              <a:buNone/>
            </a:pPr>
            <a:r>
              <a:rPr lang="en-US" sz="1500" i="1" dirty="0">
                <a:solidFill>
                  <a:srgbClr val="4F6577"/>
                </a:solidFill>
                <a:latin typeface="Calibri" pitchFamily="34" charset="0"/>
                <a:ea typeface="Calibri" pitchFamily="34" charset="-122"/>
                <a:cs typeface="Calibri" pitchFamily="34" charset="-120"/>
              </a:rPr>
              <a:t>Aim: test methodically, fix faults and document the results</a:t>
            </a:r>
            <a:endParaRPr lang="en-US" sz="1500" dirty="0"/>
          </a:p>
        </p:txBody>
      </p:sp>
      <p:sp>
        <p:nvSpPr>
          <p:cNvPr id="6" name="Shape 4"/>
          <p:cNvSpPr/>
          <p:nvPr/>
        </p:nvSpPr>
        <p:spPr>
          <a:xfrm>
            <a:off x="548640" y="1783080"/>
            <a:ext cx="1696669" cy="822960"/>
          </a:xfrm>
          <a:prstGeom prst="chevron">
            <a:avLst/>
          </a:prstGeom>
          <a:solidFill>
            <a:srgbClr val="12324F"/>
          </a:solidFill>
          <a:ln w="12700">
            <a:solidFill>
              <a:srgbClr val="FFFFFF"/>
            </a:solidFill>
            <a:prstDash val="solid"/>
          </a:ln>
        </p:spPr>
      </p:sp>
      <p:sp>
        <p:nvSpPr>
          <p:cNvPr id="7" name="Text 5"/>
          <p:cNvSpPr txBox="1"/>
          <p:nvPr/>
        </p:nvSpPr>
        <p:spPr>
          <a:xfrm>
            <a:off x="777240" y="1783080"/>
            <a:ext cx="1239469" cy="8229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 Identify</a:t>
            </a:r>
            <a:endParaRPr lang="en-US" sz="1500" dirty="0"/>
          </a:p>
        </p:txBody>
      </p:sp>
      <p:sp>
        <p:nvSpPr>
          <p:cNvPr id="8" name="Shape 6"/>
          <p:cNvSpPr/>
          <p:nvPr/>
        </p:nvSpPr>
        <p:spPr>
          <a:xfrm>
            <a:off x="2428189" y="1783080"/>
            <a:ext cx="1696669" cy="822960"/>
          </a:xfrm>
          <a:prstGeom prst="chevron">
            <a:avLst/>
          </a:prstGeom>
          <a:solidFill>
            <a:srgbClr val="20857B"/>
          </a:solidFill>
          <a:ln w="12700">
            <a:solidFill>
              <a:srgbClr val="FFFFFF"/>
            </a:solidFill>
            <a:prstDash val="solid"/>
          </a:ln>
        </p:spPr>
      </p:sp>
      <p:sp>
        <p:nvSpPr>
          <p:cNvPr id="9" name="Text 7"/>
          <p:cNvSpPr txBox="1"/>
          <p:nvPr/>
        </p:nvSpPr>
        <p:spPr>
          <a:xfrm>
            <a:off x="2656789" y="1783080"/>
            <a:ext cx="1239469" cy="8229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 Theory</a:t>
            </a:r>
            <a:endParaRPr lang="en-US" sz="1500" dirty="0"/>
          </a:p>
        </p:txBody>
      </p:sp>
      <p:sp>
        <p:nvSpPr>
          <p:cNvPr id="10" name="Shape 8"/>
          <p:cNvSpPr/>
          <p:nvPr/>
        </p:nvSpPr>
        <p:spPr>
          <a:xfrm>
            <a:off x="4307738" y="1783080"/>
            <a:ext cx="1696669" cy="822960"/>
          </a:xfrm>
          <a:prstGeom prst="chevron">
            <a:avLst/>
          </a:prstGeom>
          <a:solidFill>
            <a:srgbClr val="12324F"/>
          </a:solidFill>
          <a:ln w="12700">
            <a:solidFill>
              <a:srgbClr val="FFFFFF"/>
            </a:solidFill>
            <a:prstDash val="solid"/>
          </a:ln>
        </p:spPr>
      </p:sp>
      <p:sp>
        <p:nvSpPr>
          <p:cNvPr id="11" name="Text 9"/>
          <p:cNvSpPr txBox="1"/>
          <p:nvPr/>
        </p:nvSpPr>
        <p:spPr>
          <a:xfrm>
            <a:off x="4536338" y="1783080"/>
            <a:ext cx="1239469" cy="8229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 Test</a:t>
            </a:r>
            <a:endParaRPr lang="en-US" sz="1500" dirty="0"/>
          </a:p>
        </p:txBody>
      </p:sp>
      <p:sp>
        <p:nvSpPr>
          <p:cNvPr id="12" name="Shape 10"/>
          <p:cNvSpPr/>
          <p:nvPr/>
        </p:nvSpPr>
        <p:spPr>
          <a:xfrm>
            <a:off x="6187288" y="1783080"/>
            <a:ext cx="1696669" cy="822960"/>
          </a:xfrm>
          <a:prstGeom prst="chevron">
            <a:avLst/>
          </a:prstGeom>
          <a:solidFill>
            <a:srgbClr val="20857B"/>
          </a:solidFill>
          <a:ln w="12700">
            <a:solidFill>
              <a:srgbClr val="FFFFFF"/>
            </a:solidFill>
            <a:prstDash val="solid"/>
          </a:ln>
        </p:spPr>
      </p:sp>
      <p:sp>
        <p:nvSpPr>
          <p:cNvPr id="13" name="Text 11"/>
          <p:cNvSpPr txBox="1"/>
          <p:nvPr/>
        </p:nvSpPr>
        <p:spPr>
          <a:xfrm>
            <a:off x="6415888" y="1783080"/>
            <a:ext cx="1239469" cy="8229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 Fix</a:t>
            </a:r>
            <a:endParaRPr lang="en-US" sz="1500" dirty="0"/>
          </a:p>
        </p:txBody>
      </p:sp>
      <p:sp>
        <p:nvSpPr>
          <p:cNvPr id="14" name="Shape 12"/>
          <p:cNvSpPr/>
          <p:nvPr/>
        </p:nvSpPr>
        <p:spPr>
          <a:xfrm>
            <a:off x="8066837" y="1783080"/>
            <a:ext cx="1696669" cy="822960"/>
          </a:xfrm>
          <a:prstGeom prst="chevron">
            <a:avLst/>
          </a:prstGeom>
          <a:solidFill>
            <a:srgbClr val="12324F"/>
          </a:solidFill>
          <a:ln w="12700">
            <a:solidFill>
              <a:srgbClr val="FFFFFF"/>
            </a:solidFill>
            <a:prstDash val="solid"/>
          </a:ln>
        </p:spPr>
      </p:sp>
      <p:sp>
        <p:nvSpPr>
          <p:cNvPr id="15" name="Text 13"/>
          <p:cNvSpPr txBox="1"/>
          <p:nvPr/>
        </p:nvSpPr>
        <p:spPr>
          <a:xfrm>
            <a:off x="8295437" y="1783080"/>
            <a:ext cx="1239469" cy="8229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 Verify</a:t>
            </a:r>
            <a:endParaRPr lang="en-US" sz="1500" dirty="0"/>
          </a:p>
        </p:txBody>
      </p:sp>
      <p:sp>
        <p:nvSpPr>
          <p:cNvPr id="16" name="Shape 14"/>
          <p:cNvSpPr/>
          <p:nvPr/>
        </p:nvSpPr>
        <p:spPr>
          <a:xfrm>
            <a:off x="9946386" y="1783080"/>
            <a:ext cx="1696669" cy="822960"/>
          </a:xfrm>
          <a:prstGeom prst="chevron">
            <a:avLst/>
          </a:prstGeom>
          <a:solidFill>
            <a:srgbClr val="20857B"/>
          </a:solidFill>
          <a:ln w="12700">
            <a:solidFill>
              <a:srgbClr val="FFFFFF"/>
            </a:solidFill>
            <a:prstDash val="solid"/>
          </a:ln>
        </p:spPr>
      </p:sp>
      <p:sp>
        <p:nvSpPr>
          <p:cNvPr id="17" name="Text 15"/>
          <p:cNvSpPr txBox="1"/>
          <p:nvPr/>
        </p:nvSpPr>
        <p:spPr>
          <a:xfrm>
            <a:off x="10174986" y="1783080"/>
            <a:ext cx="1239469" cy="8229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 Document</a:t>
            </a:r>
            <a:endParaRPr lang="en-US" sz="15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48640" y="2880360"/>
          <a:ext cx="7315200" cy="914400"/>
        </p:xfrm>
        <a:graphic>
          <a:graphicData uri="http://schemas.openxmlformats.org/drawingml/2006/table">
            <a:tbl>
              <a:tblPr/>
              <a:tblGrid>
                <a:gridCol w="2194560"/>
                <a:gridCol w="2651760"/>
                <a:gridCol w="2468880"/>
              </a:tblGrid>
              <a:tr h="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Symptom</a:t>
                      </a:r>
                      <a:endParaRPr lang="en-US" sz="1300" dirty="0">
                        <a:latin typeface="Calibri" charset="0"/>
                        <a:ea typeface="Calibri" charset="0"/>
                        <a:cs typeface="Calibri" charset="0"/>
                      </a:endParaRPr>
                    </a:p>
                  </a:txBody>
                  <a:tcPr marL="54864" marR="54864" marT="54864" marB="54864">
                    <a:lnL w="12700" cap="flat" cmpd="sng" algn="ctr">
                      <a:solidFill>
                        <a:srgbClr val="C9D7E3"/>
                      </a:solidFill>
                      <a:prstDash val="solid"/>
                      <a:round/>
                      <a:headEnd type="none" w="med" len="med"/>
                      <a:tailEnd type="none" w="med" len="med"/>
                    </a:lnL>
                    <a:lnR w="12700" cap="flat" cmpd="sng" algn="ctr">
                      <a:solidFill>
                        <a:srgbClr val="C9D7E3"/>
                      </a:solidFill>
                      <a:prstDash val="solid"/>
                      <a:round/>
                      <a:headEnd type="none" w="med" len="med"/>
                      <a:tailEnd type="none" w="med" len="med"/>
                    </a:lnR>
                    <a:lnT w="12700" cap="flat" cmpd="sng" algn="ctr">
                      <a:solidFill>
                        <a:srgbClr val="C9D7E3"/>
                      </a:solidFill>
                      <a:prstDash val="solid"/>
                      <a:round/>
                      <a:headEnd type="none" w="med" len="med"/>
                      <a:tailEnd type="none" w="med" len="med"/>
                    </a:lnT>
                    <a:lnB w="12700" cap="flat" cmpd="sng" algn="ctr">
                      <a:solidFill>
                        <a:srgbClr val="C9D7E3"/>
                      </a:solidFill>
                      <a:prstDash val="solid"/>
                      <a:round/>
                      <a:headEnd type="none" w="med" len="med"/>
                      <a:tailEnd type="none" w="med" len="med"/>
                    </a:lnB>
                    <a:solidFill>
                      <a:srgbClr val="12324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Likely cause</a:t>
                      </a:r>
                      <a:endParaRPr lang="en-US" sz="1300" dirty="0">
                        <a:latin typeface="Calibri" charset="0"/>
                        <a:ea typeface="Calibri" charset="0"/>
                        <a:cs typeface="Calibri" charset="0"/>
                      </a:endParaRPr>
                    </a:p>
                  </a:txBody>
                  <a:tcPr marL="54864" marR="54864" marT="54864" marB="54864">
                    <a:lnL w="12700" cap="flat" cmpd="sng" algn="ctr">
                      <a:solidFill>
                        <a:srgbClr val="C9D7E3"/>
                      </a:solidFill>
                      <a:prstDash val="solid"/>
                      <a:round/>
                      <a:headEnd type="none" w="med" len="med"/>
                      <a:tailEnd type="none" w="med" len="med"/>
                    </a:lnL>
                    <a:lnR w="12700" cap="flat" cmpd="sng" algn="ctr">
                      <a:solidFill>
                        <a:srgbClr val="C9D7E3"/>
                      </a:solidFill>
                      <a:prstDash val="solid"/>
                      <a:round/>
                      <a:headEnd type="none" w="med" len="med"/>
                      <a:tailEnd type="none" w="med" len="med"/>
                    </a:lnR>
                    <a:lnT w="12700" cap="flat" cmpd="sng" algn="ctr">
                      <a:solidFill>
                        <a:srgbClr val="C9D7E3"/>
                      </a:solidFill>
                      <a:prstDash val="solid"/>
                      <a:round/>
                      <a:headEnd type="none" w="med" len="med"/>
                      <a:tailEnd type="none" w="med" len="med"/>
                    </a:lnT>
                    <a:lnB w="12700" cap="flat" cmpd="sng" algn="ctr">
                      <a:solidFill>
                        <a:srgbClr val="C9D7E3"/>
                      </a:solidFill>
                      <a:prstDash val="solid"/>
                      <a:round/>
                      <a:headEnd type="none" w="med" len="med"/>
                      <a:tailEnd type="none" w="med" len="med"/>
                    </a:lnB>
                    <a:solidFill>
                      <a:srgbClr val="12324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Check with</a:t>
                      </a:r>
                      <a:endParaRPr lang="en-US" sz="1300" dirty="0">
                        <a:latin typeface="Calibri" charset="0"/>
                        <a:ea typeface="Calibri" charset="0"/>
                        <a:cs typeface="Calibri" charset="0"/>
                      </a:endParaRPr>
                    </a:p>
                  </a:txBody>
                  <a:tcPr marL="54864" marR="54864" marT="54864" marB="54864">
                    <a:lnL w="12700" cap="flat" cmpd="sng" algn="ctr">
                      <a:solidFill>
                        <a:srgbClr val="C9D7E3"/>
                      </a:solidFill>
                      <a:prstDash val="solid"/>
                      <a:round/>
                      <a:headEnd type="none" w="med" len="med"/>
                      <a:tailEnd type="none" w="med" len="med"/>
                    </a:lnL>
                    <a:lnR w="12700" cap="flat" cmpd="sng" algn="ctr">
                      <a:solidFill>
                        <a:srgbClr val="C9D7E3"/>
                      </a:solidFill>
                      <a:prstDash val="solid"/>
                      <a:round/>
                      <a:headEnd type="none" w="med" len="med"/>
                      <a:tailEnd type="none" w="med" len="med"/>
                    </a:lnR>
                    <a:lnT w="12700" cap="flat" cmpd="sng" algn="ctr">
                      <a:solidFill>
                        <a:srgbClr val="C9D7E3"/>
                      </a:solidFill>
                      <a:prstDash val="solid"/>
                      <a:round/>
                      <a:headEnd type="none" w="med" len="med"/>
                      <a:tailEnd type="none" w="med" len="med"/>
                    </a:lnT>
                    <a:lnB w="12700" cap="flat" cmpd="sng" algn="ctr">
                      <a:solidFill>
                        <a:srgbClr val="C9D7E3"/>
                      </a:solidFill>
                      <a:prstDash val="solid"/>
                      <a:round/>
                      <a:headEnd type="none" w="med" len="med"/>
                      <a:tailEnd type="none" w="med" len="med"/>
                    </a:lnB>
                    <a:solidFill>
                      <a:srgbClr val="12324F"/>
                    </a:solidFill>
                  </a:tcPr>
                </a:tc>
              </a:tr>
              <a:tr h="0">
                <a:tc>
                  <a:txBody>
                    <a:bodyPr/>
                    <a:lstStyle/>
                    <a:p>
                      <a:pPr indent="0" marL="0">
                        <a:buNone/>
                      </a:pPr>
                      <a:r>
                        <a:rPr lang="en-US" sz="1300" dirty="0">
                          <a:solidFill>
                            <a:srgbClr val="17334B"/>
                          </a:solidFill>
                          <a:latin typeface="Calibri" pitchFamily="34" charset="0"/>
                          <a:ea typeface="Calibri" pitchFamily="34" charset="-122"/>
                          <a:cs typeface="Calibri" pitchFamily="34" charset="-120"/>
                        </a:rPr>
                        <a:t>Red link light</a:t>
                      </a:r>
                      <a:endParaRPr lang="en-US" sz="1300" dirty="0">
                        <a:latin typeface="Calibri" charset="0"/>
                        <a:ea typeface="Calibri" charset="0"/>
                        <a:cs typeface="Calibri" charset="0"/>
                      </a:endParaRPr>
                    </a:p>
                  </a:txBody>
                  <a:tcPr marL="54864" marR="54864" marT="54864" marB="54864">
                    <a:lnL w="12700" cap="flat" cmpd="sng" algn="ctr">
                      <a:solidFill>
                        <a:srgbClr val="C9D7E3"/>
                      </a:solidFill>
                      <a:prstDash val="solid"/>
                      <a:round/>
                      <a:headEnd type="none" w="med" len="med"/>
                      <a:tailEnd type="none" w="med" len="med"/>
                    </a:lnL>
                    <a:lnR w="12700" cap="flat" cmpd="sng" algn="ctr">
                      <a:solidFill>
                        <a:srgbClr val="C9D7E3"/>
                      </a:solidFill>
                      <a:prstDash val="solid"/>
                      <a:round/>
                      <a:headEnd type="none" w="med" len="med"/>
                      <a:tailEnd type="none" w="med" len="med"/>
                    </a:lnR>
                    <a:lnT w="12700" cap="flat" cmpd="sng" algn="ctr">
                      <a:solidFill>
                        <a:srgbClr val="C9D7E3"/>
                      </a:solidFill>
                      <a:prstDash val="solid"/>
                      <a:round/>
                      <a:headEnd type="none" w="med" len="med"/>
                      <a:tailEnd type="none" w="med" len="med"/>
                    </a:lnT>
                    <a:lnB w="12700" cap="flat" cmpd="sng" algn="ctr">
                      <a:solidFill>
                        <a:srgbClr val="C9D7E3"/>
                      </a:solidFill>
                      <a:prstDash val="solid"/>
                      <a:round/>
                      <a:headEnd type="none" w="med" len="med"/>
                      <a:tailEnd type="none" w="med" len="med"/>
                    </a:lnB>
                    <a:solidFill>
                      <a:srgbClr val="FFFFFF"/>
                    </a:solidFill>
                  </a:tcPr>
                </a:tc>
                <a:tc>
                  <a:txBody>
                    <a:bodyPr/>
                    <a:lstStyle/>
                    <a:p>
                      <a:pPr indent="0" marL="0">
                        <a:buNone/>
                      </a:pPr>
                      <a:r>
                        <a:rPr lang="en-US" sz="1300" dirty="0">
                          <a:solidFill>
                            <a:srgbClr val="17334B"/>
                          </a:solidFill>
                          <a:latin typeface="Calibri" pitchFamily="34" charset="0"/>
                          <a:ea typeface="Calibri" pitchFamily="34" charset="-122"/>
                          <a:cs typeface="Calibri" pitchFamily="34" charset="-120"/>
                        </a:rPr>
                        <a:t>interface shut down or wrong cable</a:t>
                      </a:r>
                      <a:endParaRPr lang="en-US" sz="1300" dirty="0">
                        <a:latin typeface="Calibri" charset="0"/>
                        <a:ea typeface="Calibri" charset="0"/>
                        <a:cs typeface="Calibri" charset="0"/>
                      </a:endParaRPr>
                    </a:p>
                  </a:txBody>
                  <a:tcPr marL="54864" marR="54864" marT="54864" marB="54864">
                    <a:lnL w="12700" cap="flat" cmpd="sng" algn="ctr">
                      <a:solidFill>
                        <a:srgbClr val="C9D7E3"/>
                      </a:solidFill>
                      <a:prstDash val="solid"/>
                      <a:round/>
                      <a:headEnd type="none" w="med" len="med"/>
                      <a:tailEnd type="none" w="med" len="med"/>
                    </a:lnL>
                    <a:lnR w="12700" cap="flat" cmpd="sng" algn="ctr">
                      <a:solidFill>
                        <a:srgbClr val="C9D7E3"/>
                      </a:solidFill>
                      <a:prstDash val="solid"/>
                      <a:round/>
                      <a:headEnd type="none" w="med" len="med"/>
                      <a:tailEnd type="none" w="med" len="med"/>
                    </a:lnR>
                    <a:lnT w="12700" cap="flat" cmpd="sng" algn="ctr">
                      <a:solidFill>
                        <a:srgbClr val="C9D7E3"/>
                      </a:solidFill>
                      <a:prstDash val="solid"/>
                      <a:round/>
                      <a:headEnd type="none" w="med" len="med"/>
                      <a:tailEnd type="none" w="med" len="med"/>
                    </a:lnT>
                    <a:lnB w="12700" cap="flat" cmpd="sng" algn="ctr">
                      <a:solidFill>
                        <a:srgbClr val="C9D7E3"/>
                      </a:solidFill>
                      <a:prstDash val="solid"/>
                      <a:round/>
                      <a:headEnd type="none" w="med" len="med"/>
                      <a:tailEnd type="none" w="med" len="med"/>
                    </a:lnB>
                    <a:solidFill>
                      <a:srgbClr val="FFFFFF"/>
                    </a:solidFill>
                  </a:tcPr>
                </a:tc>
                <a:tc>
                  <a:txBody>
                    <a:bodyPr/>
                    <a:lstStyle/>
                    <a:p>
                      <a:pPr indent="0" marL="0">
                        <a:buNone/>
                      </a:pPr>
                      <a:r>
                        <a:rPr lang="en-US" sz="1300" dirty="0">
                          <a:solidFill>
                            <a:srgbClr val="17334B"/>
                          </a:solidFill>
                          <a:latin typeface="Calibri" pitchFamily="34" charset="0"/>
                          <a:ea typeface="Calibri" pitchFamily="34" charset="-122"/>
                          <a:cs typeface="Calibri" pitchFamily="34" charset="-120"/>
                        </a:rPr>
                        <a:t>show ip interface brief</a:t>
                      </a:r>
                      <a:endParaRPr lang="en-US" sz="1300" dirty="0">
                        <a:latin typeface="Calibri" charset="0"/>
                        <a:ea typeface="Calibri" charset="0"/>
                        <a:cs typeface="Calibri" charset="0"/>
                      </a:endParaRPr>
                    </a:p>
                  </a:txBody>
                  <a:tcPr marL="54864" marR="54864" marT="54864" marB="54864">
                    <a:lnL w="12700" cap="flat" cmpd="sng" algn="ctr">
                      <a:solidFill>
                        <a:srgbClr val="C9D7E3"/>
                      </a:solidFill>
                      <a:prstDash val="solid"/>
                      <a:round/>
                      <a:headEnd type="none" w="med" len="med"/>
                      <a:tailEnd type="none" w="med" len="med"/>
                    </a:lnL>
                    <a:lnR w="12700" cap="flat" cmpd="sng" algn="ctr">
                      <a:solidFill>
                        <a:srgbClr val="C9D7E3"/>
                      </a:solidFill>
                      <a:prstDash val="solid"/>
                      <a:round/>
                      <a:headEnd type="none" w="med" len="med"/>
                      <a:tailEnd type="none" w="med" len="med"/>
                    </a:lnR>
                    <a:lnT w="12700" cap="flat" cmpd="sng" algn="ctr">
                      <a:solidFill>
                        <a:srgbClr val="C9D7E3"/>
                      </a:solidFill>
                      <a:prstDash val="solid"/>
                      <a:round/>
                      <a:headEnd type="none" w="med" len="med"/>
                      <a:tailEnd type="none" w="med" len="med"/>
                    </a:lnT>
                    <a:lnB w="12700" cap="flat" cmpd="sng" algn="ctr">
                      <a:solidFill>
                        <a:srgbClr val="C9D7E3"/>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17334B"/>
                          </a:solidFill>
                          <a:latin typeface="Calibri" pitchFamily="34" charset="0"/>
                          <a:ea typeface="Calibri" pitchFamily="34" charset="-122"/>
                          <a:cs typeface="Calibri" pitchFamily="34" charset="-120"/>
                        </a:rPr>
                        <a:t>Local pings work, remote fail</a:t>
                      </a:r>
                      <a:endParaRPr lang="en-US" sz="1300" dirty="0">
                        <a:latin typeface="Calibri" charset="0"/>
                        <a:ea typeface="Calibri" charset="0"/>
                        <a:cs typeface="Calibri" charset="0"/>
                      </a:endParaRPr>
                    </a:p>
                  </a:txBody>
                  <a:tcPr marL="54864" marR="54864" marT="54864" marB="54864">
                    <a:lnL w="12700" cap="flat" cmpd="sng" algn="ctr">
                      <a:solidFill>
                        <a:srgbClr val="C9D7E3"/>
                      </a:solidFill>
                      <a:prstDash val="solid"/>
                      <a:round/>
                      <a:headEnd type="none" w="med" len="med"/>
                      <a:tailEnd type="none" w="med" len="med"/>
                    </a:lnL>
                    <a:lnR w="12700" cap="flat" cmpd="sng" algn="ctr">
                      <a:solidFill>
                        <a:srgbClr val="C9D7E3"/>
                      </a:solidFill>
                      <a:prstDash val="solid"/>
                      <a:round/>
                      <a:headEnd type="none" w="med" len="med"/>
                      <a:tailEnd type="none" w="med" len="med"/>
                    </a:lnR>
                    <a:lnT w="12700" cap="flat" cmpd="sng" algn="ctr">
                      <a:solidFill>
                        <a:srgbClr val="C9D7E3"/>
                      </a:solidFill>
                      <a:prstDash val="solid"/>
                      <a:round/>
                      <a:headEnd type="none" w="med" len="med"/>
                      <a:tailEnd type="none" w="med" len="med"/>
                    </a:lnT>
                    <a:lnB w="12700" cap="flat" cmpd="sng" algn="ctr">
                      <a:solidFill>
                        <a:srgbClr val="C9D7E3"/>
                      </a:solidFill>
                      <a:prstDash val="solid"/>
                      <a:round/>
                      <a:headEnd type="none" w="med" len="med"/>
                      <a:tailEnd type="none" w="med" len="med"/>
                    </a:lnB>
                    <a:solidFill>
                      <a:srgbClr val="FFFFFF"/>
                    </a:solidFill>
                  </a:tcPr>
                </a:tc>
                <a:tc>
                  <a:txBody>
                    <a:bodyPr/>
                    <a:lstStyle/>
                    <a:p>
                      <a:pPr indent="0" marL="0">
                        <a:buNone/>
                      </a:pPr>
                      <a:r>
                        <a:rPr lang="en-US" sz="1300" dirty="0">
                          <a:solidFill>
                            <a:srgbClr val="17334B"/>
                          </a:solidFill>
                          <a:latin typeface="Calibri" pitchFamily="34" charset="0"/>
                          <a:ea typeface="Calibri" pitchFamily="34" charset="-122"/>
                          <a:cs typeface="Calibri" pitchFamily="34" charset="-120"/>
                        </a:rPr>
                        <a:t>wrong gateway or missing route</a:t>
                      </a:r>
                      <a:endParaRPr lang="en-US" sz="1300" dirty="0">
                        <a:latin typeface="Calibri" charset="0"/>
                        <a:ea typeface="Calibri" charset="0"/>
                        <a:cs typeface="Calibri" charset="0"/>
                      </a:endParaRPr>
                    </a:p>
                  </a:txBody>
                  <a:tcPr marL="54864" marR="54864" marT="54864" marB="54864">
                    <a:lnL w="12700" cap="flat" cmpd="sng" algn="ctr">
                      <a:solidFill>
                        <a:srgbClr val="C9D7E3"/>
                      </a:solidFill>
                      <a:prstDash val="solid"/>
                      <a:round/>
                      <a:headEnd type="none" w="med" len="med"/>
                      <a:tailEnd type="none" w="med" len="med"/>
                    </a:lnL>
                    <a:lnR w="12700" cap="flat" cmpd="sng" algn="ctr">
                      <a:solidFill>
                        <a:srgbClr val="C9D7E3"/>
                      </a:solidFill>
                      <a:prstDash val="solid"/>
                      <a:round/>
                      <a:headEnd type="none" w="med" len="med"/>
                      <a:tailEnd type="none" w="med" len="med"/>
                    </a:lnR>
                    <a:lnT w="12700" cap="flat" cmpd="sng" algn="ctr">
                      <a:solidFill>
                        <a:srgbClr val="C9D7E3"/>
                      </a:solidFill>
                      <a:prstDash val="solid"/>
                      <a:round/>
                      <a:headEnd type="none" w="med" len="med"/>
                      <a:tailEnd type="none" w="med" len="med"/>
                    </a:lnT>
                    <a:lnB w="12700" cap="flat" cmpd="sng" algn="ctr">
                      <a:solidFill>
                        <a:srgbClr val="C9D7E3"/>
                      </a:solidFill>
                      <a:prstDash val="solid"/>
                      <a:round/>
                      <a:headEnd type="none" w="med" len="med"/>
                      <a:tailEnd type="none" w="med" len="med"/>
                    </a:lnB>
                    <a:solidFill>
                      <a:srgbClr val="FFFFFF"/>
                    </a:solidFill>
                  </a:tcPr>
                </a:tc>
                <a:tc>
                  <a:txBody>
                    <a:bodyPr/>
                    <a:lstStyle/>
                    <a:p>
                      <a:pPr indent="0" marL="0">
                        <a:buNone/>
                      </a:pPr>
                      <a:r>
                        <a:rPr lang="en-US" sz="1300" dirty="0">
                          <a:solidFill>
                            <a:srgbClr val="17334B"/>
                          </a:solidFill>
                          <a:latin typeface="Calibri" pitchFamily="34" charset="0"/>
                          <a:ea typeface="Calibri" pitchFamily="34" charset="-122"/>
                          <a:cs typeface="Calibri" pitchFamily="34" charset="-120"/>
                        </a:rPr>
                        <a:t>ipconfig; show ip route</a:t>
                      </a:r>
                      <a:endParaRPr lang="en-US" sz="1300" dirty="0">
                        <a:latin typeface="Calibri" charset="0"/>
                        <a:ea typeface="Calibri" charset="0"/>
                        <a:cs typeface="Calibri" charset="0"/>
                      </a:endParaRPr>
                    </a:p>
                  </a:txBody>
                  <a:tcPr marL="54864" marR="54864" marT="54864" marB="54864">
                    <a:lnL w="12700" cap="flat" cmpd="sng" algn="ctr">
                      <a:solidFill>
                        <a:srgbClr val="C9D7E3"/>
                      </a:solidFill>
                      <a:prstDash val="solid"/>
                      <a:round/>
                      <a:headEnd type="none" w="med" len="med"/>
                      <a:tailEnd type="none" w="med" len="med"/>
                    </a:lnL>
                    <a:lnR w="12700" cap="flat" cmpd="sng" algn="ctr">
                      <a:solidFill>
                        <a:srgbClr val="C9D7E3"/>
                      </a:solidFill>
                      <a:prstDash val="solid"/>
                      <a:round/>
                      <a:headEnd type="none" w="med" len="med"/>
                      <a:tailEnd type="none" w="med" len="med"/>
                    </a:lnR>
                    <a:lnT w="12700" cap="flat" cmpd="sng" algn="ctr">
                      <a:solidFill>
                        <a:srgbClr val="C9D7E3"/>
                      </a:solidFill>
                      <a:prstDash val="solid"/>
                      <a:round/>
                      <a:headEnd type="none" w="med" len="med"/>
                      <a:tailEnd type="none" w="med" len="med"/>
                    </a:lnT>
                    <a:lnB w="12700" cap="flat" cmpd="sng" algn="ctr">
                      <a:solidFill>
                        <a:srgbClr val="C9D7E3"/>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17334B"/>
                          </a:solidFill>
                          <a:latin typeface="Calibri" pitchFamily="34" charset="0"/>
                          <a:ea typeface="Calibri" pitchFamily="34" charset="-122"/>
                          <a:cs typeface="Calibri" pitchFamily="34" charset="-120"/>
                        </a:rPr>
                        <a:t>169.254.x.x address</a:t>
                      </a:r>
                      <a:endParaRPr lang="en-US" sz="1300" dirty="0">
                        <a:latin typeface="Calibri" charset="0"/>
                        <a:ea typeface="Calibri" charset="0"/>
                        <a:cs typeface="Calibri" charset="0"/>
                      </a:endParaRPr>
                    </a:p>
                  </a:txBody>
                  <a:tcPr marL="54864" marR="54864" marT="54864" marB="54864">
                    <a:lnL w="12700" cap="flat" cmpd="sng" algn="ctr">
                      <a:solidFill>
                        <a:srgbClr val="C9D7E3"/>
                      </a:solidFill>
                      <a:prstDash val="solid"/>
                      <a:round/>
                      <a:headEnd type="none" w="med" len="med"/>
                      <a:tailEnd type="none" w="med" len="med"/>
                    </a:lnL>
                    <a:lnR w="12700" cap="flat" cmpd="sng" algn="ctr">
                      <a:solidFill>
                        <a:srgbClr val="C9D7E3"/>
                      </a:solidFill>
                      <a:prstDash val="solid"/>
                      <a:round/>
                      <a:headEnd type="none" w="med" len="med"/>
                      <a:tailEnd type="none" w="med" len="med"/>
                    </a:lnR>
                    <a:lnT w="12700" cap="flat" cmpd="sng" algn="ctr">
                      <a:solidFill>
                        <a:srgbClr val="C9D7E3"/>
                      </a:solidFill>
                      <a:prstDash val="solid"/>
                      <a:round/>
                      <a:headEnd type="none" w="med" len="med"/>
                      <a:tailEnd type="none" w="med" len="med"/>
                    </a:lnT>
                    <a:lnB w="12700" cap="flat" cmpd="sng" algn="ctr">
                      <a:solidFill>
                        <a:srgbClr val="C9D7E3"/>
                      </a:solidFill>
                      <a:prstDash val="solid"/>
                      <a:round/>
                      <a:headEnd type="none" w="med" len="med"/>
                      <a:tailEnd type="none" w="med" len="med"/>
                    </a:lnB>
                    <a:solidFill>
                      <a:srgbClr val="FFFFFF"/>
                    </a:solidFill>
                  </a:tcPr>
                </a:tc>
                <a:tc>
                  <a:txBody>
                    <a:bodyPr/>
                    <a:lstStyle/>
                    <a:p>
                      <a:pPr indent="0" marL="0">
                        <a:buNone/>
                      </a:pPr>
                      <a:r>
                        <a:rPr lang="en-US" sz="1300" dirty="0">
                          <a:solidFill>
                            <a:srgbClr val="17334B"/>
                          </a:solidFill>
                          <a:latin typeface="Calibri" pitchFamily="34" charset="0"/>
                          <a:ea typeface="Calibri" pitchFamily="34" charset="-122"/>
                          <a:cs typeface="Calibri" pitchFamily="34" charset="-120"/>
                        </a:rPr>
                        <a:t>DHCP unreachable or off</a:t>
                      </a:r>
                      <a:endParaRPr lang="en-US" sz="1300" dirty="0">
                        <a:latin typeface="Calibri" charset="0"/>
                        <a:ea typeface="Calibri" charset="0"/>
                        <a:cs typeface="Calibri" charset="0"/>
                      </a:endParaRPr>
                    </a:p>
                  </a:txBody>
                  <a:tcPr marL="54864" marR="54864" marT="54864" marB="54864">
                    <a:lnL w="12700" cap="flat" cmpd="sng" algn="ctr">
                      <a:solidFill>
                        <a:srgbClr val="C9D7E3"/>
                      </a:solidFill>
                      <a:prstDash val="solid"/>
                      <a:round/>
                      <a:headEnd type="none" w="med" len="med"/>
                      <a:tailEnd type="none" w="med" len="med"/>
                    </a:lnL>
                    <a:lnR w="12700" cap="flat" cmpd="sng" algn="ctr">
                      <a:solidFill>
                        <a:srgbClr val="C9D7E3"/>
                      </a:solidFill>
                      <a:prstDash val="solid"/>
                      <a:round/>
                      <a:headEnd type="none" w="med" len="med"/>
                      <a:tailEnd type="none" w="med" len="med"/>
                    </a:lnR>
                    <a:lnT w="12700" cap="flat" cmpd="sng" algn="ctr">
                      <a:solidFill>
                        <a:srgbClr val="C9D7E3"/>
                      </a:solidFill>
                      <a:prstDash val="solid"/>
                      <a:round/>
                      <a:headEnd type="none" w="med" len="med"/>
                      <a:tailEnd type="none" w="med" len="med"/>
                    </a:lnT>
                    <a:lnB w="12700" cap="flat" cmpd="sng" algn="ctr">
                      <a:solidFill>
                        <a:srgbClr val="C9D7E3"/>
                      </a:solidFill>
                      <a:prstDash val="solid"/>
                      <a:round/>
                      <a:headEnd type="none" w="med" len="med"/>
                      <a:tailEnd type="none" w="med" len="med"/>
                    </a:lnB>
                    <a:solidFill>
                      <a:srgbClr val="FFFFFF"/>
                    </a:solidFill>
                  </a:tcPr>
                </a:tc>
                <a:tc>
                  <a:txBody>
                    <a:bodyPr/>
                    <a:lstStyle/>
                    <a:p>
                      <a:pPr indent="0" marL="0">
                        <a:buNone/>
                      </a:pPr>
                      <a:r>
                        <a:rPr lang="en-US" sz="1300" dirty="0">
                          <a:solidFill>
                            <a:srgbClr val="17334B"/>
                          </a:solidFill>
                          <a:latin typeface="Calibri" pitchFamily="34" charset="0"/>
                          <a:ea typeface="Calibri" pitchFamily="34" charset="-122"/>
                          <a:cs typeface="Calibri" pitchFamily="34" charset="-120"/>
                        </a:rPr>
                        <a:t>server Services tab; ipconfig /renew</a:t>
                      </a:r>
                      <a:endParaRPr lang="en-US" sz="1300" dirty="0">
                        <a:latin typeface="Calibri" charset="0"/>
                        <a:ea typeface="Calibri" charset="0"/>
                        <a:cs typeface="Calibri" charset="0"/>
                      </a:endParaRPr>
                    </a:p>
                  </a:txBody>
                  <a:tcPr marL="54864" marR="54864" marT="54864" marB="54864">
                    <a:lnL w="12700" cap="flat" cmpd="sng" algn="ctr">
                      <a:solidFill>
                        <a:srgbClr val="C9D7E3"/>
                      </a:solidFill>
                      <a:prstDash val="solid"/>
                      <a:round/>
                      <a:headEnd type="none" w="med" len="med"/>
                      <a:tailEnd type="none" w="med" len="med"/>
                    </a:lnL>
                    <a:lnR w="12700" cap="flat" cmpd="sng" algn="ctr">
                      <a:solidFill>
                        <a:srgbClr val="C9D7E3"/>
                      </a:solidFill>
                      <a:prstDash val="solid"/>
                      <a:round/>
                      <a:headEnd type="none" w="med" len="med"/>
                      <a:tailEnd type="none" w="med" len="med"/>
                    </a:lnR>
                    <a:lnT w="12700" cap="flat" cmpd="sng" algn="ctr">
                      <a:solidFill>
                        <a:srgbClr val="C9D7E3"/>
                      </a:solidFill>
                      <a:prstDash val="solid"/>
                      <a:round/>
                      <a:headEnd type="none" w="med" len="med"/>
                      <a:tailEnd type="none" w="med" len="med"/>
                    </a:lnT>
                    <a:lnB w="12700" cap="flat" cmpd="sng" algn="ctr">
                      <a:solidFill>
                        <a:srgbClr val="C9D7E3"/>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17334B"/>
                          </a:solidFill>
                          <a:latin typeface="Calibri" pitchFamily="34" charset="0"/>
                          <a:ea typeface="Calibri" pitchFamily="34" charset="-122"/>
                          <a:cs typeface="Calibri" pitchFamily="34" charset="-120"/>
                        </a:rPr>
                        <a:t>IP works, name fails</a:t>
                      </a:r>
                      <a:endParaRPr lang="en-US" sz="1300" dirty="0">
                        <a:latin typeface="Calibri" charset="0"/>
                        <a:ea typeface="Calibri" charset="0"/>
                        <a:cs typeface="Calibri" charset="0"/>
                      </a:endParaRPr>
                    </a:p>
                  </a:txBody>
                  <a:tcPr marL="54864" marR="54864" marT="54864" marB="54864">
                    <a:lnL w="12700" cap="flat" cmpd="sng" algn="ctr">
                      <a:solidFill>
                        <a:srgbClr val="C9D7E3"/>
                      </a:solidFill>
                      <a:prstDash val="solid"/>
                      <a:round/>
                      <a:headEnd type="none" w="med" len="med"/>
                      <a:tailEnd type="none" w="med" len="med"/>
                    </a:lnL>
                    <a:lnR w="12700" cap="flat" cmpd="sng" algn="ctr">
                      <a:solidFill>
                        <a:srgbClr val="C9D7E3"/>
                      </a:solidFill>
                      <a:prstDash val="solid"/>
                      <a:round/>
                      <a:headEnd type="none" w="med" len="med"/>
                      <a:tailEnd type="none" w="med" len="med"/>
                    </a:lnR>
                    <a:lnT w="12700" cap="flat" cmpd="sng" algn="ctr">
                      <a:solidFill>
                        <a:srgbClr val="C9D7E3"/>
                      </a:solidFill>
                      <a:prstDash val="solid"/>
                      <a:round/>
                      <a:headEnd type="none" w="med" len="med"/>
                      <a:tailEnd type="none" w="med" len="med"/>
                    </a:lnT>
                    <a:lnB w="12700" cap="flat" cmpd="sng" algn="ctr">
                      <a:solidFill>
                        <a:srgbClr val="C9D7E3"/>
                      </a:solidFill>
                      <a:prstDash val="solid"/>
                      <a:round/>
                      <a:headEnd type="none" w="med" len="med"/>
                      <a:tailEnd type="none" w="med" len="med"/>
                    </a:lnB>
                    <a:solidFill>
                      <a:srgbClr val="FFFFFF"/>
                    </a:solidFill>
                  </a:tcPr>
                </a:tc>
                <a:tc>
                  <a:txBody>
                    <a:bodyPr/>
                    <a:lstStyle/>
                    <a:p>
                      <a:pPr indent="0" marL="0">
                        <a:buNone/>
                      </a:pPr>
                      <a:r>
                        <a:rPr lang="en-US" sz="1300" dirty="0">
                          <a:solidFill>
                            <a:srgbClr val="17334B"/>
                          </a:solidFill>
                          <a:latin typeface="Calibri" pitchFamily="34" charset="0"/>
                          <a:ea typeface="Calibri" pitchFamily="34" charset="-122"/>
                          <a:cs typeface="Calibri" pitchFamily="34" charset="-120"/>
                        </a:rPr>
                        <a:t>DNS record or server wrong</a:t>
                      </a:r>
                      <a:endParaRPr lang="en-US" sz="1300" dirty="0">
                        <a:latin typeface="Calibri" charset="0"/>
                        <a:ea typeface="Calibri" charset="0"/>
                        <a:cs typeface="Calibri" charset="0"/>
                      </a:endParaRPr>
                    </a:p>
                  </a:txBody>
                  <a:tcPr marL="54864" marR="54864" marT="54864" marB="54864">
                    <a:lnL w="12700" cap="flat" cmpd="sng" algn="ctr">
                      <a:solidFill>
                        <a:srgbClr val="C9D7E3"/>
                      </a:solidFill>
                      <a:prstDash val="solid"/>
                      <a:round/>
                      <a:headEnd type="none" w="med" len="med"/>
                      <a:tailEnd type="none" w="med" len="med"/>
                    </a:lnL>
                    <a:lnR w="12700" cap="flat" cmpd="sng" algn="ctr">
                      <a:solidFill>
                        <a:srgbClr val="C9D7E3"/>
                      </a:solidFill>
                      <a:prstDash val="solid"/>
                      <a:round/>
                      <a:headEnd type="none" w="med" len="med"/>
                      <a:tailEnd type="none" w="med" len="med"/>
                    </a:lnR>
                    <a:lnT w="12700" cap="flat" cmpd="sng" algn="ctr">
                      <a:solidFill>
                        <a:srgbClr val="C9D7E3"/>
                      </a:solidFill>
                      <a:prstDash val="solid"/>
                      <a:round/>
                      <a:headEnd type="none" w="med" len="med"/>
                      <a:tailEnd type="none" w="med" len="med"/>
                    </a:lnT>
                    <a:lnB w="12700" cap="flat" cmpd="sng" algn="ctr">
                      <a:solidFill>
                        <a:srgbClr val="C9D7E3"/>
                      </a:solidFill>
                      <a:prstDash val="solid"/>
                      <a:round/>
                      <a:headEnd type="none" w="med" len="med"/>
                      <a:tailEnd type="none" w="med" len="med"/>
                    </a:lnB>
                    <a:solidFill>
                      <a:srgbClr val="FFFFFF"/>
                    </a:solidFill>
                  </a:tcPr>
                </a:tc>
                <a:tc>
                  <a:txBody>
                    <a:bodyPr/>
                    <a:lstStyle/>
                    <a:p>
                      <a:pPr indent="0" marL="0">
                        <a:buNone/>
                      </a:pPr>
                      <a:r>
                        <a:rPr lang="en-US" sz="1300" dirty="0">
                          <a:solidFill>
                            <a:srgbClr val="17334B"/>
                          </a:solidFill>
                          <a:latin typeface="Calibri" pitchFamily="34" charset="0"/>
                          <a:ea typeface="Calibri" pitchFamily="34" charset="-122"/>
                          <a:cs typeface="Calibri" pitchFamily="34" charset="-120"/>
                        </a:rPr>
                        <a:t>nslookup</a:t>
                      </a:r>
                      <a:endParaRPr lang="en-US" sz="1300" dirty="0">
                        <a:latin typeface="Calibri" charset="0"/>
                        <a:ea typeface="Calibri" charset="0"/>
                        <a:cs typeface="Calibri" charset="0"/>
                      </a:endParaRPr>
                    </a:p>
                  </a:txBody>
                  <a:tcPr marL="54864" marR="54864" marT="54864" marB="54864">
                    <a:lnL w="12700" cap="flat" cmpd="sng" algn="ctr">
                      <a:solidFill>
                        <a:srgbClr val="C9D7E3"/>
                      </a:solidFill>
                      <a:prstDash val="solid"/>
                      <a:round/>
                      <a:headEnd type="none" w="med" len="med"/>
                      <a:tailEnd type="none" w="med" len="med"/>
                    </a:lnL>
                    <a:lnR w="12700" cap="flat" cmpd="sng" algn="ctr">
                      <a:solidFill>
                        <a:srgbClr val="C9D7E3"/>
                      </a:solidFill>
                      <a:prstDash val="solid"/>
                      <a:round/>
                      <a:headEnd type="none" w="med" len="med"/>
                      <a:tailEnd type="none" w="med" len="med"/>
                    </a:lnR>
                    <a:lnT w="12700" cap="flat" cmpd="sng" algn="ctr">
                      <a:solidFill>
                        <a:srgbClr val="C9D7E3"/>
                      </a:solidFill>
                      <a:prstDash val="solid"/>
                      <a:round/>
                      <a:headEnd type="none" w="med" len="med"/>
                      <a:tailEnd type="none" w="med" len="med"/>
                    </a:lnT>
                    <a:lnB w="12700" cap="flat" cmpd="sng" algn="ctr">
                      <a:solidFill>
                        <a:srgbClr val="C9D7E3"/>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17334B"/>
                          </a:solidFill>
                          <a:latin typeface="Calibri" pitchFamily="34" charset="0"/>
                          <a:ea typeface="Calibri" pitchFamily="34" charset="-122"/>
                          <a:cs typeface="Calibri" pitchFamily="34" charset="-120"/>
                        </a:rPr>
                        <a:t>Laptop won’t join Wi-Fi</a:t>
                      </a:r>
                      <a:endParaRPr lang="en-US" sz="1300" dirty="0">
                        <a:latin typeface="Calibri" charset="0"/>
                        <a:ea typeface="Calibri" charset="0"/>
                        <a:cs typeface="Calibri" charset="0"/>
                      </a:endParaRPr>
                    </a:p>
                  </a:txBody>
                  <a:tcPr marL="54864" marR="54864" marT="54864" marB="54864">
                    <a:lnL w="12700" cap="flat" cmpd="sng" algn="ctr">
                      <a:solidFill>
                        <a:srgbClr val="C9D7E3"/>
                      </a:solidFill>
                      <a:prstDash val="solid"/>
                      <a:round/>
                      <a:headEnd type="none" w="med" len="med"/>
                      <a:tailEnd type="none" w="med" len="med"/>
                    </a:lnL>
                    <a:lnR w="12700" cap="flat" cmpd="sng" algn="ctr">
                      <a:solidFill>
                        <a:srgbClr val="C9D7E3"/>
                      </a:solidFill>
                      <a:prstDash val="solid"/>
                      <a:round/>
                      <a:headEnd type="none" w="med" len="med"/>
                      <a:tailEnd type="none" w="med" len="med"/>
                    </a:lnR>
                    <a:lnT w="12700" cap="flat" cmpd="sng" algn="ctr">
                      <a:solidFill>
                        <a:srgbClr val="C9D7E3"/>
                      </a:solidFill>
                      <a:prstDash val="solid"/>
                      <a:round/>
                      <a:headEnd type="none" w="med" len="med"/>
                      <a:tailEnd type="none" w="med" len="med"/>
                    </a:lnT>
                    <a:lnB w="12700" cap="flat" cmpd="sng" algn="ctr">
                      <a:solidFill>
                        <a:srgbClr val="C9D7E3"/>
                      </a:solidFill>
                      <a:prstDash val="solid"/>
                      <a:round/>
                      <a:headEnd type="none" w="med" len="med"/>
                      <a:tailEnd type="none" w="med" len="med"/>
                    </a:lnB>
                    <a:solidFill>
                      <a:srgbClr val="FFFFFF"/>
                    </a:solidFill>
                  </a:tcPr>
                </a:tc>
                <a:tc>
                  <a:txBody>
                    <a:bodyPr/>
                    <a:lstStyle/>
                    <a:p>
                      <a:pPr indent="0" marL="0">
                        <a:buNone/>
                      </a:pPr>
                      <a:r>
                        <a:rPr lang="en-US" sz="1300" dirty="0">
                          <a:solidFill>
                            <a:srgbClr val="17334B"/>
                          </a:solidFill>
                          <a:latin typeface="Calibri" pitchFamily="34" charset="0"/>
                          <a:ea typeface="Calibri" pitchFamily="34" charset="-122"/>
                          <a:cs typeface="Calibri" pitchFamily="34" charset="-120"/>
                        </a:rPr>
                        <a:t>SSID or passphrase mismatch</a:t>
                      </a:r>
                      <a:endParaRPr lang="en-US" sz="1300" dirty="0">
                        <a:latin typeface="Calibri" charset="0"/>
                        <a:ea typeface="Calibri" charset="0"/>
                        <a:cs typeface="Calibri" charset="0"/>
                      </a:endParaRPr>
                    </a:p>
                  </a:txBody>
                  <a:tcPr marL="54864" marR="54864" marT="54864" marB="54864">
                    <a:lnL w="12700" cap="flat" cmpd="sng" algn="ctr">
                      <a:solidFill>
                        <a:srgbClr val="C9D7E3"/>
                      </a:solidFill>
                      <a:prstDash val="solid"/>
                      <a:round/>
                      <a:headEnd type="none" w="med" len="med"/>
                      <a:tailEnd type="none" w="med" len="med"/>
                    </a:lnL>
                    <a:lnR w="12700" cap="flat" cmpd="sng" algn="ctr">
                      <a:solidFill>
                        <a:srgbClr val="C9D7E3"/>
                      </a:solidFill>
                      <a:prstDash val="solid"/>
                      <a:round/>
                      <a:headEnd type="none" w="med" len="med"/>
                      <a:tailEnd type="none" w="med" len="med"/>
                    </a:lnR>
                    <a:lnT w="12700" cap="flat" cmpd="sng" algn="ctr">
                      <a:solidFill>
                        <a:srgbClr val="C9D7E3"/>
                      </a:solidFill>
                      <a:prstDash val="solid"/>
                      <a:round/>
                      <a:headEnd type="none" w="med" len="med"/>
                      <a:tailEnd type="none" w="med" len="med"/>
                    </a:lnT>
                    <a:lnB w="12700" cap="flat" cmpd="sng" algn="ctr">
                      <a:solidFill>
                        <a:srgbClr val="C9D7E3"/>
                      </a:solidFill>
                      <a:prstDash val="solid"/>
                      <a:round/>
                      <a:headEnd type="none" w="med" len="med"/>
                      <a:tailEnd type="none" w="med" len="med"/>
                    </a:lnB>
                    <a:solidFill>
                      <a:srgbClr val="FFFFFF"/>
                    </a:solidFill>
                  </a:tcPr>
                </a:tc>
                <a:tc>
                  <a:txBody>
                    <a:bodyPr/>
                    <a:lstStyle/>
                    <a:p>
                      <a:pPr indent="0" marL="0">
                        <a:buNone/>
                      </a:pPr>
                      <a:r>
                        <a:rPr lang="en-US" sz="1300" dirty="0">
                          <a:solidFill>
                            <a:srgbClr val="17334B"/>
                          </a:solidFill>
                          <a:latin typeface="Calibri" pitchFamily="34" charset="0"/>
                          <a:ea typeface="Calibri" pitchFamily="34" charset="-122"/>
                          <a:cs typeface="Calibri" pitchFamily="34" charset="-120"/>
                        </a:rPr>
                        <a:t>AP and laptop wireless settings</a:t>
                      </a:r>
                      <a:endParaRPr lang="en-US" sz="1300" dirty="0">
                        <a:latin typeface="Calibri" charset="0"/>
                        <a:ea typeface="Calibri" charset="0"/>
                        <a:cs typeface="Calibri" charset="0"/>
                      </a:endParaRPr>
                    </a:p>
                  </a:txBody>
                  <a:tcPr marL="54864" marR="54864" marT="54864" marB="54864">
                    <a:lnL w="12700" cap="flat" cmpd="sng" algn="ctr">
                      <a:solidFill>
                        <a:srgbClr val="C9D7E3"/>
                      </a:solidFill>
                      <a:prstDash val="solid"/>
                      <a:round/>
                      <a:headEnd type="none" w="med" len="med"/>
                      <a:tailEnd type="none" w="med" len="med"/>
                    </a:lnL>
                    <a:lnR w="12700" cap="flat" cmpd="sng" algn="ctr">
                      <a:solidFill>
                        <a:srgbClr val="C9D7E3"/>
                      </a:solidFill>
                      <a:prstDash val="solid"/>
                      <a:round/>
                      <a:headEnd type="none" w="med" len="med"/>
                      <a:tailEnd type="none" w="med" len="med"/>
                    </a:lnR>
                    <a:lnT w="12700" cap="flat" cmpd="sng" algn="ctr">
                      <a:solidFill>
                        <a:srgbClr val="C9D7E3"/>
                      </a:solidFill>
                      <a:prstDash val="solid"/>
                      <a:round/>
                      <a:headEnd type="none" w="med" len="med"/>
                      <a:tailEnd type="none" w="med" len="med"/>
                    </a:lnT>
                    <a:lnB w="12700" cap="flat" cmpd="sng" algn="ctr">
                      <a:solidFill>
                        <a:srgbClr val="C9D7E3"/>
                      </a:solidFill>
                      <a:prstDash val="solid"/>
                      <a:round/>
                      <a:headEnd type="none" w="med" len="med"/>
                      <a:tailEnd type="none" w="med" len="med"/>
                    </a:lnB>
                    <a:solidFill>
                      <a:srgbClr val="FFFFFF"/>
                    </a:solidFill>
                  </a:tcPr>
                </a:tc>
              </a:tr>
            </a:tbl>
          </a:graphicData>
        </a:graphic>
      </p:graphicFrame>
      <p:sp>
        <p:nvSpPr>
          <p:cNvPr id="19" name="Shape 16"/>
          <p:cNvSpPr/>
          <p:nvPr/>
        </p:nvSpPr>
        <p:spPr>
          <a:xfrm>
            <a:off x="8183880" y="2880360"/>
            <a:ext cx="3456432" cy="3017520"/>
          </a:xfrm>
          <a:prstGeom prst="roundRect">
            <a:avLst>
              <a:gd name="adj" fmla="val 3030"/>
            </a:avLst>
          </a:prstGeom>
          <a:solidFill>
            <a:srgbClr val="E6F4F1"/>
          </a:solidFill>
          <a:ln w="12700">
            <a:solidFill>
              <a:srgbClr val="E6F4F1"/>
            </a:solidFill>
            <a:prstDash val="solid"/>
          </a:ln>
        </p:spPr>
      </p:sp>
      <p:sp>
        <p:nvSpPr>
          <p:cNvPr id="20" name="Text 17"/>
          <p:cNvSpPr txBox="1"/>
          <p:nvPr/>
        </p:nvSpPr>
        <p:spPr>
          <a:xfrm>
            <a:off x="8348472" y="2990088"/>
            <a:ext cx="3127248" cy="2798064"/>
          </a:xfrm>
          <a:prstGeom prst="rect">
            <a:avLst/>
          </a:prstGeom>
          <a:noFill/>
          <a:ln/>
        </p:spPr>
        <p:txBody>
          <a:bodyPr wrap="square" lIns="0" tIns="0" rIns="0" bIns="0" rtlCol="0" anchor="t"/>
          <a:lstStyle/>
          <a:p>
            <a:pPr indent="0" marL="0">
              <a:spcAft>
                <a:spcPts val="400"/>
              </a:spcAft>
              <a:buNone/>
            </a:pPr>
            <a:r>
              <a:rPr lang="en-US" sz="1500" b="1" dirty="0">
                <a:solidFill>
                  <a:srgbClr val="20857B"/>
                </a:solidFill>
                <a:latin typeface="Calibri" pitchFamily="34" charset="0"/>
                <a:ea typeface="Calibri" pitchFamily="34" charset="-122"/>
                <a:cs typeface="Calibri" pitchFamily="34" charset="-120"/>
              </a:rPr>
              <a:t>Optimise (C.M3)</a:t>
            </a:r>
            <a:endParaRPr lang="en-US" sz="1500" dirty="0"/>
          </a:p>
          <a:p>
            <a:pPr indent="0" marL="0">
              <a:spcAft>
                <a:spcPts val="400"/>
              </a:spcAft>
              <a:buNone/>
            </a:pPr>
            <a:r>
              <a:rPr lang="en-US" sz="1300" dirty="0">
                <a:solidFill>
                  <a:srgbClr val="17334B"/>
                </a:solidFill>
                <a:latin typeface="Calibri" pitchFamily="34" charset="0"/>
                <a:ea typeface="Calibri" pitchFamily="34" charset="-122"/>
                <a:cs typeface="Calibri" pitchFamily="34" charset="-120"/>
              </a:rPr>
              <a:t>Base changes on test results: voice VLAN, shut unused ports, SSH not Telnet, extra AP for weak signal, reserved printer addresses. Re-test to prove the gain.</a:t>
            </a:r>
            <a:endParaRPr lang="en-US" sz="15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548640" y="164592"/>
            <a:ext cx="914400" cy="310896"/>
          </a:xfrm>
          <a:prstGeom prst="roundRect">
            <a:avLst>
              <a:gd name="adj" fmla="val 23529"/>
            </a:avLst>
          </a:prstGeom>
          <a:solidFill>
            <a:srgbClr val="20857B"/>
          </a:solidFill>
          <a:ln w="12700">
            <a:solidFill>
              <a:srgbClr val="20857B"/>
            </a:solidFill>
            <a:prstDash val="solid"/>
          </a:ln>
        </p:spPr>
      </p:sp>
      <p:sp>
        <p:nvSpPr>
          <p:cNvPr id="3" name="Text 1"/>
          <p:cNvSpPr txBox="1"/>
          <p:nvPr/>
        </p:nvSpPr>
        <p:spPr>
          <a:xfrm>
            <a:off x="548640" y="164592"/>
            <a:ext cx="91440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C3</a:t>
            </a:r>
            <a:endParaRPr lang="en-US" sz="1200" dirty="0"/>
          </a:p>
        </p:txBody>
      </p:sp>
      <p:sp>
        <p:nvSpPr>
          <p:cNvPr id="4" name="Text 2"/>
          <p:cNvSpPr txBox="1"/>
          <p:nvPr/>
        </p:nvSpPr>
        <p:spPr>
          <a:xfrm>
            <a:off x="548640" y="502920"/>
            <a:ext cx="11094415" cy="731520"/>
          </a:xfrm>
          <a:prstGeom prst="rect">
            <a:avLst/>
          </a:prstGeom>
          <a:noFill/>
          <a:ln/>
        </p:spPr>
        <p:txBody>
          <a:bodyPr wrap="square" lIns="0" tIns="0" rIns="0" bIns="0" rtlCol="0" anchor="ctr"/>
          <a:lstStyle/>
          <a:p>
            <a:pPr indent="0" marL="0">
              <a:buNone/>
            </a:pPr>
            <a:r>
              <a:rPr lang="en-US" sz="2800" b="1" dirty="0">
                <a:solidFill>
                  <a:srgbClr val="17334B"/>
                </a:solidFill>
                <a:latin typeface="Cambria" pitchFamily="34" charset="0"/>
                <a:ea typeface="Cambria" pitchFamily="34" charset="-122"/>
                <a:cs typeface="Cambria" pitchFamily="34" charset="-120"/>
              </a:rPr>
              <a:t>Monitoring, evaluation and self-management</a:t>
            </a:r>
            <a:endParaRPr lang="en-US" sz="2800" dirty="0"/>
          </a:p>
        </p:txBody>
      </p:sp>
      <p:sp>
        <p:nvSpPr>
          <p:cNvPr id="5" name="Text 3"/>
          <p:cNvSpPr txBox="1"/>
          <p:nvPr/>
        </p:nvSpPr>
        <p:spPr>
          <a:xfrm>
            <a:off x="548640" y="1188720"/>
            <a:ext cx="4937760" cy="548640"/>
          </a:xfrm>
          <a:prstGeom prst="rect">
            <a:avLst/>
          </a:prstGeom>
          <a:noFill/>
          <a:ln/>
        </p:spPr>
        <p:txBody>
          <a:bodyPr wrap="square" lIns="0" tIns="0" rIns="0" bIns="0" rtlCol="0" anchor="t"/>
          <a:lstStyle/>
          <a:p>
            <a:pPr indent="0" marL="0">
              <a:buNone/>
            </a:pPr>
            <a:r>
              <a:rPr lang="en-US" sz="1400" i="1" dirty="0">
                <a:solidFill>
                  <a:srgbClr val="4F6577"/>
                </a:solidFill>
                <a:latin typeface="Calibri" pitchFamily="34" charset="0"/>
                <a:ea typeface="Calibri" pitchFamily="34" charset="-122"/>
                <a:cs typeface="Calibri" pitchFamily="34" charset="-120"/>
              </a:rPr>
              <a:t>Aim: baseline and monitor the network, evaluate it against requirements, and evidence self-management</a:t>
            </a:r>
            <a:endParaRPr lang="en-US" sz="1400" dirty="0"/>
          </a:p>
        </p:txBody>
      </p:sp>
      <p:sp>
        <p:nvSpPr>
          <p:cNvPr id="6" name="Text 4"/>
          <p:cNvSpPr txBox="1"/>
          <p:nvPr/>
        </p:nvSpPr>
        <p:spPr>
          <a:xfrm>
            <a:off x="548640" y="1783080"/>
            <a:ext cx="4846320" cy="3108960"/>
          </a:xfrm>
          <a:prstGeom prst="rect">
            <a:avLst/>
          </a:prstGeom>
          <a:noFill/>
          <a:ln/>
        </p:spPr>
        <p:txBody>
          <a:bodyPr wrap="square" lIns="635" tIns="635" rIns="635" bIns="635" rtlCol="0" anchor="t"/>
          <a:lstStyle/>
          <a:p>
            <a:pPr marL="342900" indent="-342900">
              <a:spcAft>
                <a:spcPts val="600"/>
              </a:spcAft>
              <a:buSzPct val="100000"/>
              <a:buChar char="•"/>
            </a:pPr>
            <a:r>
              <a:rPr lang="en-US" sz="1600" dirty="0">
                <a:solidFill>
                  <a:srgbClr val="17334B"/>
                </a:solidFill>
                <a:latin typeface="Calibri" pitchFamily="34" charset="0"/>
                <a:ea typeface="Calibri" pitchFamily="34" charset="-122"/>
                <a:cs typeface="Calibri" pitchFamily="34" charset="-120"/>
              </a:rPr>
              <a:t>Baseline: normal bandwidth, latency, CPU, memory, disk</a:t>
            </a:r>
            <a:endParaRPr lang="en-US" sz="1600" dirty="0"/>
          </a:p>
          <a:p>
            <a:pPr marL="342900" indent="-342900">
              <a:spcAft>
                <a:spcPts val="600"/>
              </a:spcAft>
              <a:buSzPct val="100000"/>
              <a:buChar char="•"/>
            </a:pPr>
            <a:r>
              <a:rPr lang="en-US" sz="1600" dirty="0">
                <a:solidFill>
                  <a:srgbClr val="17334B"/>
                </a:solidFill>
                <a:latin typeface="Calibri" pitchFamily="34" charset="0"/>
                <a:ea typeface="Calibri" pitchFamily="34" charset="-122"/>
                <a:cs typeface="Calibri" pitchFamily="34" charset="-120"/>
              </a:rPr>
              <a:t>Monitor and review event logs regularly</a:t>
            </a:r>
            <a:endParaRPr lang="en-US" sz="1600" dirty="0"/>
          </a:p>
          <a:p>
            <a:pPr marL="342900" indent="-342900">
              <a:spcAft>
                <a:spcPts val="600"/>
              </a:spcAft>
              <a:buSzPct val="100000"/>
              <a:buChar char="•"/>
            </a:pPr>
            <a:r>
              <a:rPr lang="en-US" sz="1600" dirty="0">
                <a:solidFill>
                  <a:srgbClr val="17334B"/>
                </a:solidFill>
                <a:latin typeface="Calibri" pitchFamily="34" charset="0"/>
                <a:ea typeface="Calibri" pitchFamily="34" charset="-122"/>
                <a:cs typeface="Calibri" pitchFamily="34" charset="-120"/>
              </a:rPr>
              <a:t>Review: how far each requirement is met (C.P7)</a:t>
            </a:r>
            <a:endParaRPr lang="en-US" sz="1600" dirty="0"/>
          </a:p>
          <a:p>
            <a:pPr marL="342900" indent="-342900">
              <a:spcAft>
                <a:spcPts val="600"/>
              </a:spcAft>
              <a:buSzPct val="100000"/>
              <a:buChar char="•"/>
            </a:pPr>
            <a:r>
              <a:rPr lang="en-US" sz="1600" dirty="0">
                <a:solidFill>
                  <a:srgbClr val="17334B"/>
                </a:solidFill>
                <a:latin typeface="Calibri" pitchFamily="34" charset="0"/>
                <a:ea typeface="Calibri" pitchFamily="34" charset="-122"/>
                <a:cs typeface="Calibri" pitchFamily="34" charset="-120"/>
              </a:rPr>
              <a:t>Evaluate: strengths and weaknesses with evidence from every stage, conclusions, future work (BC.D2)</a:t>
            </a:r>
            <a:endParaRPr lang="en-US" sz="1600" dirty="0"/>
          </a:p>
          <a:p>
            <a:pPr marL="342900" indent="-342900">
              <a:spcAft>
                <a:spcPts val="600"/>
              </a:spcAft>
              <a:buSzPct val="100000"/>
              <a:buChar char="•"/>
            </a:pPr>
            <a:r>
              <a:rPr lang="en-US" sz="1600" dirty="0">
                <a:solidFill>
                  <a:srgbClr val="17334B"/>
                </a:solidFill>
                <a:latin typeface="Calibri" pitchFamily="34" charset="0"/>
                <a:ea typeface="Calibri" pitchFamily="34" charset="-122"/>
                <a:cs typeface="Calibri" pitchFamily="34" charset="-120"/>
              </a:rPr>
              <a:t>Portfolio: plan, diary, peer feedback, witness statement (BC.D3)</a:t>
            </a:r>
            <a:endParaRPr lang="en-US" sz="1600" dirty="0"/>
          </a:p>
        </p:txBody>
      </p:sp>
      <p:pic>
        <p:nvPicPr>
          <p:cNvPr id="7" name="Image 0" descr="/private/tmp/claude-501/-Users-johnaikeremiokha-code-Claude-Project/bf844d04-1b41-4e28-bbaa-8211504dbf91/scratchpad/deck/figs/baseline_fig.png">    </p:cNvPr>
          <p:cNvPicPr>
            <a:picLocks noChangeAspect="1"/>
          </p:cNvPicPr>
          <p:nvPr/>
        </p:nvPicPr>
        <p:blipFill>
          <a:blip r:embed="rId1"/>
          <a:stretch>
            <a:fillRect/>
          </a:stretch>
        </p:blipFill>
        <p:spPr>
          <a:xfrm>
            <a:off x="5715000" y="1188720"/>
            <a:ext cx="5925312" cy="1949116"/>
          </a:xfrm>
          <a:prstGeom prst="rect">
            <a:avLst/>
          </a:prstGeom>
        </p:spPr>
      </p:pic>
      <p:sp>
        <p:nvSpPr>
          <p:cNvPr id="8" name="Shape 5"/>
          <p:cNvSpPr/>
          <p:nvPr/>
        </p:nvSpPr>
        <p:spPr>
          <a:xfrm>
            <a:off x="548640" y="5074920"/>
            <a:ext cx="3515258" cy="1234440"/>
          </a:xfrm>
          <a:prstGeom prst="roundRect">
            <a:avLst>
              <a:gd name="adj" fmla="val 7407"/>
            </a:avLst>
          </a:prstGeom>
          <a:solidFill>
            <a:srgbClr val="EAF2F9"/>
          </a:solidFill>
          <a:ln w="12700">
            <a:solidFill>
              <a:srgbClr val="EAF2F9"/>
            </a:solidFill>
            <a:prstDash val="solid"/>
          </a:ln>
        </p:spPr>
      </p:sp>
      <p:sp>
        <p:nvSpPr>
          <p:cNvPr id="9" name="Text 6"/>
          <p:cNvSpPr txBox="1"/>
          <p:nvPr/>
        </p:nvSpPr>
        <p:spPr>
          <a:xfrm>
            <a:off x="713232" y="5184648"/>
            <a:ext cx="3186074" cy="1014984"/>
          </a:xfrm>
          <a:prstGeom prst="rect">
            <a:avLst/>
          </a:prstGeom>
          <a:noFill/>
          <a:ln/>
        </p:spPr>
        <p:txBody>
          <a:bodyPr wrap="square" lIns="0" tIns="0" rIns="0" bIns="0" rtlCol="0" anchor="t"/>
          <a:lstStyle/>
          <a:p>
            <a:pPr indent="0" marL="0">
              <a:spcAft>
                <a:spcPts val="400"/>
              </a:spcAft>
              <a:buNone/>
            </a:pPr>
            <a:r>
              <a:rPr lang="en-US" sz="1400" b="1" dirty="0">
                <a:solidFill>
                  <a:srgbClr val="12324F"/>
                </a:solidFill>
                <a:latin typeface="Calibri" pitchFamily="34" charset="0"/>
                <a:ea typeface="Calibri" pitchFamily="34" charset="-122"/>
                <a:cs typeface="Calibri" pitchFamily="34" charset="-120"/>
              </a:rPr>
              <a:t>Task</a:t>
            </a:r>
            <a:endParaRPr lang="en-US" sz="1400" dirty="0"/>
          </a:p>
          <a:p>
            <a:pPr indent="0" marL="0">
              <a:spcAft>
                <a:spcPts val="400"/>
              </a:spcAft>
              <a:buNone/>
            </a:pPr>
            <a:r>
              <a:rPr lang="en-US" sz="1200" dirty="0">
                <a:solidFill>
                  <a:srgbClr val="17334B"/>
                </a:solidFill>
                <a:latin typeface="Calibri" pitchFamily="34" charset="0"/>
                <a:ea typeface="Calibri" pitchFamily="34" charset="-122"/>
                <a:cs typeface="Calibri" pitchFamily="34" charset="-120"/>
              </a:rPr>
              <a:t>One row of an evaluation grid for a practice network.</a:t>
            </a:r>
            <a:endParaRPr lang="en-US" sz="1400" dirty="0"/>
          </a:p>
        </p:txBody>
      </p:sp>
      <p:sp>
        <p:nvSpPr>
          <p:cNvPr id="10" name="Shape 7"/>
          <p:cNvSpPr/>
          <p:nvPr/>
        </p:nvSpPr>
        <p:spPr>
          <a:xfrm>
            <a:off x="4338218" y="5074920"/>
            <a:ext cx="3515258" cy="1234440"/>
          </a:xfrm>
          <a:prstGeom prst="roundRect">
            <a:avLst>
              <a:gd name="adj" fmla="val 7407"/>
            </a:avLst>
          </a:prstGeom>
          <a:solidFill>
            <a:srgbClr val="E6F4F1"/>
          </a:solidFill>
          <a:ln w="12700">
            <a:solidFill>
              <a:srgbClr val="E6F4F1"/>
            </a:solidFill>
            <a:prstDash val="solid"/>
          </a:ln>
        </p:spPr>
      </p:sp>
      <p:sp>
        <p:nvSpPr>
          <p:cNvPr id="11" name="Text 8"/>
          <p:cNvSpPr txBox="1"/>
          <p:nvPr/>
        </p:nvSpPr>
        <p:spPr>
          <a:xfrm>
            <a:off x="4502810" y="5184648"/>
            <a:ext cx="3186074" cy="1014984"/>
          </a:xfrm>
          <a:prstGeom prst="rect">
            <a:avLst/>
          </a:prstGeom>
          <a:noFill/>
          <a:ln/>
        </p:spPr>
        <p:txBody>
          <a:bodyPr wrap="square" lIns="0" tIns="0" rIns="0" bIns="0" rtlCol="0" anchor="t"/>
          <a:lstStyle/>
          <a:p>
            <a:pPr indent="0" marL="0">
              <a:spcAft>
                <a:spcPts val="400"/>
              </a:spcAft>
              <a:buNone/>
            </a:pPr>
            <a:r>
              <a:rPr lang="en-US" sz="1400" b="1" dirty="0">
                <a:solidFill>
                  <a:srgbClr val="12324F"/>
                </a:solidFill>
                <a:latin typeface="Calibri" pitchFamily="34" charset="0"/>
                <a:ea typeface="Calibri" pitchFamily="34" charset="-122"/>
                <a:cs typeface="Calibri" pitchFamily="34" charset="-120"/>
              </a:rPr>
              <a:t>Tool</a:t>
            </a:r>
            <a:endParaRPr lang="en-US" sz="1400" dirty="0"/>
          </a:p>
          <a:p>
            <a:pPr indent="0" marL="0">
              <a:spcAft>
                <a:spcPts val="400"/>
              </a:spcAft>
              <a:buNone/>
            </a:pPr>
            <a:r>
              <a:rPr lang="en-US" sz="1200" dirty="0">
                <a:solidFill>
                  <a:srgbClr val="17334B"/>
                </a:solidFill>
                <a:latin typeface="Calibri" pitchFamily="34" charset="0"/>
                <a:ea typeface="Calibri" pitchFamily="34" charset="-122"/>
                <a:cs typeface="Calibri" pitchFamily="34" charset="-120"/>
              </a:rPr>
              <a:t>Builder evaluation grid is pre-filled with every client requirement.</a:t>
            </a:r>
            <a:endParaRPr lang="en-US" sz="1400" dirty="0"/>
          </a:p>
        </p:txBody>
      </p:sp>
      <p:sp>
        <p:nvSpPr>
          <p:cNvPr id="12" name="Shape 9"/>
          <p:cNvSpPr/>
          <p:nvPr/>
        </p:nvSpPr>
        <p:spPr>
          <a:xfrm>
            <a:off x="8127797" y="5074920"/>
            <a:ext cx="3515258" cy="1234440"/>
          </a:xfrm>
          <a:prstGeom prst="roundRect">
            <a:avLst>
              <a:gd name="adj" fmla="val 7407"/>
            </a:avLst>
          </a:prstGeom>
          <a:solidFill>
            <a:srgbClr val="FDF1E7"/>
          </a:solidFill>
          <a:ln w="12700">
            <a:solidFill>
              <a:srgbClr val="FDF1E7"/>
            </a:solidFill>
            <a:prstDash val="solid"/>
          </a:ln>
        </p:spPr>
      </p:sp>
      <p:sp>
        <p:nvSpPr>
          <p:cNvPr id="13" name="Text 10"/>
          <p:cNvSpPr txBox="1"/>
          <p:nvPr/>
        </p:nvSpPr>
        <p:spPr>
          <a:xfrm>
            <a:off x="8292389" y="5184648"/>
            <a:ext cx="3186074" cy="1014984"/>
          </a:xfrm>
          <a:prstGeom prst="rect">
            <a:avLst/>
          </a:prstGeom>
          <a:noFill/>
          <a:ln/>
        </p:spPr>
        <p:txBody>
          <a:bodyPr wrap="square" lIns="0" tIns="0" rIns="0" bIns="0" rtlCol="0" anchor="t"/>
          <a:lstStyle/>
          <a:p>
            <a:pPr indent="0" marL="0">
              <a:spcAft>
                <a:spcPts val="400"/>
              </a:spcAft>
              <a:buNone/>
            </a:pPr>
            <a:r>
              <a:rPr lang="en-US" sz="1400" b="1" dirty="0">
                <a:solidFill>
                  <a:srgbClr val="12324F"/>
                </a:solidFill>
                <a:latin typeface="Calibri" pitchFamily="34" charset="0"/>
                <a:ea typeface="Calibri" pitchFamily="34" charset="-122"/>
                <a:cs typeface="Calibri" pitchFamily="34" charset="-120"/>
              </a:rPr>
              <a:t>Habit</a:t>
            </a:r>
            <a:endParaRPr lang="en-US" sz="1400" dirty="0"/>
          </a:p>
          <a:p>
            <a:pPr indent="0" marL="0">
              <a:spcAft>
                <a:spcPts val="400"/>
              </a:spcAft>
              <a:buNone/>
            </a:pPr>
            <a:r>
              <a:rPr lang="en-US" sz="1200" dirty="0">
                <a:solidFill>
                  <a:srgbClr val="17334B"/>
                </a:solidFill>
                <a:latin typeface="Calibri" pitchFamily="34" charset="0"/>
                <a:ea typeface="Calibri" pitchFamily="34" charset="-122"/>
                <a:cs typeface="Calibri" pitchFamily="34" charset="-120"/>
              </a:rPr>
              <a:t>Diary entry at the end of every Assignment 2 lesson.</a:t>
            </a:r>
            <a:endParaRPr lang="en-US" sz="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548640" y="164592"/>
            <a:ext cx="914400" cy="310896"/>
          </a:xfrm>
          <a:prstGeom prst="roundRect">
            <a:avLst>
              <a:gd name="adj" fmla="val 23529"/>
            </a:avLst>
          </a:prstGeom>
          <a:solidFill>
            <a:srgbClr val="20857B"/>
          </a:solidFill>
          <a:ln w="12700">
            <a:solidFill>
              <a:srgbClr val="20857B"/>
            </a:solidFill>
            <a:prstDash val="solid"/>
          </a:ln>
        </p:spPr>
      </p:sp>
      <p:sp>
        <p:nvSpPr>
          <p:cNvPr id="3" name="Text 1"/>
          <p:cNvSpPr txBox="1"/>
          <p:nvPr/>
        </p:nvSpPr>
        <p:spPr>
          <a:xfrm>
            <a:off x="548640" y="164592"/>
            <a:ext cx="91440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ASG 2</a:t>
            </a:r>
            <a:endParaRPr lang="en-US" sz="1200" dirty="0"/>
          </a:p>
        </p:txBody>
      </p:sp>
      <p:sp>
        <p:nvSpPr>
          <p:cNvPr id="4" name="Text 2"/>
          <p:cNvSpPr txBox="1"/>
          <p:nvPr/>
        </p:nvSpPr>
        <p:spPr>
          <a:xfrm>
            <a:off x="548640" y="502920"/>
            <a:ext cx="11094415" cy="731520"/>
          </a:xfrm>
          <a:prstGeom prst="rect">
            <a:avLst/>
          </a:prstGeom>
          <a:noFill/>
          <a:ln/>
        </p:spPr>
        <p:txBody>
          <a:bodyPr wrap="square" lIns="0" tIns="0" rIns="0" bIns="0" rtlCol="0" anchor="ctr"/>
          <a:lstStyle/>
          <a:p>
            <a:pPr indent="0" marL="0">
              <a:buNone/>
            </a:pPr>
            <a:r>
              <a:rPr lang="en-US" sz="2800" b="1" dirty="0">
                <a:solidFill>
                  <a:srgbClr val="17334B"/>
                </a:solidFill>
                <a:latin typeface="Cambria" pitchFamily="34" charset="0"/>
                <a:ea typeface="Cambria" pitchFamily="34" charset="-122"/>
                <a:cs typeface="Cambria" pitchFamily="34" charset="-120"/>
              </a:rPr>
              <a:t>Assignment 2: Design, build, test and evaluate</a:t>
            </a:r>
            <a:endParaRPr lang="en-US" sz="2800" dirty="0"/>
          </a:p>
        </p:txBody>
      </p:sp>
      <p:sp>
        <p:nvSpPr>
          <p:cNvPr id="5" name="Text 3"/>
          <p:cNvSpPr txBox="1"/>
          <p:nvPr/>
        </p:nvSpPr>
        <p:spPr>
          <a:xfrm>
            <a:off x="548640" y="1188720"/>
            <a:ext cx="11094415" cy="411480"/>
          </a:xfrm>
          <a:prstGeom prst="rect">
            <a:avLst/>
          </a:prstGeom>
          <a:noFill/>
          <a:ln/>
        </p:spPr>
        <p:txBody>
          <a:bodyPr wrap="square" lIns="0" tIns="0" rIns="0" bIns="0" rtlCol="0" anchor="ctr"/>
          <a:lstStyle/>
          <a:p>
            <a:pPr indent="0" marL="0">
              <a:buNone/>
            </a:pPr>
            <a:r>
              <a:rPr lang="en-US" sz="1500" i="1" dirty="0">
                <a:solidFill>
                  <a:srgbClr val="4F6577"/>
                </a:solidFill>
                <a:latin typeface="Calibri" pitchFamily="34" charset="0"/>
                <a:ea typeface="Calibri" pitchFamily="34" charset="-122"/>
                <a:cs typeface="Calibri" pitchFamily="34" charset="-120"/>
              </a:rPr>
              <a:t>Scenario: junior network engineer; branch office of a web-design customer, with one off-site office.</a:t>
            </a:r>
            <a:endParaRPr lang="en-US" sz="1500" dirty="0"/>
          </a:p>
        </p:txBody>
      </p:sp>
      <p:sp>
        <p:nvSpPr>
          <p:cNvPr id="6" name="Shape 4"/>
          <p:cNvSpPr/>
          <p:nvPr/>
        </p:nvSpPr>
        <p:spPr>
          <a:xfrm>
            <a:off x="548640" y="1783080"/>
            <a:ext cx="5486400" cy="4114800"/>
          </a:xfrm>
          <a:prstGeom prst="roundRect">
            <a:avLst>
              <a:gd name="adj" fmla="val 2222"/>
            </a:avLst>
          </a:prstGeom>
          <a:solidFill>
            <a:srgbClr val="EAF2F9"/>
          </a:solidFill>
          <a:ln w="12700">
            <a:solidFill>
              <a:srgbClr val="EAF2F9"/>
            </a:solidFill>
            <a:prstDash val="solid"/>
          </a:ln>
        </p:spPr>
      </p:sp>
      <p:sp>
        <p:nvSpPr>
          <p:cNvPr id="7" name="Text 5"/>
          <p:cNvSpPr txBox="1"/>
          <p:nvPr/>
        </p:nvSpPr>
        <p:spPr>
          <a:xfrm>
            <a:off x="713232" y="1892808"/>
            <a:ext cx="5157216" cy="3895344"/>
          </a:xfrm>
          <a:prstGeom prst="rect">
            <a:avLst/>
          </a:prstGeom>
          <a:noFill/>
          <a:ln/>
        </p:spPr>
        <p:txBody>
          <a:bodyPr wrap="square" lIns="0" tIns="0" rIns="0" bIns="0" rtlCol="0" anchor="t"/>
          <a:lstStyle/>
          <a:p>
            <a:pPr indent="0" marL="0">
              <a:spcAft>
                <a:spcPts val="400"/>
              </a:spcAft>
              <a:buNone/>
            </a:pPr>
            <a:r>
              <a:rPr lang="en-US" sz="1600" b="1" dirty="0">
                <a:solidFill>
                  <a:srgbClr val="12324F"/>
                </a:solidFill>
                <a:latin typeface="Calibri" pitchFamily="34" charset="0"/>
                <a:ea typeface="Calibri" pitchFamily="34" charset="-122"/>
                <a:cs typeface="Calibri" pitchFamily="34" charset="-120"/>
              </a:rPr>
              <a:t>Client requirements (Appendix A)</a:t>
            </a:r>
            <a:endParaRPr lang="en-US" sz="1600" dirty="0"/>
          </a:p>
          <a:p>
            <a:pPr indent="0" marL="0">
              <a:spcAft>
                <a:spcPts val="400"/>
              </a:spcAft>
              <a:buNone/>
            </a:pPr>
            <a:r>
              <a:rPr lang="en-US" sz="1400" dirty="0">
                <a:solidFill>
                  <a:srgbClr val="17334B"/>
                </a:solidFill>
                <a:latin typeface="Calibri" pitchFamily="34" charset="0"/>
                <a:ea typeface="Calibri" pitchFamily="34" charset="-122"/>
                <a:cs typeface="Calibri" pitchFamily="34" charset="-120"/>
              </a:rPr>
              <a:t>• Server: DHCP, DNS, web</a:t>
            </a:r>
            <a:endParaRPr lang="en-US" sz="1600" dirty="0"/>
          </a:p>
          <a:p>
            <a:pPr indent="0" marL="0">
              <a:spcAft>
                <a:spcPts val="400"/>
              </a:spcAft>
              <a:buNone/>
            </a:pPr>
            <a:r>
              <a:rPr lang="en-US" sz="1400" dirty="0">
                <a:solidFill>
                  <a:srgbClr val="17334B"/>
                </a:solidFill>
                <a:latin typeface="Calibri" pitchFamily="34" charset="0"/>
                <a:ea typeface="Calibri" pitchFamily="34" charset="-122"/>
                <a:cs typeface="Calibri" pitchFamily="34" charset="-120"/>
              </a:rPr>
              <a:t>• 10+ workstations; wired plus secure Wi-Fi</a:t>
            </a:r>
            <a:endParaRPr lang="en-US" sz="1600" dirty="0"/>
          </a:p>
          <a:p>
            <a:pPr indent="0" marL="0">
              <a:spcAft>
                <a:spcPts val="400"/>
              </a:spcAft>
              <a:buNone/>
            </a:pPr>
            <a:r>
              <a:rPr lang="en-US" sz="1400" dirty="0">
                <a:solidFill>
                  <a:srgbClr val="17334B"/>
                </a:solidFill>
                <a:latin typeface="Calibri" pitchFamily="34" charset="0"/>
                <a:ea typeface="Calibri" pitchFamily="34" charset="-122"/>
                <a:cs typeface="Calibri" pitchFamily="34" charset="-120"/>
              </a:rPr>
              <a:t>• Wireless laptops at both sites</a:t>
            </a:r>
            <a:endParaRPr lang="en-US" sz="1600" dirty="0"/>
          </a:p>
          <a:p>
            <a:pPr indent="0" marL="0">
              <a:spcAft>
                <a:spcPts val="400"/>
              </a:spcAft>
              <a:buNone/>
            </a:pPr>
            <a:r>
              <a:rPr lang="en-US" sz="1400" dirty="0">
                <a:solidFill>
                  <a:srgbClr val="17334B"/>
                </a:solidFill>
                <a:latin typeface="Calibri" pitchFamily="34" charset="0"/>
                <a:ea typeface="Calibri" pitchFamily="34" charset="-122"/>
                <a:cs typeface="Calibri" pitchFamily="34" charset="-120"/>
              </a:rPr>
              <a:t>• Internet and router link between sites</a:t>
            </a:r>
            <a:endParaRPr lang="en-US" sz="1600" dirty="0"/>
          </a:p>
          <a:p>
            <a:pPr indent="0" marL="0">
              <a:spcAft>
                <a:spcPts val="400"/>
              </a:spcAft>
              <a:buNone/>
            </a:pPr>
            <a:r>
              <a:rPr lang="en-US" sz="1400" dirty="0">
                <a:solidFill>
                  <a:srgbClr val="17334B"/>
                </a:solidFill>
                <a:latin typeface="Calibri" pitchFamily="34" charset="0"/>
                <a:ea typeface="Calibri" pitchFamily="34" charset="-122"/>
                <a:cs typeface="Calibri" pitchFamily="34" charset="-120"/>
              </a:rPr>
              <a:t>• Users, groups and folder permissions</a:t>
            </a:r>
            <a:endParaRPr lang="en-US" sz="1600" dirty="0"/>
          </a:p>
          <a:p>
            <a:pPr indent="0" marL="0">
              <a:spcAft>
                <a:spcPts val="400"/>
              </a:spcAft>
              <a:buNone/>
            </a:pPr>
            <a:r>
              <a:rPr lang="en-US" sz="1400" dirty="0">
                <a:solidFill>
                  <a:srgbClr val="17334B"/>
                </a:solidFill>
                <a:latin typeface="Calibri" pitchFamily="34" charset="0"/>
                <a:ea typeface="Calibri" pitchFamily="34" charset="-122"/>
                <a:cs typeface="Calibri" pitchFamily="34" charset="-120"/>
              </a:rPr>
              <a:t>• VoIP, antivirus, e-commerce facilities</a:t>
            </a:r>
            <a:endParaRPr lang="en-US" sz="1600" dirty="0"/>
          </a:p>
          <a:p>
            <a:pPr indent="0" marL="0">
              <a:spcAft>
                <a:spcPts val="400"/>
              </a:spcAft>
              <a:buNone/>
            </a:pPr>
            <a:r>
              <a:rPr lang="en-US" sz="1400" dirty="0">
                <a:solidFill>
                  <a:srgbClr val="17334B"/>
                </a:solidFill>
                <a:latin typeface="Calibri" pitchFamily="34" charset="0"/>
                <a:ea typeface="Calibri" pitchFamily="34" charset="-122"/>
                <a:cs typeface="Calibri" pitchFamily="34" charset="-120"/>
              </a:rPr>
              <a:t>• All devices password protected</a:t>
            </a:r>
            <a:endParaRPr lang="en-US" sz="1600" dirty="0"/>
          </a:p>
          <a:p>
            <a:pPr indent="0" marL="0">
              <a:spcAft>
                <a:spcPts val="400"/>
              </a:spcAft>
              <a:buNone/>
            </a:pPr>
            <a:r>
              <a:rPr lang="en-US" sz="1400" dirty="0">
                <a:solidFill>
                  <a:srgbClr val="17334B"/>
                </a:solidFill>
                <a:latin typeface="Calibri" pitchFamily="34" charset="0"/>
                <a:ea typeface="Calibri" pitchFamily="34" charset="-122"/>
                <a:cs typeface="Calibri" pitchFamily="34" charset="-120"/>
              </a:rPr>
              <a:t>• Scalable, secure, low cost</a:t>
            </a:r>
            <a:endParaRPr lang="en-US" sz="1600" dirty="0"/>
          </a:p>
          <a:p>
            <a:pPr indent="0" marL="0">
              <a:spcAft>
                <a:spcPts val="400"/>
              </a:spcAft>
              <a:buNone/>
            </a:pPr>
            <a:r>
              <a:rPr lang="en-US" sz="1400" dirty="0">
                <a:solidFill>
                  <a:srgbClr val="17334B"/>
                </a:solidFill>
                <a:latin typeface="Calibri" pitchFamily="34" charset="0"/>
                <a:ea typeface="Calibri" pitchFamily="34" charset="-122"/>
                <a:cs typeface="Calibri" pitchFamily="34" charset="-120"/>
              </a:rPr>
              <a:t>• Full documentation with test plans and results</a:t>
            </a:r>
            <a:endParaRPr lang="en-US" sz="1600" dirty="0"/>
          </a:p>
        </p:txBody>
      </p:sp>
      <p:sp>
        <p:nvSpPr>
          <p:cNvPr id="8" name="Shape 6"/>
          <p:cNvSpPr/>
          <p:nvPr/>
        </p:nvSpPr>
        <p:spPr>
          <a:xfrm>
            <a:off x="6263640" y="1783080"/>
            <a:ext cx="1737360" cy="548640"/>
          </a:xfrm>
          <a:prstGeom prst="roundRect">
            <a:avLst>
              <a:gd name="adj" fmla="val 13333"/>
            </a:avLst>
          </a:prstGeom>
          <a:solidFill>
            <a:srgbClr val="20857B"/>
          </a:solidFill>
          <a:ln w="12700">
            <a:solidFill>
              <a:srgbClr val="FFFFFF"/>
            </a:solidFill>
            <a:prstDash val="solid"/>
          </a:ln>
        </p:spPr>
      </p:sp>
      <p:sp>
        <p:nvSpPr>
          <p:cNvPr id="9" name="Text 7"/>
          <p:cNvSpPr txBox="1"/>
          <p:nvPr/>
        </p:nvSpPr>
        <p:spPr>
          <a:xfrm>
            <a:off x="6263640" y="1783080"/>
            <a:ext cx="1737360"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B.P3</a:t>
            </a:r>
            <a:endParaRPr lang="en-US" sz="1300" dirty="0"/>
          </a:p>
        </p:txBody>
      </p:sp>
      <p:sp>
        <p:nvSpPr>
          <p:cNvPr id="10" name="Text 8"/>
          <p:cNvSpPr txBox="1"/>
          <p:nvPr/>
        </p:nvSpPr>
        <p:spPr>
          <a:xfrm>
            <a:off x="8138160" y="1783080"/>
            <a:ext cx="3502152" cy="548640"/>
          </a:xfrm>
          <a:prstGeom prst="rect">
            <a:avLst/>
          </a:prstGeom>
          <a:noFill/>
          <a:ln/>
        </p:spPr>
        <p:txBody>
          <a:bodyPr wrap="square" lIns="0" tIns="0" rIns="0" bIns="0" rtlCol="0" anchor="ctr"/>
          <a:lstStyle/>
          <a:p>
            <a:pPr indent="0" marL="0">
              <a:buNone/>
            </a:pPr>
            <a:r>
              <a:rPr lang="en-US" sz="1500" dirty="0">
                <a:solidFill>
                  <a:srgbClr val="17334B"/>
                </a:solidFill>
                <a:latin typeface="Calibri" pitchFamily="34" charset="0"/>
                <a:ea typeface="Calibri" pitchFamily="34" charset="-122"/>
                <a:cs typeface="Calibri" pitchFamily="34" charset="-120"/>
              </a:rPr>
              <a:t>customer email</a:t>
            </a:r>
            <a:endParaRPr lang="en-US" sz="1500" dirty="0"/>
          </a:p>
        </p:txBody>
      </p:sp>
      <p:sp>
        <p:nvSpPr>
          <p:cNvPr id="11" name="Shape 9"/>
          <p:cNvSpPr/>
          <p:nvPr/>
        </p:nvSpPr>
        <p:spPr>
          <a:xfrm>
            <a:off x="6263640" y="2468880"/>
            <a:ext cx="1737360" cy="548640"/>
          </a:xfrm>
          <a:prstGeom prst="roundRect">
            <a:avLst>
              <a:gd name="adj" fmla="val 13333"/>
            </a:avLst>
          </a:prstGeom>
          <a:solidFill>
            <a:srgbClr val="20857B"/>
          </a:solidFill>
          <a:ln w="12700">
            <a:solidFill>
              <a:srgbClr val="FFFFFF"/>
            </a:solidFill>
            <a:prstDash val="solid"/>
          </a:ln>
        </p:spPr>
      </p:sp>
      <p:sp>
        <p:nvSpPr>
          <p:cNvPr id="12" name="Text 10"/>
          <p:cNvSpPr txBox="1"/>
          <p:nvPr/>
        </p:nvSpPr>
        <p:spPr>
          <a:xfrm>
            <a:off x="6263640" y="2468880"/>
            <a:ext cx="1737360"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B.P4 · B.M2</a:t>
            </a:r>
            <a:endParaRPr lang="en-US" sz="1300" dirty="0"/>
          </a:p>
        </p:txBody>
      </p:sp>
      <p:sp>
        <p:nvSpPr>
          <p:cNvPr id="13" name="Text 11"/>
          <p:cNvSpPr txBox="1"/>
          <p:nvPr/>
        </p:nvSpPr>
        <p:spPr>
          <a:xfrm>
            <a:off x="8138160" y="2468880"/>
            <a:ext cx="3502152" cy="548640"/>
          </a:xfrm>
          <a:prstGeom prst="rect">
            <a:avLst/>
          </a:prstGeom>
          <a:noFill/>
          <a:ln/>
        </p:spPr>
        <p:txBody>
          <a:bodyPr wrap="square" lIns="0" tIns="0" rIns="0" bIns="0" rtlCol="0" anchor="ctr"/>
          <a:lstStyle/>
          <a:p>
            <a:pPr indent="0" marL="0">
              <a:buNone/>
            </a:pPr>
            <a:r>
              <a:rPr lang="en-US" sz="1500" dirty="0">
                <a:solidFill>
                  <a:srgbClr val="17334B"/>
                </a:solidFill>
                <a:latin typeface="Calibri" pitchFamily="34" charset="0"/>
                <a:ea typeface="Calibri" pitchFamily="34" charset="-122"/>
                <a:cs typeface="Calibri" pitchFamily="34" charset="-120"/>
              </a:rPr>
              <a:t>design + justification</a:t>
            </a:r>
            <a:endParaRPr lang="en-US" sz="1500" dirty="0"/>
          </a:p>
        </p:txBody>
      </p:sp>
      <p:sp>
        <p:nvSpPr>
          <p:cNvPr id="14" name="Shape 12"/>
          <p:cNvSpPr/>
          <p:nvPr/>
        </p:nvSpPr>
        <p:spPr>
          <a:xfrm>
            <a:off x="6263640" y="3154680"/>
            <a:ext cx="1737360" cy="548640"/>
          </a:xfrm>
          <a:prstGeom prst="roundRect">
            <a:avLst>
              <a:gd name="adj" fmla="val 13333"/>
            </a:avLst>
          </a:prstGeom>
          <a:solidFill>
            <a:srgbClr val="20857B"/>
          </a:solidFill>
          <a:ln w="12700">
            <a:solidFill>
              <a:srgbClr val="FFFFFF"/>
            </a:solidFill>
            <a:prstDash val="solid"/>
          </a:ln>
        </p:spPr>
      </p:sp>
      <p:sp>
        <p:nvSpPr>
          <p:cNvPr id="15" name="Text 13"/>
          <p:cNvSpPr txBox="1"/>
          <p:nvPr/>
        </p:nvSpPr>
        <p:spPr>
          <a:xfrm>
            <a:off x="6263640" y="3154680"/>
            <a:ext cx="1737360"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C.P5</a:t>
            </a:r>
            <a:endParaRPr lang="en-US" sz="1300" dirty="0"/>
          </a:p>
        </p:txBody>
      </p:sp>
      <p:sp>
        <p:nvSpPr>
          <p:cNvPr id="16" name="Text 14"/>
          <p:cNvSpPr txBox="1"/>
          <p:nvPr/>
        </p:nvSpPr>
        <p:spPr>
          <a:xfrm>
            <a:off x="8138160" y="3154680"/>
            <a:ext cx="3502152" cy="548640"/>
          </a:xfrm>
          <a:prstGeom prst="rect">
            <a:avLst/>
          </a:prstGeom>
          <a:noFill/>
          <a:ln/>
        </p:spPr>
        <p:txBody>
          <a:bodyPr wrap="square" lIns="0" tIns="0" rIns="0" bIns="0" rtlCol="0" anchor="ctr"/>
          <a:lstStyle/>
          <a:p>
            <a:pPr indent="0" marL="0">
              <a:buNone/>
            </a:pPr>
            <a:r>
              <a:rPr lang="en-US" sz="1500" dirty="0">
                <a:solidFill>
                  <a:srgbClr val="17334B"/>
                </a:solidFill>
                <a:latin typeface="Calibri" pitchFamily="34" charset="0"/>
                <a:ea typeface="Calibri" pitchFamily="34" charset="-122"/>
                <a:cs typeface="Calibri" pitchFamily="34" charset="-120"/>
              </a:rPr>
              <a:t>build and configure</a:t>
            </a:r>
            <a:endParaRPr lang="en-US" sz="1500" dirty="0"/>
          </a:p>
        </p:txBody>
      </p:sp>
      <p:sp>
        <p:nvSpPr>
          <p:cNvPr id="17" name="Shape 15"/>
          <p:cNvSpPr/>
          <p:nvPr/>
        </p:nvSpPr>
        <p:spPr>
          <a:xfrm>
            <a:off x="6263640" y="3840480"/>
            <a:ext cx="1737360" cy="548640"/>
          </a:xfrm>
          <a:prstGeom prst="roundRect">
            <a:avLst>
              <a:gd name="adj" fmla="val 13333"/>
            </a:avLst>
          </a:prstGeom>
          <a:solidFill>
            <a:srgbClr val="20857B"/>
          </a:solidFill>
          <a:ln w="12700">
            <a:solidFill>
              <a:srgbClr val="FFFFFF"/>
            </a:solidFill>
            <a:prstDash val="solid"/>
          </a:ln>
        </p:spPr>
      </p:sp>
      <p:sp>
        <p:nvSpPr>
          <p:cNvPr id="18" name="Text 16"/>
          <p:cNvSpPr txBox="1"/>
          <p:nvPr/>
        </p:nvSpPr>
        <p:spPr>
          <a:xfrm>
            <a:off x="6263640" y="3840480"/>
            <a:ext cx="1737360"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C.P6 · C.M3</a:t>
            </a:r>
            <a:endParaRPr lang="en-US" sz="1300" dirty="0"/>
          </a:p>
        </p:txBody>
      </p:sp>
      <p:sp>
        <p:nvSpPr>
          <p:cNvPr id="19" name="Text 17"/>
          <p:cNvSpPr txBox="1"/>
          <p:nvPr/>
        </p:nvSpPr>
        <p:spPr>
          <a:xfrm>
            <a:off x="8138160" y="3840480"/>
            <a:ext cx="3502152" cy="548640"/>
          </a:xfrm>
          <a:prstGeom prst="rect">
            <a:avLst/>
          </a:prstGeom>
          <a:noFill/>
          <a:ln/>
        </p:spPr>
        <p:txBody>
          <a:bodyPr wrap="square" lIns="0" tIns="0" rIns="0" bIns="0" rtlCol="0" anchor="ctr"/>
          <a:lstStyle/>
          <a:p>
            <a:pPr indent="0" marL="0">
              <a:buNone/>
            </a:pPr>
            <a:r>
              <a:rPr lang="en-US" sz="1500" dirty="0">
                <a:solidFill>
                  <a:srgbClr val="17334B"/>
                </a:solidFill>
                <a:latin typeface="Calibri" pitchFamily="34" charset="0"/>
                <a:ea typeface="Calibri" pitchFamily="34" charset="-122"/>
                <a:cs typeface="Calibri" pitchFamily="34" charset="-120"/>
              </a:rPr>
              <a:t>test and optimise</a:t>
            </a:r>
            <a:endParaRPr lang="en-US" sz="1500" dirty="0"/>
          </a:p>
        </p:txBody>
      </p:sp>
      <p:sp>
        <p:nvSpPr>
          <p:cNvPr id="20" name="Shape 18"/>
          <p:cNvSpPr/>
          <p:nvPr/>
        </p:nvSpPr>
        <p:spPr>
          <a:xfrm>
            <a:off x="6263640" y="4526280"/>
            <a:ext cx="1737360" cy="548640"/>
          </a:xfrm>
          <a:prstGeom prst="roundRect">
            <a:avLst>
              <a:gd name="adj" fmla="val 13333"/>
            </a:avLst>
          </a:prstGeom>
          <a:solidFill>
            <a:srgbClr val="20857B"/>
          </a:solidFill>
          <a:ln w="12700">
            <a:solidFill>
              <a:srgbClr val="FFFFFF"/>
            </a:solidFill>
            <a:prstDash val="solid"/>
          </a:ln>
        </p:spPr>
      </p:sp>
      <p:sp>
        <p:nvSpPr>
          <p:cNvPr id="21" name="Text 19"/>
          <p:cNvSpPr txBox="1"/>
          <p:nvPr/>
        </p:nvSpPr>
        <p:spPr>
          <a:xfrm>
            <a:off x="6263640" y="4526280"/>
            <a:ext cx="1737360"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C.P7 · BC.D2</a:t>
            </a:r>
            <a:endParaRPr lang="en-US" sz="1300" dirty="0"/>
          </a:p>
        </p:txBody>
      </p:sp>
      <p:sp>
        <p:nvSpPr>
          <p:cNvPr id="22" name="Text 20"/>
          <p:cNvSpPr txBox="1"/>
          <p:nvPr/>
        </p:nvSpPr>
        <p:spPr>
          <a:xfrm>
            <a:off x="8138160" y="4526280"/>
            <a:ext cx="3502152" cy="548640"/>
          </a:xfrm>
          <a:prstGeom prst="rect">
            <a:avLst/>
          </a:prstGeom>
          <a:noFill/>
          <a:ln/>
        </p:spPr>
        <p:txBody>
          <a:bodyPr wrap="square" lIns="0" tIns="0" rIns="0" bIns="0" rtlCol="0" anchor="ctr"/>
          <a:lstStyle/>
          <a:p>
            <a:pPr indent="0" marL="0">
              <a:buNone/>
            </a:pPr>
            <a:r>
              <a:rPr lang="en-US" sz="1500" dirty="0">
                <a:solidFill>
                  <a:srgbClr val="17334B"/>
                </a:solidFill>
                <a:latin typeface="Calibri" pitchFamily="34" charset="0"/>
                <a:ea typeface="Calibri" pitchFamily="34" charset="-122"/>
                <a:cs typeface="Calibri" pitchFamily="34" charset="-120"/>
              </a:rPr>
              <a:t>review and evaluate</a:t>
            </a:r>
            <a:endParaRPr lang="en-US" sz="1500" dirty="0"/>
          </a:p>
        </p:txBody>
      </p:sp>
      <p:sp>
        <p:nvSpPr>
          <p:cNvPr id="23" name="Shape 21"/>
          <p:cNvSpPr/>
          <p:nvPr/>
        </p:nvSpPr>
        <p:spPr>
          <a:xfrm>
            <a:off x="6263640" y="5212080"/>
            <a:ext cx="1737360" cy="548640"/>
          </a:xfrm>
          <a:prstGeom prst="roundRect">
            <a:avLst>
              <a:gd name="adj" fmla="val 13333"/>
            </a:avLst>
          </a:prstGeom>
          <a:solidFill>
            <a:srgbClr val="E8A33D"/>
          </a:solidFill>
          <a:ln w="12700">
            <a:solidFill>
              <a:srgbClr val="FFFFFF"/>
            </a:solidFill>
            <a:prstDash val="solid"/>
          </a:ln>
        </p:spPr>
      </p:sp>
      <p:sp>
        <p:nvSpPr>
          <p:cNvPr id="24" name="Text 22"/>
          <p:cNvSpPr txBox="1"/>
          <p:nvPr/>
        </p:nvSpPr>
        <p:spPr>
          <a:xfrm>
            <a:off x="6263640" y="5212080"/>
            <a:ext cx="1737360"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BC.D3</a:t>
            </a:r>
            <a:endParaRPr lang="en-US" sz="1300" dirty="0"/>
          </a:p>
        </p:txBody>
      </p:sp>
      <p:sp>
        <p:nvSpPr>
          <p:cNvPr id="25" name="Text 23"/>
          <p:cNvSpPr txBox="1"/>
          <p:nvPr/>
        </p:nvSpPr>
        <p:spPr>
          <a:xfrm>
            <a:off x="8138160" y="5212080"/>
            <a:ext cx="3502152" cy="548640"/>
          </a:xfrm>
          <a:prstGeom prst="rect">
            <a:avLst/>
          </a:prstGeom>
          <a:noFill/>
          <a:ln/>
        </p:spPr>
        <p:txBody>
          <a:bodyPr wrap="square" lIns="0" tIns="0" rIns="0" bIns="0" rtlCol="0" anchor="ctr"/>
          <a:lstStyle/>
          <a:p>
            <a:pPr indent="0" marL="0">
              <a:buNone/>
            </a:pPr>
            <a:r>
              <a:rPr lang="en-US" sz="1500" dirty="0">
                <a:solidFill>
                  <a:srgbClr val="17334B"/>
                </a:solidFill>
                <a:latin typeface="Calibri" pitchFamily="34" charset="0"/>
                <a:ea typeface="Calibri" pitchFamily="34" charset="-122"/>
                <a:cs typeface="Calibri" pitchFamily="34" charset="-120"/>
              </a:rPr>
              <a:t>portfolio throughout</a:t>
            </a:r>
            <a:endParaRPr lang="en-US" sz="15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txBox="1"/>
          <p:nvPr/>
        </p:nvSpPr>
        <p:spPr>
          <a:xfrm>
            <a:off x="548640" y="411480"/>
            <a:ext cx="11094415" cy="731520"/>
          </a:xfrm>
          <a:prstGeom prst="rect">
            <a:avLst/>
          </a:prstGeom>
          <a:noFill/>
          <a:ln/>
        </p:spPr>
        <p:txBody>
          <a:bodyPr wrap="square" lIns="0" tIns="0" rIns="0" bIns="0" rtlCol="0" anchor="ctr"/>
          <a:lstStyle/>
          <a:p>
            <a:pPr indent="0" marL="0">
              <a:buNone/>
            </a:pPr>
            <a:r>
              <a:rPr lang="en-US" sz="3200" b="1" dirty="0">
                <a:solidFill>
                  <a:srgbClr val="17334B"/>
                </a:solidFill>
                <a:latin typeface="Cambria" pitchFamily="34" charset="0"/>
                <a:ea typeface="Cambria" pitchFamily="34" charset="-122"/>
                <a:cs typeface="Cambria" pitchFamily="34" charset="-120"/>
              </a:rPr>
              <a:t>Ten labs on the student site</a:t>
            </a:r>
            <a:endParaRPr lang="en-US" sz="3200" dirty="0"/>
          </a:p>
        </p:txBody>
      </p:sp>
      <p:sp>
        <p:nvSpPr>
          <p:cNvPr id="3" name="Shape 1"/>
          <p:cNvSpPr/>
          <p:nvPr/>
        </p:nvSpPr>
        <p:spPr>
          <a:xfrm>
            <a:off x="548640" y="1463040"/>
            <a:ext cx="2036003" cy="2011680"/>
          </a:xfrm>
          <a:prstGeom prst="roundRect">
            <a:avLst>
              <a:gd name="adj" fmla="val 5455"/>
            </a:avLst>
          </a:prstGeom>
          <a:solidFill>
            <a:srgbClr val="EAF2F9"/>
          </a:solidFill>
          <a:ln w="12700">
            <a:solidFill>
              <a:srgbClr val="EAF2F9"/>
            </a:solidFill>
            <a:prstDash val="solid"/>
          </a:ln>
        </p:spPr>
      </p:sp>
      <p:sp>
        <p:nvSpPr>
          <p:cNvPr id="4" name="Text 2"/>
          <p:cNvSpPr txBox="1"/>
          <p:nvPr/>
        </p:nvSpPr>
        <p:spPr>
          <a:xfrm>
            <a:off x="731520" y="1600200"/>
            <a:ext cx="914400" cy="731520"/>
          </a:xfrm>
          <a:prstGeom prst="rect">
            <a:avLst/>
          </a:prstGeom>
          <a:noFill/>
          <a:ln/>
        </p:spPr>
        <p:txBody>
          <a:bodyPr wrap="square" lIns="0" tIns="0" rIns="0" bIns="0" rtlCol="0" anchor="ctr"/>
          <a:lstStyle/>
          <a:p>
            <a:pPr indent="0" marL="0">
              <a:buNone/>
            </a:pPr>
            <a:r>
              <a:rPr lang="en-US" sz="4000" b="1" dirty="0">
                <a:solidFill>
                  <a:srgbClr val="20857B"/>
                </a:solidFill>
                <a:latin typeface="Cambria" pitchFamily="34" charset="0"/>
                <a:ea typeface="Cambria" pitchFamily="34" charset="-122"/>
                <a:cs typeface="Cambria" pitchFamily="34" charset="-120"/>
              </a:rPr>
              <a:t>1</a:t>
            </a:r>
            <a:endParaRPr lang="en-US" sz="4000" dirty="0"/>
          </a:p>
        </p:txBody>
      </p:sp>
      <p:sp>
        <p:nvSpPr>
          <p:cNvPr id="5" name="Text 3"/>
          <p:cNvSpPr txBox="1"/>
          <p:nvPr/>
        </p:nvSpPr>
        <p:spPr>
          <a:xfrm>
            <a:off x="731520" y="2377440"/>
            <a:ext cx="1670243" cy="914400"/>
          </a:xfrm>
          <a:prstGeom prst="rect">
            <a:avLst/>
          </a:prstGeom>
          <a:noFill/>
          <a:ln/>
        </p:spPr>
        <p:txBody>
          <a:bodyPr wrap="square" lIns="0" tIns="0" rIns="0" bIns="0" rtlCol="0" anchor="t"/>
          <a:lstStyle/>
          <a:p>
            <a:pPr indent="0" marL="0">
              <a:buNone/>
            </a:pPr>
            <a:r>
              <a:rPr lang="en-US" sz="1600" b="1" dirty="0">
                <a:solidFill>
                  <a:srgbClr val="17334B"/>
                </a:solidFill>
                <a:latin typeface="Calibri" pitchFamily="34" charset="0"/>
                <a:ea typeface="Calibri" pitchFamily="34" charset="-122"/>
                <a:cs typeface="Calibri" pitchFamily="34" charset="-120"/>
              </a:rPr>
              <a:t>Packet Tracer tour</a:t>
            </a:r>
            <a:endParaRPr lang="en-US" sz="1600" dirty="0"/>
          </a:p>
        </p:txBody>
      </p:sp>
      <p:sp>
        <p:nvSpPr>
          <p:cNvPr id="6" name="Shape 4"/>
          <p:cNvSpPr/>
          <p:nvPr/>
        </p:nvSpPr>
        <p:spPr>
          <a:xfrm>
            <a:off x="2813243" y="1463040"/>
            <a:ext cx="2036003" cy="2011680"/>
          </a:xfrm>
          <a:prstGeom prst="roundRect">
            <a:avLst>
              <a:gd name="adj" fmla="val 5455"/>
            </a:avLst>
          </a:prstGeom>
          <a:solidFill>
            <a:srgbClr val="EAF2F9"/>
          </a:solidFill>
          <a:ln w="12700">
            <a:solidFill>
              <a:srgbClr val="EAF2F9"/>
            </a:solidFill>
            <a:prstDash val="solid"/>
          </a:ln>
        </p:spPr>
      </p:sp>
      <p:sp>
        <p:nvSpPr>
          <p:cNvPr id="7" name="Text 5"/>
          <p:cNvSpPr txBox="1"/>
          <p:nvPr/>
        </p:nvSpPr>
        <p:spPr>
          <a:xfrm>
            <a:off x="2996123" y="1600200"/>
            <a:ext cx="914400" cy="731520"/>
          </a:xfrm>
          <a:prstGeom prst="rect">
            <a:avLst/>
          </a:prstGeom>
          <a:noFill/>
          <a:ln/>
        </p:spPr>
        <p:txBody>
          <a:bodyPr wrap="square" lIns="0" tIns="0" rIns="0" bIns="0" rtlCol="0" anchor="ctr"/>
          <a:lstStyle/>
          <a:p>
            <a:pPr indent="0" marL="0">
              <a:buNone/>
            </a:pPr>
            <a:r>
              <a:rPr lang="en-US" sz="4000" b="1" dirty="0">
                <a:solidFill>
                  <a:srgbClr val="20857B"/>
                </a:solidFill>
                <a:latin typeface="Cambria" pitchFamily="34" charset="0"/>
                <a:ea typeface="Cambria" pitchFamily="34" charset="-122"/>
                <a:cs typeface="Cambria" pitchFamily="34" charset="-120"/>
              </a:rPr>
              <a:t>2</a:t>
            </a:r>
            <a:endParaRPr lang="en-US" sz="4000" dirty="0"/>
          </a:p>
        </p:txBody>
      </p:sp>
      <p:sp>
        <p:nvSpPr>
          <p:cNvPr id="8" name="Text 6"/>
          <p:cNvSpPr txBox="1"/>
          <p:nvPr/>
        </p:nvSpPr>
        <p:spPr>
          <a:xfrm>
            <a:off x="2996123" y="2377440"/>
            <a:ext cx="1670243" cy="914400"/>
          </a:xfrm>
          <a:prstGeom prst="rect">
            <a:avLst/>
          </a:prstGeom>
          <a:noFill/>
          <a:ln/>
        </p:spPr>
        <p:txBody>
          <a:bodyPr wrap="square" lIns="0" tIns="0" rIns="0" bIns="0" rtlCol="0" anchor="t"/>
          <a:lstStyle/>
          <a:p>
            <a:pPr indent="0" marL="0">
              <a:buNone/>
            </a:pPr>
            <a:r>
              <a:rPr lang="en-US" sz="1600" b="1" dirty="0">
                <a:solidFill>
                  <a:srgbClr val="17334B"/>
                </a:solidFill>
                <a:latin typeface="Calibri" pitchFamily="34" charset="0"/>
                <a:ea typeface="Calibri" pitchFamily="34" charset="-122"/>
                <a:cs typeface="Calibri" pitchFamily="34" charset="-120"/>
              </a:rPr>
              <a:t>Build and test a LAN</a:t>
            </a:r>
            <a:endParaRPr lang="en-US" sz="1600" dirty="0"/>
          </a:p>
        </p:txBody>
      </p:sp>
      <p:sp>
        <p:nvSpPr>
          <p:cNvPr id="9" name="Shape 7"/>
          <p:cNvSpPr/>
          <p:nvPr/>
        </p:nvSpPr>
        <p:spPr>
          <a:xfrm>
            <a:off x="5077846" y="1463040"/>
            <a:ext cx="2036003" cy="2011680"/>
          </a:xfrm>
          <a:prstGeom prst="roundRect">
            <a:avLst>
              <a:gd name="adj" fmla="val 5455"/>
            </a:avLst>
          </a:prstGeom>
          <a:solidFill>
            <a:srgbClr val="EAF2F9"/>
          </a:solidFill>
          <a:ln w="12700">
            <a:solidFill>
              <a:srgbClr val="EAF2F9"/>
            </a:solidFill>
            <a:prstDash val="solid"/>
          </a:ln>
        </p:spPr>
      </p:sp>
      <p:sp>
        <p:nvSpPr>
          <p:cNvPr id="10" name="Text 8"/>
          <p:cNvSpPr txBox="1"/>
          <p:nvPr/>
        </p:nvSpPr>
        <p:spPr>
          <a:xfrm>
            <a:off x="5260726" y="1600200"/>
            <a:ext cx="914400" cy="731520"/>
          </a:xfrm>
          <a:prstGeom prst="rect">
            <a:avLst/>
          </a:prstGeom>
          <a:noFill/>
          <a:ln/>
        </p:spPr>
        <p:txBody>
          <a:bodyPr wrap="square" lIns="0" tIns="0" rIns="0" bIns="0" rtlCol="0" anchor="ctr"/>
          <a:lstStyle/>
          <a:p>
            <a:pPr indent="0" marL="0">
              <a:buNone/>
            </a:pPr>
            <a:r>
              <a:rPr lang="en-US" sz="4000" b="1" dirty="0">
                <a:solidFill>
                  <a:srgbClr val="20857B"/>
                </a:solidFill>
                <a:latin typeface="Cambria" pitchFamily="34" charset="0"/>
                <a:ea typeface="Cambria" pitchFamily="34" charset="-122"/>
                <a:cs typeface="Cambria" pitchFamily="34" charset="-120"/>
              </a:rPr>
              <a:t>3</a:t>
            </a:r>
            <a:endParaRPr lang="en-US" sz="4000" dirty="0"/>
          </a:p>
        </p:txBody>
      </p:sp>
      <p:sp>
        <p:nvSpPr>
          <p:cNvPr id="11" name="Text 9"/>
          <p:cNvSpPr txBox="1"/>
          <p:nvPr/>
        </p:nvSpPr>
        <p:spPr>
          <a:xfrm>
            <a:off x="5260726" y="2377440"/>
            <a:ext cx="1670243" cy="914400"/>
          </a:xfrm>
          <a:prstGeom prst="rect">
            <a:avLst/>
          </a:prstGeom>
          <a:noFill/>
          <a:ln/>
        </p:spPr>
        <p:txBody>
          <a:bodyPr wrap="square" lIns="0" tIns="0" rIns="0" bIns="0" rtlCol="0" anchor="t"/>
          <a:lstStyle/>
          <a:p>
            <a:pPr indent="0" marL="0">
              <a:buNone/>
            </a:pPr>
            <a:r>
              <a:rPr lang="en-US" sz="1600" b="1" dirty="0">
                <a:solidFill>
                  <a:srgbClr val="17334B"/>
                </a:solidFill>
                <a:latin typeface="Calibri" pitchFamily="34" charset="0"/>
                <a:ea typeface="Calibri" pitchFamily="34" charset="-122"/>
                <a:cs typeface="Calibri" pitchFamily="34" charset="-120"/>
              </a:rPr>
              <a:t>Wired + wireless</a:t>
            </a:r>
            <a:endParaRPr lang="en-US" sz="1600" dirty="0"/>
          </a:p>
        </p:txBody>
      </p:sp>
      <p:sp>
        <p:nvSpPr>
          <p:cNvPr id="12" name="Shape 10"/>
          <p:cNvSpPr/>
          <p:nvPr/>
        </p:nvSpPr>
        <p:spPr>
          <a:xfrm>
            <a:off x="7342449" y="1463040"/>
            <a:ext cx="2036003" cy="2011680"/>
          </a:xfrm>
          <a:prstGeom prst="roundRect">
            <a:avLst>
              <a:gd name="adj" fmla="val 5455"/>
            </a:avLst>
          </a:prstGeom>
          <a:solidFill>
            <a:srgbClr val="EAF2F9"/>
          </a:solidFill>
          <a:ln w="12700">
            <a:solidFill>
              <a:srgbClr val="EAF2F9"/>
            </a:solidFill>
            <a:prstDash val="solid"/>
          </a:ln>
        </p:spPr>
      </p:sp>
      <p:sp>
        <p:nvSpPr>
          <p:cNvPr id="13" name="Text 11"/>
          <p:cNvSpPr txBox="1"/>
          <p:nvPr/>
        </p:nvSpPr>
        <p:spPr>
          <a:xfrm>
            <a:off x="7525329" y="1600200"/>
            <a:ext cx="914400" cy="731520"/>
          </a:xfrm>
          <a:prstGeom prst="rect">
            <a:avLst/>
          </a:prstGeom>
          <a:noFill/>
          <a:ln/>
        </p:spPr>
        <p:txBody>
          <a:bodyPr wrap="square" lIns="0" tIns="0" rIns="0" bIns="0" rtlCol="0" anchor="ctr"/>
          <a:lstStyle/>
          <a:p>
            <a:pPr indent="0" marL="0">
              <a:buNone/>
            </a:pPr>
            <a:r>
              <a:rPr lang="en-US" sz="4000" b="1" dirty="0">
                <a:solidFill>
                  <a:srgbClr val="20857B"/>
                </a:solidFill>
                <a:latin typeface="Cambria" pitchFamily="34" charset="0"/>
                <a:ea typeface="Cambria" pitchFamily="34" charset="-122"/>
                <a:cs typeface="Cambria" pitchFamily="34" charset="-120"/>
              </a:rPr>
              <a:t>4</a:t>
            </a:r>
            <a:endParaRPr lang="en-US" sz="4000" dirty="0"/>
          </a:p>
        </p:txBody>
      </p:sp>
      <p:sp>
        <p:nvSpPr>
          <p:cNvPr id="14" name="Text 12"/>
          <p:cNvSpPr txBox="1"/>
          <p:nvPr/>
        </p:nvSpPr>
        <p:spPr>
          <a:xfrm>
            <a:off x="7525329" y="2377440"/>
            <a:ext cx="1670243" cy="914400"/>
          </a:xfrm>
          <a:prstGeom prst="rect">
            <a:avLst/>
          </a:prstGeom>
          <a:noFill/>
          <a:ln/>
        </p:spPr>
        <p:txBody>
          <a:bodyPr wrap="square" lIns="0" tIns="0" rIns="0" bIns="0" rtlCol="0" anchor="t"/>
          <a:lstStyle/>
          <a:p>
            <a:pPr indent="0" marL="0">
              <a:buNone/>
            </a:pPr>
            <a:r>
              <a:rPr lang="en-US" sz="1600" b="1" dirty="0">
                <a:solidFill>
                  <a:srgbClr val="17334B"/>
                </a:solidFill>
                <a:latin typeface="Calibri" pitchFamily="34" charset="0"/>
                <a:ea typeface="Calibri" pitchFamily="34" charset="-122"/>
                <a:cs typeface="Calibri" pitchFamily="34" charset="-120"/>
              </a:rPr>
              <a:t>DHCP, DNS, web, email</a:t>
            </a:r>
            <a:endParaRPr lang="en-US" sz="1600" dirty="0"/>
          </a:p>
        </p:txBody>
      </p:sp>
      <p:sp>
        <p:nvSpPr>
          <p:cNvPr id="15" name="Shape 13"/>
          <p:cNvSpPr/>
          <p:nvPr/>
        </p:nvSpPr>
        <p:spPr>
          <a:xfrm>
            <a:off x="9607052" y="1463040"/>
            <a:ext cx="2036003" cy="2011680"/>
          </a:xfrm>
          <a:prstGeom prst="roundRect">
            <a:avLst>
              <a:gd name="adj" fmla="val 5455"/>
            </a:avLst>
          </a:prstGeom>
          <a:solidFill>
            <a:srgbClr val="EAF2F9"/>
          </a:solidFill>
          <a:ln w="12700">
            <a:solidFill>
              <a:srgbClr val="EAF2F9"/>
            </a:solidFill>
            <a:prstDash val="solid"/>
          </a:ln>
        </p:spPr>
      </p:sp>
      <p:sp>
        <p:nvSpPr>
          <p:cNvPr id="16" name="Text 14"/>
          <p:cNvSpPr txBox="1"/>
          <p:nvPr/>
        </p:nvSpPr>
        <p:spPr>
          <a:xfrm>
            <a:off x="9789932" y="1600200"/>
            <a:ext cx="914400" cy="731520"/>
          </a:xfrm>
          <a:prstGeom prst="rect">
            <a:avLst/>
          </a:prstGeom>
          <a:noFill/>
          <a:ln/>
        </p:spPr>
        <p:txBody>
          <a:bodyPr wrap="square" lIns="0" tIns="0" rIns="0" bIns="0" rtlCol="0" anchor="ctr"/>
          <a:lstStyle/>
          <a:p>
            <a:pPr indent="0" marL="0">
              <a:buNone/>
            </a:pPr>
            <a:r>
              <a:rPr lang="en-US" sz="4000" b="1" dirty="0">
                <a:solidFill>
                  <a:srgbClr val="20857B"/>
                </a:solidFill>
                <a:latin typeface="Cambria" pitchFamily="34" charset="0"/>
                <a:ea typeface="Cambria" pitchFamily="34" charset="-122"/>
                <a:cs typeface="Cambria" pitchFamily="34" charset="-120"/>
              </a:rPr>
              <a:t>5</a:t>
            </a:r>
            <a:endParaRPr lang="en-US" sz="4000" dirty="0"/>
          </a:p>
        </p:txBody>
      </p:sp>
      <p:sp>
        <p:nvSpPr>
          <p:cNvPr id="17" name="Text 15"/>
          <p:cNvSpPr txBox="1"/>
          <p:nvPr/>
        </p:nvSpPr>
        <p:spPr>
          <a:xfrm>
            <a:off x="9789932" y="2377440"/>
            <a:ext cx="1670243" cy="914400"/>
          </a:xfrm>
          <a:prstGeom prst="rect">
            <a:avLst/>
          </a:prstGeom>
          <a:noFill/>
          <a:ln/>
        </p:spPr>
        <p:txBody>
          <a:bodyPr wrap="square" lIns="0" tIns="0" rIns="0" bIns="0" rtlCol="0" anchor="t"/>
          <a:lstStyle/>
          <a:p>
            <a:pPr indent="0" marL="0">
              <a:buNone/>
            </a:pPr>
            <a:r>
              <a:rPr lang="en-US" sz="1600" b="1" dirty="0">
                <a:solidFill>
                  <a:srgbClr val="17334B"/>
                </a:solidFill>
                <a:latin typeface="Calibri" pitchFamily="34" charset="0"/>
                <a:ea typeface="Calibri" pitchFamily="34" charset="-122"/>
                <a:cs typeface="Calibri" pitchFamily="34" charset="-120"/>
              </a:rPr>
              <a:t>Secure a switch (IOS)</a:t>
            </a:r>
            <a:endParaRPr lang="en-US" sz="1600" dirty="0"/>
          </a:p>
        </p:txBody>
      </p:sp>
      <p:sp>
        <p:nvSpPr>
          <p:cNvPr id="18" name="Shape 16"/>
          <p:cNvSpPr/>
          <p:nvPr/>
        </p:nvSpPr>
        <p:spPr>
          <a:xfrm>
            <a:off x="548640" y="3703320"/>
            <a:ext cx="2036003" cy="2011680"/>
          </a:xfrm>
          <a:prstGeom prst="roundRect">
            <a:avLst>
              <a:gd name="adj" fmla="val 5455"/>
            </a:avLst>
          </a:prstGeom>
          <a:solidFill>
            <a:srgbClr val="E6F4F1"/>
          </a:solidFill>
          <a:ln w="12700">
            <a:solidFill>
              <a:srgbClr val="E6F4F1"/>
            </a:solidFill>
            <a:prstDash val="solid"/>
          </a:ln>
        </p:spPr>
      </p:sp>
      <p:sp>
        <p:nvSpPr>
          <p:cNvPr id="19" name="Text 17"/>
          <p:cNvSpPr txBox="1"/>
          <p:nvPr/>
        </p:nvSpPr>
        <p:spPr>
          <a:xfrm>
            <a:off x="731520" y="3840480"/>
            <a:ext cx="914400" cy="731520"/>
          </a:xfrm>
          <a:prstGeom prst="rect">
            <a:avLst/>
          </a:prstGeom>
          <a:noFill/>
          <a:ln/>
        </p:spPr>
        <p:txBody>
          <a:bodyPr wrap="square" lIns="0" tIns="0" rIns="0" bIns="0" rtlCol="0" anchor="ctr"/>
          <a:lstStyle/>
          <a:p>
            <a:pPr indent="0" marL="0">
              <a:buNone/>
            </a:pPr>
            <a:r>
              <a:rPr lang="en-US" sz="4000" b="1" dirty="0">
                <a:solidFill>
                  <a:srgbClr val="20857B"/>
                </a:solidFill>
                <a:latin typeface="Cambria" pitchFamily="34" charset="0"/>
                <a:ea typeface="Cambria" pitchFamily="34" charset="-122"/>
                <a:cs typeface="Cambria" pitchFamily="34" charset="-120"/>
              </a:rPr>
              <a:t>6</a:t>
            </a:r>
            <a:endParaRPr lang="en-US" sz="4000" dirty="0"/>
          </a:p>
        </p:txBody>
      </p:sp>
      <p:sp>
        <p:nvSpPr>
          <p:cNvPr id="20" name="Text 18"/>
          <p:cNvSpPr txBox="1"/>
          <p:nvPr/>
        </p:nvSpPr>
        <p:spPr>
          <a:xfrm>
            <a:off x="731520" y="4617720"/>
            <a:ext cx="1670243" cy="914400"/>
          </a:xfrm>
          <a:prstGeom prst="rect">
            <a:avLst/>
          </a:prstGeom>
          <a:noFill/>
          <a:ln/>
        </p:spPr>
        <p:txBody>
          <a:bodyPr wrap="square" lIns="0" tIns="0" rIns="0" bIns="0" rtlCol="0" anchor="t"/>
          <a:lstStyle/>
          <a:p>
            <a:pPr indent="0" marL="0">
              <a:buNone/>
            </a:pPr>
            <a:r>
              <a:rPr lang="en-US" sz="1600" b="1" dirty="0">
                <a:solidFill>
                  <a:srgbClr val="17334B"/>
                </a:solidFill>
                <a:latin typeface="Calibri" pitchFamily="34" charset="0"/>
                <a:ea typeface="Calibri" pitchFamily="34" charset="-122"/>
                <a:cs typeface="Calibri" pitchFamily="34" charset="-120"/>
              </a:rPr>
              <a:t>Two LANs and a router</a:t>
            </a:r>
            <a:endParaRPr lang="en-US" sz="1600" dirty="0"/>
          </a:p>
        </p:txBody>
      </p:sp>
      <p:sp>
        <p:nvSpPr>
          <p:cNvPr id="21" name="Shape 19"/>
          <p:cNvSpPr/>
          <p:nvPr/>
        </p:nvSpPr>
        <p:spPr>
          <a:xfrm>
            <a:off x="2813243" y="3703320"/>
            <a:ext cx="2036003" cy="2011680"/>
          </a:xfrm>
          <a:prstGeom prst="roundRect">
            <a:avLst>
              <a:gd name="adj" fmla="val 5455"/>
            </a:avLst>
          </a:prstGeom>
          <a:solidFill>
            <a:srgbClr val="E6F4F1"/>
          </a:solidFill>
          <a:ln w="12700">
            <a:solidFill>
              <a:srgbClr val="E6F4F1"/>
            </a:solidFill>
            <a:prstDash val="solid"/>
          </a:ln>
        </p:spPr>
      </p:sp>
      <p:sp>
        <p:nvSpPr>
          <p:cNvPr id="22" name="Text 20"/>
          <p:cNvSpPr txBox="1"/>
          <p:nvPr/>
        </p:nvSpPr>
        <p:spPr>
          <a:xfrm>
            <a:off x="2996123" y="3840480"/>
            <a:ext cx="914400" cy="731520"/>
          </a:xfrm>
          <a:prstGeom prst="rect">
            <a:avLst/>
          </a:prstGeom>
          <a:noFill/>
          <a:ln/>
        </p:spPr>
        <p:txBody>
          <a:bodyPr wrap="square" lIns="0" tIns="0" rIns="0" bIns="0" rtlCol="0" anchor="ctr"/>
          <a:lstStyle/>
          <a:p>
            <a:pPr indent="0" marL="0">
              <a:buNone/>
            </a:pPr>
            <a:r>
              <a:rPr lang="en-US" sz="4000" b="1" dirty="0">
                <a:solidFill>
                  <a:srgbClr val="20857B"/>
                </a:solidFill>
                <a:latin typeface="Cambria" pitchFamily="34" charset="0"/>
                <a:ea typeface="Cambria" pitchFamily="34" charset="-122"/>
                <a:cs typeface="Cambria" pitchFamily="34" charset="-120"/>
              </a:rPr>
              <a:t>7</a:t>
            </a:r>
            <a:endParaRPr lang="en-US" sz="4000" dirty="0"/>
          </a:p>
        </p:txBody>
      </p:sp>
      <p:sp>
        <p:nvSpPr>
          <p:cNvPr id="23" name="Text 21"/>
          <p:cNvSpPr txBox="1"/>
          <p:nvPr/>
        </p:nvSpPr>
        <p:spPr>
          <a:xfrm>
            <a:off x="2996123" y="4617720"/>
            <a:ext cx="1670243" cy="914400"/>
          </a:xfrm>
          <a:prstGeom prst="rect">
            <a:avLst/>
          </a:prstGeom>
          <a:noFill/>
          <a:ln/>
        </p:spPr>
        <p:txBody>
          <a:bodyPr wrap="square" lIns="0" tIns="0" rIns="0" bIns="0" rtlCol="0" anchor="t"/>
          <a:lstStyle/>
          <a:p>
            <a:pPr indent="0" marL="0">
              <a:buNone/>
            </a:pPr>
            <a:r>
              <a:rPr lang="en-US" sz="1600" b="1" dirty="0">
                <a:solidFill>
                  <a:srgbClr val="17334B"/>
                </a:solidFill>
                <a:latin typeface="Calibri" pitchFamily="34" charset="0"/>
                <a:ea typeface="Calibri" pitchFamily="34" charset="-122"/>
                <a:cs typeface="Calibri" pitchFamily="34" charset="-120"/>
              </a:rPr>
              <a:t>Two sites, static routes</a:t>
            </a:r>
            <a:endParaRPr lang="en-US" sz="1600" dirty="0"/>
          </a:p>
        </p:txBody>
      </p:sp>
      <p:sp>
        <p:nvSpPr>
          <p:cNvPr id="24" name="Shape 22"/>
          <p:cNvSpPr/>
          <p:nvPr/>
        </p:nvSpPr>
        <p:spPr>
          <a:xfrm>
            <a:off x="5077846" y="3703320"/>
            <a:ext cx="2036003" cy="2011680"/>
          </a:xfrm>
          <a:prstGeom prst="roundRect">
            <a:avLst>
              <a:gd name="adj" fmla="val 5455"/>
            </a:avLst>
          </a:prstGeom>
          <a:solidFill>
            <a:srgbClr val="E6F4F1"/>
          </a:solidFill>
          <a:ln w="12700">
            <a:solidFill>
              <a:srgbClr val="E6F4F1"/>
            </a:solidFill>
            <a:prstDash val="solid"/>
          </a:ln>
        </p:spPr>
      </p:sp>
      <p:sp>
        <p:nvSpPr>
          <p:cNvPr id="25" name="Text 23"/>
          <p:cNvSpPr txBox="1"/>
          <p:nvPr/>
        </p:nvSpPr>
        <p:spPr>
          <a:xfrm>
            <a:off x="5260726" y="3840480"/>
            <a:ext cx="914400" cy="731520"/>
          </a:xfrm>
          <a:prstGeom prst="rect">
            <a:avLst/>
          </a:prstGeom>
          <a:noFill/>
          <a:ln/>
        </p:spPr>
        <p:txBody>
          <a:bodyPr wrap="square" lIns="0" tIns="0" rIns="0" bIns="0" rtlCol="0" anchor="ctr"/>
          <a:lstStyle/>
          <a:p>
            <a:pPr indent="0" marL="0">
              <a:buNone/>
            </a:pPr>
            <a:r>
              <a:rPr lang="en-US" sz="4000" b="1" dirty="0">
                <a:solidFill>
                  <a:srgbClr val="20857B"/>
                </a:solidFill>
                <a:latin typeface="Cambria" pitchFamily="34" charset="0"/>
                <a:ea typeface="Cambria" pitchFamily="34" charset="-122"/>
                <a:cs typeface="Cambria" pitchFamily="34" charset="-120"/>
              </a:rPr>
              <a:t>8</a:t>
            </a:r>
            <a:endParaRPr lang="en-US" sz="4000" dirty="0"/>
          </a:p>
        </p:txBody>
      </p:sp>
      <p:sp>
        <p:nvSpPr>
          <p:cNvPr id="26" name="Text 24"/>
          <p:cNvSpPr txBox="1"/>
          <p:nvPr/>
        </p:nvSpPr>
        <p:spPr>
          <a:xfrm>
            <a:off x="5260726" y="4617720"/>
            <a:ext cx="1670243" cy="914400"/>
          </a:xfrm>
          <a:prstGeom prst="rect">
            <a:avLst/>
          </a:prstGeom>
          <a:noFill/>
          <a:ln/>
        </p:spPr>
        <p:txBody>
          <a:bodyPr wrap="square" lIns="0" tIns="0" rIns="0" bIns="0" rtlCol="0" anchor="t"/>
          <a:lstStyle/>
          <a:p>
            <a:pPr indent="0" marL="0">
              <a:buNone/>
            </a:pPr>
            <a:r>
              <a:rPr lang="en-US" sz="1600" b="1" dirty="0">
                <a:solidFill>
                  <a:srgbClr val="17334B"/>
                </a:solidFill>
                <a:latin typeface="Calibri" pitchFamily="34" charset="0"/>
                <a:ea typeface="Calibri" pitchFamily="34" charset="-122"/>
                <a:cs typeface="Calibri" pitchFamily="34" charset="-120"/>
              </a:rPr>
              <a:t>VLANs</a:t>
            </a:r>
            <a:endParaRPr lang="en-US" sz="1600" dirty="0"/>
          </a:p>
        </p:txBody>
      </p:sp>
      <p:sp>
        <p:nvSpPr>
          <p:cNvPr id="27" name="Shape 25"/>
          <p:cNvSpPr/>
          <p:nvPr/>
        </p:nvSpPr>
        <p:spPr>
          <a:xfrm>
            <a:off x="7342449" y="3703320"/>
            <a:ext cx="2036003" cy="2011680"/>
          </a:xfrm>
          <a:prstGeom prst="roundRect">
            <a:avLst>
              <a:gd name="adj" fmla="val 5455"/>
            </a:avLst>
          </a:prstGeom>
          <a:solidFill>
            <a:srgbClr val="E6F4F1"/>
          </a:solidFill>
          <a:ln w="12700">
            <a:solidFill>
              <a:srgbClr val="E6F4F1"/>
            </a:solidFill>
            <a:prstDash val="solid"/>
          </a:ln>
        </p:spPr>
      </p:sp>
      <p:sp>
        <p:nvSpPr>
          <p:cNvPr id="28" name="Text 26"/>
          <p:cNvSpPr txBox="1"/>
          <p:nvPr/>
        </p:nvSpPr>
        <p:spPr>
          <a:xfrm>
            <a:off x="7525329" y="3840480"/>
            <a:ext cx="914400" cy="731520"/>
          </a:xfrm>
          <a:prstGeom prst="rect">
            <a:avLst/>
          </a:prstGeom>
          <a:noFill/>
          <a:ln/>
        </p:spPr>
        <p:txBody>
          <a:bodyPr wrap="square" lIns="0" tIns="0" rIns="0" bIns="0" rtlCol="0" anchor="ctr"/>
          <a:lstStyle/>
          <a:p>
            <a:pPr indent="0" marL="0">
              <a:buNone/>
            </a:pPr>
            <a:r>
              <a:rPr lang="en-US" sz="4000" b="1" dirty="0">
                <a:solidFill>
                  <a:srgbClr val="20857B"/>
                </a:solidFill>
                <a:latin typeface="Cambria" pitchFamily="34" charset="0"/>
                <a:ea typeface="Cambria" pitchFamily="34" charset="-122"/>
                <a:cs typeface="Cambria" pitchFamily="34" charset="-120"/>
              </a:rPr>
              <a:t>9</a:t>
            </a:r>
            <a:endParaRPr lang="en-US" sz="4000" dirty="0"/>
          </a:p>
        </p:txBody>
      </p:sp>
      <p:sp>
        <p:nvSpPr>
          <p:cNvPr id="29" name="Text 27"/>
          <p:cNvSpPr txBox="1"/>
          <p:nvPr/>
        </p:nvSpPr>
        <p:spPr>
          <a:xfrm>
            <a:off x="7525329" y="4617720"/>
            <a:ext cx="1670243" cy="914400"/>
          </a:xfrm>
          <a:prstGeom prst="rect">
            <a:avLst/>
          </a:prstGeom>
          <a:noFill/>
          <a:ln/>
        </p:spPr>
        <p:txBody>
          <a:bodyPr wrap="square" lIns="0" tIns="0" rIns="0" bIns="0" rtlCol="0" anchor="t"/>
          <a:lstStyle/>
          <a:p>
            <a:pPr indent="0" marL="0">
              <a:buNone/>
            </a:pPr>
            <a:r>
              <a:rPr lang="en-US" sz="1600" b="1" dirty="0">
                <a:solidFill>
                  <a:srgbClr val="17334B"/>
                </a:solidFill>
                <a:latin typeface="Calibri" pitchFamily="34" charset="0"/>
                <a:ea typeface="Calibri" pitchFamily="34" charset="-122"/>
                <a:cs typeface="Calibri" pitchFamily="34" charset="-120"/>
              </a:rPr>
              <a:t>Linux users and permissions</a:t>
            </a:r>
            <a:endParaRPr lang="en-US" sz="1600" dirty="0"/>
          </a:p>
        </p:txBody>
      </p:sp>
      <p:sp>
        <p:nvSpPr>
          <p:cNvPr id="30" name="Shape 28"/>
          <p:cNvSpPr/>
          <p:nvPr/>
        </p:nvSpPr>
        <p:spPr>
          <a:xfrm>
            <a:off x="9607052" y="3703320"/>
            <a:ext cx="2036003" cy="2011680"/>
          </a:xfrm>
          <a:prstGeom prst="roundRect">
            <a:avLst>
              <a:gd name="adj" fmla="val 5455"/>
            </a:avLst>
          </a:prstGeom>
          <a:solidFill>
            <a:srgbClr val="E6F4F1"/>
          </a:solidFill>
          <a:ln w="12700">
            <a:solidFill>
              <a:srgbClr val="E6F4F1"/>
            </a:solidFill>
            <a:prstDash val="solid"/>
          </a:ln>
        </p:spPr>
      </p:sp>
      <p:sp>
        <p:nvSpPr>
          <p:cNvPr id="31" name="Text 29"/>
          <p:cNvSpPr txBox="1"/>
          <p:nvPr/>
        </p:nvSpPr>
        <p:spPr>
          <a:xfrm>
            <a:off x="9789932" y="3840480"/>
            <a:ext cx="914400" cy="731520"/>
          </a:xfrm>
          <a:prstGeom prst="rect">
            <a:avLst/>
          </a:prstGeom>
          <a:noFill/>
          <a:ln/>
        </p:spPr>
        <p:txBody>
          <a:bodyPr wrap="square" lIns="0" tIns="0" rIns="0" bIns="0" rtlCol="0" anchor="ctr"/>
          <a:lstStyle/>
          <a:p>
            <a:pPr indent="0" marL="0">
              <a:buNone/>
            </a:pPr>
            <a:r>
              <a:rPr lang="en-US" sz="4000" b="1" dirty="0">
                <a:solidFill>
                  <a:srgbClr val="20857B"/>
                </a:solidFill>
                <a:latin typeface="Cambria" pitchFamily="34" charset="0"/>
                <a:ea typeface="Cambria" pitchFamily="34" charset="-122"/>
                <a:cs typeface="Cambria" pitchFamily="34" charset="-120"/>
              </a:rPr>
              <a:t>10</a:t>
            </a:r>
            <a:endParaRPr lang="en-US" sz="4000" dirty="0"/>
          </a:p>
        </p:txBody>
      </p:sp>
      <p:sp>
        <p:nvSpPr>
          <p:cNvPr id="32" name="Text 30"/>
          <p:cNvSpPr txBox="1"/>
          <p:nvPr/>
        </p:nvSpPr>
        <p:spPr>
          <a:xfrm>
            <a:off x="9789932" y="4617720"/>
            <a:ext cx="1670243" cy="914400"/>
          </a:xfrm>
          <a:prstGeom prst="rect">
            <a:avLst/>
          </a:prstGeom>
          <a:noFill/>
          <a:ln/>
        </p:spPr>
        <p:txBody>
          <a:bodyPr wrap="square" lIns="0" tIns="0" rIns="0" bIns="0" rtlCol="0" anchor="t"/>
          <a:lstStyle/>
          <a:p>
            <a:pPr indent="0" marL="0">
              <a:buNone/>
            </a:pPr>
            <a:r>
              <a:rPr lang="en-US" sz="1600" b="1" dirty="0">
                <a:solidFill>
                  <a:srgbClr val="17334B"/>
                </a:solidFill>
                <a:latin typeface="Calibri" pitchFamily="34" charset="0"/>
                <a:ea typeface="Calibri" pitchFamily="34" charset="-122"/>
                <a:cs typeface="Calibri" pitchFamily="34" charset="-120"/>
              </a:rPr>
              <a:t>Troubleshooting challenge</a:t>
            </a:r>
            <a:endParaRPr lang="en-US" sz="1600" dirty="0"/>
          </a:p>
        </p:txBody>
      </p:sp>
      <p:sp>
        <p:nvSpPr>
          <p:cNvPr id="33" name="Text 31"/>
          <p:cNvSpPr txBox="1"/>
          <p:nvPr/>
        </p:nvSpPr>
        <p:spPr>
          <a:xfrm>
            <a:off x="548640" y="6473952"/>
            <a:ext cx="11094415" cy="274320"/>
          </a:xfrm>
          <a:prstGeom prst="rect">
            <a:avLst/>
          </a:prstGeom>
          <a:noFill/>
          <a:ln/>
        </p:spPr>
        <p:txBody>
          <a:bodyPr wrap="square" lIns="0" tIns="0" rIns="0" bIns="0" rtlCol="0" anchor="ctr"/>
          <a:lstStyle/>
          <a:p>
            <a:pPr indent="0" marL="0">
              <a:buNone/>
            </a:pPr>
            <a:r>
              <a:rPr lang="en-US" sz="1000" dirty="0">
                <a:solidFill>
                  <a:srgbClr val="4F6577"/>
                </a:solidFill>
                <a:latin typeface="Calibri" pitchFamily="34" charset="0"/>
                <a:ea typeface="Calibri" pitchFamily="34" charset="-122"/>
                <a:cs typeface="Calibri" pitchFamily="34" charset="-120"/>
              </a:rPr>
              <a:t>Each lab lists steps, commands, how to check it works and the evidence to capture. Teacher .pkt files (switch working, Two LANs, Three router design, dns) can extend the labs via Teams.</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2324F"/>
        </a:solidFill>
      </p:bgPr>
    </p:bg>
    <p:spTree>
      <p:nvGrpSpPr>
        <p:cNvPr id="1" name=""/>
        <p:cNvGrpSpPr/>
        <p:nvPr/>
      </p:nvGrpSpPr>
      <p:grpSpPr>
        <a:xfrm>
          <a:off x="0" y="0"/>
          <a:ext cx="0" cy="0"/>
          <a:chOff x="0" y="0"/>
          <a:chExt cx="0" cy="0"/>
        </a:xfrm>
      </p:grpSpPr>
      <p:sp>
        <p:nvSpPr>
          <p:cNvPr id="2" name="Text 0"/>
          <p:cNvSpPr txBox="1"/>
          <p:nvPr/>
        </p:nvSpPr>
        <p:spPr>
          <a:xfrm>
            <a:off x="548640" y="1097280"/>
            <a:ext cx="6400800" cy="91440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Ready to deliver</a:t>
            </a:r>
            <a:endParaRPr lang="en-US" sz="4200" dirty="0"/>
          </a:p>
        </p:txBody>
      </p:sp>
      <p:sp>
        <p:nvSpPr>
          <p:cNvPr id="3" name="Text 1"/>
          <p:cNvSpPr txBox="1"/>
          <p:nvPr/>
        </p:nvSpPr>
        <p:spPr>
          <a:xfrm>
            <a:off x="548640" y="2194560"/>
            <a:ext cx="6035040" cy="3200400"/>
          </a:xfrm>
          <a:prstGeom prst="rect">
            <a:avLst/>
          </a:prstGeom>
          <a:noFill/>
          <a:ln/>
        </p:spPr>
        <p:txBody>
          <a:bodyPr wrap="square" lIns="635" tIns="635" rIns="635" bIns="635" rtlCol="0" anchor="t"/>
          <a:lstStyle/>
          <a:p>
            <a:pPr marL="342900" indent="-342900">
              <a:spcAft>
                <a:spcPts val="600"/>
              </a:spcAft>
              <a:buSzPct val="100000"/>
              <a:buChar char="•"/>
            </a:pPr>
            <a:r>
              <a:rPr lang="en-US" sz="1800" dirty="0">
                <a:solidFill>
                  <a:srgbClr val="FFFFFF"/>
                </a:solidFill>
                <a:latin typeface="Calibri" pitchFamily="34" charset="0"/>
                <a:ea typeface="Calibri" pitchFamily="34" charset="-122"/>
                <a:cs typeface="Calibri" pitchFamily="34" charset="-120"/>
              </a:rPr>
              <a:t>Share the start page link in Teams</a:t>
            </a:r>
            <a:endParaRPr lang="en-US" sz="1800" dirty="0"/>
          </a:p>
          <a:p>
            <a:pPr marL="342900" indent="-342900">
              <a:spcAft>
                <a:spcPts val="600"/>
              </a:spcAft>
              <a:buSzPct val="100000"/>
              <a:buChar char="•"/>
            </a:pPr>
            <a:r>
              <a:rPr lang="en-US" sz="1800" dirty="0">
                <a:solidFill>
                  <a:srgbClr val="FFFFFF"/>
                </a:solidFill>
                <a:latin typeface="Calibri" pitchFamily="34" charset="0"/>
                <a:ea typeface="Calibri" pitchFamily="34" charset="-122"/>
                <a:cs typeface="Calibri" pitchFamily="34" charset="-120"/>
              </a:rPr>
              <a:t>Lesson 1: tour the site and the Assignment guide</a:t>
            </a:r>
            <a:endParaRPr lang="en-US" sz="1800" dirty="0"/>
          </a:p>
          <a:p>
            <a:pPr marL="342900" indent="-342900">
              <a:spcAft>
                <a:spcPts val="600"/>
              </a:spcAft>
              <a:buSzPct val="100000"/>
              <a:buChar char="•"/>
            </a:pPr>
            <a:r>
              <a:rPr lang="en-US" sz="1800" dirty="0">
                <a:solidFill>
                  <a:srgbClr val="FFFFFF"/>
                </a:solidFill>
                <a:latin typeface="Calibri" pitchFamily="34" charset="0"/>
                <a:ea typeface="Calibri" pitchFamily="34" charset="-122"/>
                <a:cs typeface="Calibri" pitchFamily="34" charset="-120"/>
              </a:rPr>
              <a:t>Enrol students on NetAcad Packet Tracer</a:t>
            </a:r>
            <a:endParaRPr lang="en-US" sz="1800" dirty="0"/>
          </a:p>
          <a:p>
            <a:pPr marL="342900" indent="-342900">
              <a:spcAft>
                <a:spcPts val="600"/>
              </a:spcAft>
              <a:buSzPct val="100000"/>
              <a:buChar char="•"/>
            </a:pPr>
            <a:r>
              <a:rPr lang="en-US" sz="1800" dirty="0">
                <a:solidFill>
                  <a:srgbClr val="FFFFFF"/>
                </a:solidFill>
                <a:latin typeface="Calibri" pitchFamily="34" charset="0"/>
                <a:ea typeface="Calibri" pitchFamily="34" charset="-122"/>
                <a:cs typeface="Calibri" pitchFamily="34" charset="-120"/>
              </a:rPr>
              <a:t>Agree AI rules; collect AI-use logs with each assignment</a:t>
            </a:r>
            <a:endParaRPr lang="en-US" sz="1800" dirty="0"/>
          </a:p>
          <a:p>
            <a:pPr marL="342900" indent="-342900">
              <a:spcAft>
                <a:spcPts val="600"/>
              </a:spcAft>
              <a:buSzPct val="100000"/>
              <a:buChar char="•"/>
            </a:pPr>
            <a:r>
              <a:rPr lang="en-US" sz="1800" dirty="0">
                <a:solidFill>
                  <a:srgbClr val="FFFFFF"/>
                </a:solidFill>
                <a:latin typeface="Calibri" pitchFamily="34" charset="0"/>
                <a:ea typeface="Calibri" pitchFamily="34" charset="-122"/>
                <a:cs typeface="Calibri" pitchFamily="34" charset="-120"/>
              </a:rPr>
              <a:t>Use the quizzes as starters and exit checks</a:t>
            </a:r>
            <a:endParaRPr lang="en-US" sz="1800" dirty="0"/>
          </a:p>
        </p:txBody>
      </p:sp>
      <p:sp>
        <p:nvSpPr>
          <p:cNvPr id="4" name="Shape 2"/>
          <p:cNvSpPr/>
          <p:nvPr/>
        </p:nvSpPr>
        <p:spPr>
          <a:xfrm>
            <a:off x="6766560" y="1828800"/>
            <a:ext cx="4873752" cy="2423160"/>
          </a:xfrm>
          <a:prstGeom prst="roundRect">
            <a:avLst>
              <a:gd name="adj" fmla="val 5660"/>
            </a:avLst>
          </a:prstGeom>
          <a:solidFill>
            <a:srgbClr val="FFFFFF"/>
          </a:solidFill>
          <a:ln w="12700">
            <a:solidFill>
              <a:srgbClr val="FFFFFF"/>
            </a:solidFill>
            <a:prstDash val="solid"/>
          </a:ln>
        </p:spPr>
      </p:sp>
      <p:pic>
        <p:nvPicPr>
          <p:cNvPr id="5" name="Image 0" descr="/private/tmp/claude-501/-Users-johnaikeremiokha-code-Claude-Project/bf844d04-1b41-4e28-bbaa-8211504dbf91/scratchpad/deck/figs/hier_fig.png">    </p:cNvPr>
          <p:cNvPicPr>
            <a:picLocks noChangeAspect="1"/>
          </p:cNvPicPr>
          <p:nvPr/>
        </p:nvPicPr>
        <p:blipFill>
          <a:blip r:embed="rId1"/>
          <a:stretch>
            <a:fillRect/>
          </a:stretch>
        </p:blipFill>
        <p:spPr>
          <a:xfrm>
            <a:off x="6903720" y="1920240"/>
            <a:ext cx="4599432" cy="199712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19 Computer Networking: teacher delivery deck</dc:title>
  <dc:subject>PptxGenJS Presentation</dc:subject>
  <dc:creator>Unit 19 course team</dc:creator>
  <cp:lastModifiedBy>Unit 19 course team</cp:lastModifiedBy>
  <cp:revision>1</cp:revision>
  <dcterms:created xsi:type="dcterms:W3CDTF">2026-09-30T17:48:55Z</dcterms:created>
  <dcterms:modified xsi:type="dcterms:W3CDTF">2026-09-30T17:48:55Z</dcterms:modified>
</cp:coreProperties>
</file>